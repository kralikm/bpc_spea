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9" r:id="rId44"/>
    <p:sldId id="300" r:id="rId45"/>
    <p:sldId id="301" r:id="rId46"/>
    <p:sldId id="302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71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Čtvrtá přednáška. Zatímco minule jsme energii přiváděli ze sítě, dnes se bavíme o tom, odkud ji přístroj bere, když síť není – a jak si z toho, co dostane, vyrobí přesně to napětí, které potřebuje.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Struktura je záměrně od nejmenšího k největšímu: jeden článek → baterie → zdroj v přístroji → zálohování celé budovy.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Nejdřív jeden článek. Všechno ostatní je jen jeho zapojování a obalování elektronikou.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Historie tu není pro data, ale kvůli jedné myšlence: typy článků se objevují a mizí, ale principy zůstávají. Kdo rozumí jednomu článku, rozumí všem.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Nejčastější nedorozumění: velký článek nemá větší napětí. Napětí určuje chemie, velikost určuje kapacitu a maximální proud. D-článek a AA článek mají oba 1,5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Palivový článek studenti často zařazují mezi akumulátory. Rozdíl: akumulátor energii skladuje, palivový článek ji jen převádí – zásoba energie je v nádrži, ne v článku.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Nejčastější chyba z písemek: kapacita v ampérhodinách není proud. Je to náboj – součin proudu a času. A druhá věc: kapacita se udává pro určitý vybíjecí proud. Při desetinásobném proudu dostanete podstatně méně.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Vnitřní odpor je to, co odlišuje článek použitelný pro velký proud od článku pro hodinky. Startovací olověný akumulátor má jednotky miliohmů, proto dá 500 A. Alkalická AA má desetiny ohmu a 1 A ji už položí.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Samovybíjení je důvod, proč do záložního svítidla nepatří klasický NiMH, ale eneloop nebo lithium. Konec vybíjení je zase důvod, proč má každý Li-ion přístroj ochranu – bez ní se článek nenávratně zničí.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ukazuje, proč se lithium prosadilo: je nejlehčí kov a má nejzápornější potenciál. Zároveň je vidět, že primární lithiové články (Li-SOCl₂) mají energii, které se žádný akumulátor nepřiblíží – proto jsou v kardiostimulátorech.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Ukazatel baterie v telefonu není voltmetr. Je to integrátor proudu s korekcí podle napětí a teploty – proto se po výměně baterie chvíli „učí“.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Teď projdeme chemie, se kterými se v praxi potkáte. U každé: k čemu se hodí a čím se dá zničit.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Pozor na pojmy: zinko-uhlíkový má elektrolyt chlorid amonný (salmiak), zinko-chloridový chlorid zinečnatý. Nejsou to synonyma, i když se oba prodávají jako „obyčejné“ baterie.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je oblíbená otázka. U alkalického článku je plášť kladný pól – proto má alkalický článek kladnou čepičku spojenou s pláštěm a zápornou patku izolovanou. U zinko-uhlíkového je to naopak.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Deset mikroampér je asi tolik, co teče diodou v pohotovostním režimu. Z toho plyne, proč se u implantátů neřeší rychlonabíjení ani výkon, ale výhradně spolehlivost a předvídatelnost.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Tabulku si zapamatujte aspoň ve třech číslech: 1,2 V nikl, 2 V olovo, 3,6 V lithium. Z toho se dá odvodit počet článků v každé baterii, kterou potkáte.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Reakci se říká dvojitá sulfatace, protože síran vzniká na obou elektrodách. Kyselina se při vybíjení spotřebovává – proto je hustota elektrolytu přímou mírou stavu nabití. To žádná jiná chemie neumí.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Olovo je nejtěžší a nejhloupější chemie, kterou máme – a přesto se jí v UPS a v autech zatím nikdo nezbavil. Důvody: cena, obrovský zkratový proud a 99% recyklovatelnost.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Paměťový efekt NiCd je reálný, ale výrazně přeceňovaný – u NiMH se v praxi neprojevuje. Co se projevuje u obou, je tzv. napěťová deprese po dlouhém udržovacím nabíjení.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Animace běží ve dvou fázích: vybíjení a nabíjení. Podstatné je, že se nic nerozpouští a nic nevylučuje – proto účinnost přes 95 % a stovky až tisíce cyklů. Kovové lithium se objeví jen při poruše, a to je přesně začátek problémů.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 zdravotnickou techniku se LFP hodí líp: delší život, menší riziko požáru, stabilní napětí. Platí se za to hmotností a objemem.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Zapamatovatelné pravidlo: lithium se hlídá napětím, nikl teplotou a olovo napětím i časem. Univerzální nabíječka neexistuje – nabíjet NiMH profilem pro Li-ion znamená článek zničit.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Tepelný únik je samozrychlující proces: teplo spouští reakce, které produkují další teplo. Jakmile překročí asi 130 °C, nedá se zastavit – dá se jen chladit okolí, aby se nerozběhly sousední články.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Zdravotnický přístroj musí navíc umět hlásit stav baterie a její stáří – norma 60601-1 vyžaduje, aby obsluha poznala, že záloha už nestačí. Proto je v BMS i počítadlo cyklů.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Sodík nenahradí lithium v telefonu – má nižší hustotu energie. Nahradí ho tam, kde nevadí hmotnost: stacionární úložiště, záložní zdroje, startovací baterie.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Teď se posuneme od zdroje energie k tomu, co s ní přístroj dělá, než ji pustí do obvodů.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Studenti si pod „zdrojem“ představí jen měnič napětí. Zdůraznit, že u přístroje pro pacienta je prvotní funkcí bezpečnost, ne napájení.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Animace postupně rozsvěcí jeden blok po druhém a ukazuje, jak se mění průběh. Dobrá kontrolní otázka: proč je po usměrnění frekvence 100 Hz, když síť má 50 Hz?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Stoherzový brum v EKG signálu je klasická závada a pochází právě odtud. Padesát hertzů je rušení ze sítě indukcí, sto hertzů je špatně odfiltrovaný zdroj.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Spočítat se studenty: kdyby stejný obvod napájel 2 A, ztráta je 14 W a běžné pouzdro TO-220 to bez velkého chladiče neuchladí. Tady se rodí rozhodnutí použít spínaný zdroj.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Moderní reference nejsou Zenerovy diody, ale tzv. bandgap – využívají teplotní závislost přechodu PN tak, aby se vzájemně vyrušila. Typická stabilita jednotky ppm na stupeň.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Klíčová myšlenka: tranzistor je buď úplně sepnutý (malé napětí, velký proud) nebo úplně rozepnutý (velké napětí, nulový proud). V obou stavech je ztrátový výkon malý. Ztráty vznikají hlavně při přepínání – proto se nedá jít s kmitočtem libovolně nahoru.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je zdroj v každé nabíječce a v každém počítači. Řekněte nahlas: za feritovým trafem je sekundární strana, která se může dotknout člověka – a právě proto musí být zpětná vazba přenášena opticky, ne vodičem.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srovnání bývá v písemce. Nejčastější chybná odpověď: „spínaný zdroj je vždy lepší“. Není – v měřicím zesilovači je jeho rušení zabijákem.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rozdíl od stabilizátoru umí měnič napětí i zvýšit. Proto se dnes přístroje napájejí z jednoho článku – všechna ostatní napětí si vyrobí uvnitř.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Důvod existence izolovaných měničů: chceme, aby vstup přístroje „plaval“, tedy aby neměl vodivé spojení se zemí. Pak se přes pacienta nemůže uzavřít žádná smyčka. Oddělit se musí signálová cesta i napájení – jinak je oddělení k ničemu.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 toho plyne i praktický důsledek pro obsluhu: u moderního přístroje není z chování poznat, že baterie dochází. Proto musí přístroj zbývající dobu hlásit sám.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Poslední sekce. Na operačním sále není výpadek nepříjemnost, ale ohrožení života.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Navázat na minulou přednášku: tohle jsou tytéž jevy, o kterých jsme mluvili u kvality sítě. Rozdíl je, že teď se proti nim bráníme na straně spotřebiče.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Praktický dopad: do UPS s aproximovanou sinusovkou nepatří přístroj s motorem ani s klasickým síťovým transformátorem. Pozná se to tak, že při přechodu na baterie začne bručet.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Označení VFD / VI / VFI říká, na čem výstup závisí: VFD na napětí i kmitočtu sítě, VI jen na kmitočtu, VFI na ničem. Z toho plyne všechno ostatní.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Starší literatura uvádí u off-line UPS přepínací čas kolem 25 ms. Dnešní přístroje zvládají 2 až 10 ms. Norma pro třídu 3 připouští nejvýše 10 ms. Protože spínaný zdroj počítače drží výstup 16–20 ms, počítači to nevadí – motorovému nebo relé spotřebiči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Invertorová elektrocentrála (vpravo) je zajímavá tím, že z generátoru jde proměnný kmitočet, který se usměrní a znovu vytvoří jako čistá sinusovka. Motor pak může běžet na otáčkách podle zátěže a je tišší a úspornější.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Setrvačník se hodí přesně tam, kde chybí motivace vyměňovat baterie každé tři roky. Nevýhoda: dodá energii jen na desítky sekund, takže bez agregátu nedává smysl.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Zdravotnické prostory se podle ČSN 33 2000-7-710 dělí do skupin 0, 1 a 2. Skupina 2 jsou sály a JIP – tam musí být napájení zajištěno i při poruše a doba přepnutí je nejpřísnější. Součástí je i zdravotnická izolovaná soustava (IT-M) s hlídačem izolačního stavu.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Shrnutí odpovídá tomu, co se nejčastěji objevuje v písemce.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985248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0277856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0570464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0863072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1155680" y="54864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9692640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9985248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10277856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10570464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10863072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11155680" y="84124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9692640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9985248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10277856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10570464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0863072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1155680" y="113385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9692640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9985248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10277856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10570464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10863072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11155680" y="142646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692640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9985248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10277856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10570464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10863072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11155680" y="171907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9692640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9985248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0277856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10570464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10863072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11155680" y="2011680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9692640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9985248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10277856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10570464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10863072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11155680" y="2304288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9692640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985248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0277856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0570464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0863072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11155680" y="2596896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9692640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9985248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10277856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10570464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10863072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11155680" y="2889504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9692640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9985248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Shape 56"/>
          <p:cNvSpPr/>
          <p:nvPr/>
        </p:nvSpPr>
        <p:spPr>
          <a:xfrm>
            <a:off x="10277856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9" name="Shape 57"/>
          <p:cNvSpPr/>
          <p:nvPr/>
        </p:nvSpPr>
        <p:spPr>
          <a:xfrm>
            <a:off x="10570464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0" name="Shape 58"/>
          <p:cNvSpPr/>
          <p:nvPr/>
        </p:nvSpPr>
        <p:spPr>
          <a:xfrm>
            <a:off x="10863072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1" name="Shape 59"/>
          <p:cNvSpPr/>
          <p:nvPr/>
        </p:nvSpPr>
        <p:spPr>
          <a:xfrm>
            <a:off x="11155680" y="3182112"/>
            <a:ext cx="36576" cy="3657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2" name="Text 6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BPC-SPEA  ·  SILNOPROUDÁ A PŘÍSTROJOVÁ ELEKTROTECHNIKA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822960" y="2606040"/>
            <a:ext cx="8595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napájení: od článku po UPS</a:t>
            </a:r>
            <a:endParaRPr lang="en-US" sz="4000" dirty="0"/>
          </a:p>
        </p:txBody>
      </p:sp>
      <p:sp>
        <p:nvSpPr>
          <p:cNvPr id="64" name="Text 62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Elektrochemické zdroje  ·  napájecí zdroje a stabilizátory  ·  záložní napájení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Jiří Sekora  ·  Martin Králík      |      Ústav biomedicínského inženýrství FEKT VUT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nás dnes čeká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21" y="197364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Elektrochemický článek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vzniká napětí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kapacita, vnitřní odpor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hustota energie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2900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365760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441" y="19736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7492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Články a akumulátory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primární a sekundární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olovo, NiMH, Li-ion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nabíjení a bezpečnost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3"/>
          <p:cNvSpPr/>
          <p:nvPr/>
        </p:nvSpPr>
        <p:spPr>
          <a:xfrm>
            <a:off x="644652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61" y="1973641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86384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Napájecí zdroje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síťový zdroj po blocích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lineární × spínaný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izolace a 60601-1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06840" y="16002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18"/>
          <p:cNvSpPr/>
          <p:nvPr/>
        </p:nvSpPr>
        <p:spPr>
          <a:xfrm>
            <a:off x="9235440" y="1828800"/>
            <a:ext cx="658368" cy="658368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281" y="1973641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65276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9C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Záložní napájení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9235440" y="3520440"/>
            <a:ext cx="2103120" cy="1828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třídy UPS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motorgenerátor, setrvačník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nemocniční zálohování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1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Elektrochemický článek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se z chemie stane napětí – a co z toho plyne pro praxi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Nejstarší zdroj elektřiny, jaký člověk uměl vyrobit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" y="3246120"/>
            <a:ext cx="10332720" cy="0"/>
          </a:xfrm>
          <a:prstGeom prst="line">
            <a:avLst/>
          </a:prstGeom>
          <a:noFill/>
          <a:ln w="254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53896" y="3163824"/>
            <a:ext cx="164592" cy="164592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 txBox="1"/>
          <p:nvPr/>
        </p:nvSpPr>
        <p:spPr>
          <a:xfrm>
            <a:off x="731520" y="181051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32304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Voltův sloup – první zdroj, který dával trvalý proud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7210" y="3163824"/>
            <a:ext cx="164592" cy="164592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2463394" y="3520440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 txBox="1"/>
          <p:nvPr/>
        </p:nvSpPr>
        <p:spPr>
          <a:xfrm>
            <a:off x="2554834" y="359359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1859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54834" y="397764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54834" y="4215384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olověný akumulátor – dodnes v každém autě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00523" y="3163824"/>
            <a:ext cx="164592" cy="164592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4286707" y="1737360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4378147" y="181051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1866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378147" y="21945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Leclanché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78147" y="2432304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zinek, salmiak, burel – předek tužkové baterie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23837" y="3163824"/>
            <a:ext cx="164592" cy="164592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6110021" y="3520440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 txBox="1"/>
          <p:nvPr/>
        </p:nvSpPr>
        <p:spPr>
          <a:xfrm>
            <a:off x="6201461" y="359359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1899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201461" y="397764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Jungner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01461" y="4215384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nikl-kadmium, první alkalický akumulátor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47150" y="3163824"/>
            <a:ext cx="164592" cy="164592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7933334" y="1737360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 txBox="1"/>
          <p:nvPr/>
        </p:nvSpPr>
        <p:spPr>
          <a:xfrm>
            <a:off x="8024774" y="181051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024774" y="219456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24774" y="2432304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komerční Li-ion článek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70464" y="3163824"/>
            <a:ext cx="164592" cy="16459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756648" y="3520440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 txBox="1"/>
          <p:nvPr/>
        </p:nvSpPr>
        <p:spPr>
          <a:xfrm>
            <a:off x="9848088" y="3593592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848088" y="397764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sodík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48088" y="4215384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sodno-iontové články vstupují do sériové výroby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Leclanchéův článek z roku 1866 je pořád s námi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jen v lepším provedení. Chemie se mění pomalu, elektronika kolem ní rychle.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Elektrochemický zdroj byl první prakticky použitelný zdroj elektrické energie – dřív než dynamo.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článek vyrábí elektřinu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clanek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7772400" cy="41061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280160"/>
            <a:ext cx="2907792" cy="4206240"/>
          </a:xfrm>
          <a:prstGeom prst="roundRect">
            <a:avLst>
              <a:gd name="adj" fmla="val 251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86968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Dvě různé elektrody v elektrolytu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103120"/>
            <a:ext cx="2468880" cy="3200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anodě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kov rozpouští a uvolňuje elektrony (oxidace)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katodě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elektrony spotřebovávají (redukce)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elektrolyt vede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ionty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ale ne elektrony – elektrony musí vnějším obvodem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je dané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dvojicí materiálů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 velikostí článku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62356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868680" y="5623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 → Zn</a:t>
            </a:r>
            <a:r>
              <a:rPr lang="en-US" sz="1600" b="1" baseline="3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</a:t>
            </a: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 e⁻     (anoda)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0" y="5623560"/>
            <a:ext cx="5605272" cy="594360"/>
          </a:xfrm>
          <a:prstGeom prst="roundRect">
            <a:avLst>
              <a:gd name="adj" fmla="val 1230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 txBox="1"/>
          <p:nvPr/>
        </p:nvSpPr>
        <p:spPr>
          <a:xfrm>
            <a:off x="6172200" y="5623560"/>
            <a:ext cx="5148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MnO₂ + H₂O + e⁻ → MnOOH + OH⁻     (katoda)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rodiny elektrochemických zdrojů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47288" cy="4206240"/>
          </a:xfrm>
          <a:prstGeom prst="roundRect">
            <a:avLst>
              <a:gd name="adj" fmla="val 212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18525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606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Primární článek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18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Reakce je nevratná. Po vybití se vyhazuje.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40480"/>
            <a:ext cx="292608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levný, dostupný, skladovatelný roky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alkalické, zinko-uhlíkové, lithiové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ekologická zátěž – patří do sběru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417320"/>
            <a:ext cx="3447288" cy="4206240"/>
          </a:xfrm>
          <a:prstGeom prst="roundRect">
            <a:avLst>
              <a:gd name="adj" fmla="val 2122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8"/>
          <p:cNvSpPr/>
          <p:nvPr/>
        </p:nvSpPr>
        <p:spPr>
          <a:xfrm>
            <a:off x="4636008" y="1691640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42" y="18525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6008" y="2606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Sekundární článek (akumulátor)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3218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Reakci lze otočit nabíjením.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3840480"/>
            <a:ext cx="292608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stovky až tisíce cyklů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olověný, NiMH, Li-ion, LiFePO₄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dražší, ale dlouhodobě levnější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83296" y="1417320"/>
            <a:ext cx="3447288" cy="4206240"/>
          </a:xfrm>
          <a:prstGeom prst="roundRect">
            <a:avLst>
              <a:gd name="adj" fmla="val 2122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3"/>
          <p:cNvSpPr/>
          <p:nvPr/>
        </p:nvSpPr>
        <p:spPr>
          <a:xfrm>
            <a:off x="8357616" y="1691640"/>
            <a:ext cx="731520" cy="73152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550" y="185257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57616" y="2606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Palivový článek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57616" y="3218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Palivo se do článku průběžně dodává.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357616" y="3840480"/>
            <a:ext cx="292608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vodík + kyslík → voda + elektřina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běží, dokud teče palivo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výkony až stovky kW, pohon vozidel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 na slovník: „baterie“ je správně až </a:t>
            </a: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spojení více článků</a:t>
            </a: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Tužková AA je článek, devítivoltová „destička“ je baterie šesti článků po 1,5 V.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Parametry článku I: napětí, kapacita, proud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Jmenovité napětí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5179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1800" b="1" baseline="-40000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jm</a:t>
            </a: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[V]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554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Dané chemií. Alkalický 1,5 V, NiMH 1,2 V, olověný 2,1 V, Li-ion 3,6–3,7 V.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 txBox="1"/>
          <p:nvPr/>
        </p:nvSpPr>
        <p:spPr>
          <a:xfrm>
            <a:off x="914400" y="26883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Kapacita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[Ah]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70662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Náboj, který článek dodá do konečného napětí. 2 Ah = 2 A po hodinu, nebo 0,2 A po deseti hodinách.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75888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 txBox="1"/>
          <p:nvPr/>
        </p:nvSpPr>
        <p:spPr>
          <a:xfrm>
            <a:off x="91440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Rychlost nabíjení / vybíjení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8221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[–]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8587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vztažený ke kapacitě. U článku 2,5 Ah je 1 C = 2,5 A, 0,5 C = 1,25 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914400" y="49926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Energie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9743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U · Q [Wh]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50109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Teprve energie se dá porovnávat mezi chemiemi. 2 Ah při 3,7 V = 7,4 Wh; při 1,2 V jen 2,4 Wh.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907024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 txBox="1"/>
          <p:nvPr/>
        </p:nvSpPr>
        <p:spPr>
          <a:xfrm>
            <a:off x="868680" y="590702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Pozor na záměnu: kapacita [Ah] je náboj, ne „množství proudu“. 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Parametry článku II: vnitřní odpor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vnitrni_odp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020" y="1280160"/>
            <a:ext cx="980548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321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68680" y="5669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tužková baterie neroztočí startér</a:t>
            </a:r>
            <a:endParaRPr lang="en-US" sz="13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Vnitřní odpor omezí proud dřív, než stačí klesnout napětí.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55321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6446520" y="5669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Vnitřní odpor roste s vybíjením i s chladem</a:t>
            </a:r>
            <a:endParaRPr lang="en-US" sz="13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telefon v mrazu vypne dřív, než je baterie opravdu prázdná.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ještě patří do katalogového listu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896112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Samovybíjení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%/měsíc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9659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Vnitřní ztráty. Alkalický pod 1 %, NiMH klasický 15–20 %, NiMH s nízkým samovybíjením 1–2 %, Li-ion 2–3 %.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 txBox="1"/>
          <p:nvPr/>
        </p:nvSpPr>
        <p:spPr>
          <a:xfrm>
            <a:off x="6473952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Špičkový proud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15727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19659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do zátěže. Dané vnitřním odporem – u startovacích akumulátorů se udává jako „studený startovací proud“.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 txBox="1"/>
          <p:nvPr/>
        </p:nvSpPr>
        <p:spPr>
          <a:xfrm>
            <a:off x="896112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Střední napětí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5021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při vybití na 50 % kapacity. Používá se pro poctivé srovnání chemií.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907792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6473952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Konec vybíjení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3108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350215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Hranice, pod kterou se článek nesmí vybít. Li-ion 2,5–3,0 V, olověný 1,8 V na článek.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43984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 txBox="1"/>
          <p:nvPr/>
        </p:nvSpPr>
        <p:spPr>
          <a:xfrm>
            <a:off x="896112" y="46085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Pomalé nabíjení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6451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C/10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038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pomalé, že nepotřebuje hlídání. Používá se u NiMH a olověných.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443984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 txBox="1"/>
          <p:nvPr/>
        </p:nvSpPr>
        <p:spPr>
          <a:xfrm>
            <a:off x="6473952" y="46085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Udržovací nabíjení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46451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C/50 a méně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503834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kryje samovybíjení. U olověných se místo něj používá konstantní napětí 2,27 V na článek.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Kolik energie se vejde dovnitř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energie_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040880" cy="41071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371600"/>
            <a:ext cx="3584448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1838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Dvě různá čísla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011680"/>
            <a:ext cx="3108960" cy="1371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[Wh/kg]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měrná energie: rozhoduje u přenosných přístrojů a dronů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[Wh/l]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hustota energie: rozhoduje tam, kde je málo místa, třeba v implantátu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3611880"/>
            <a:ext cx="3584448" cy="2194560"/>
          </a:xfrm>
          <a:prstGeom prst="roundRect">
            <a:avLst>
              <a:gd name="adj" fmla="val 3333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818388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Srovnání, které vždy zarazí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251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 má kolem </a:t>
            </a: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12 000 Wh/kg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nejlepší Li-ion kolem </a:t>
            </a: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 Wh/kg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Elektromotor je ale 3–4× účinnější než spalovací motor, takže rozdíl v dojezdu není padesátinásobný.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Vybíjecí</a:t>
            </a: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charakteristik</a:t>
            </a:r>
            <a:r>
              <a:rPr lang="cs-CZ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vybije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223760" cy="41278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371600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366760" y="1554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z grafu vyčíst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011680"/>
            <a:ext cx="2971800" cy="3657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15900" indent="-2159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28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Plochá křivka</a:t>
            </a: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(LiFePO₄, NiMH) – přístroj má po celou dobu stejné napětí, ale stav nabití se z napětí skoro nedá odhadnout</a:t>
            </a:r>
            <a:endParaRPr lang="en-US" sz="1280" dirty="0"/>
          </a:p>
          <a:p>
            <a:pPr marL="215900" indent="-2159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28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Klesající křivka</a:t>
            </a: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(alkalický) – stav nabití se pozná snadno, zato přístroj musí snést široký rozsah</a:t>
            </a:r>
            <a:endParaRPr lang="en-US" sz="1280" dirty="0"/>
          </a:p>
          <a:p>
            <a:pPr marL="215900" indent="-215900">
              <a:lnSpc>
                <a:spcPct val="108000"/>
              </a:lnSpc>
              <a:spcAft>
                <a:spcPts val="1100"/>
              </a:spcAft>
              <a:buSzPct val="100000"/>
              <a:buChar char="●"/>
            </a:pPr>
            <a:r>
              <a:rPr lang="en-US" sz="128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Strmý konec</a:t>
            </a: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poslední procenta kapacity přicházejí rychle; tady musí zasáhnout ochrana</a:t>
            </a:r>
            <a:endParaRPr lang="en-US" sz="128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9436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odhad zbývající kapacity u Li-ion proto nestačí měřit napětí – počítá se odebraný náboj („coulomb counting“) a napětí slouží jen ke korekci.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Články a akumulátory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dnes skutečně používá – a proč zrovna to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Primární</a:t>
            </a: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článk</a:t>
            </a:r>
            <a:r>
              <a:rPr lang="cs-CZ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8463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fig/ph_primarn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1435608"/>
            <a:ext cx="3730752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52628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 txBox="1"/>
          <p:nvPr/>
        </p:nvSpPr>
        <p:spPr>
          <a:xfrm>
            <a:off x="896112" y="4709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Nevratná reakce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51206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vybití se článek nedá vrátit do původního stavu. Pokus o nabíjení vede k vývinu plynu, zahřátí a vytečení – u alkalických článků i k roztržení pláště.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60720" y="1280160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 txBox="1"/>
          <p:nvPr/>
        </p:nvSpPr>
        <p:spPr>
          <a:xfrm>
            <a:off x="6016752" y="1408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Zinko-uhlíkový (Leclanché)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142646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 V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016752" y="179222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elektrolyt NH₄Cl · nejlevnější · při větším proudu napětí prudce klesá · vybitý rád vyteče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5760720" y="2514600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 txBox="1"/>
          <p:nvPr/>
        </p:nvSpPr>
        <p:spPr>
          <a:xfrm>
            <a:off x="6016752" y="2642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Zinko-chloridový („heavy duty“)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26609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 V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016752" y="302666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elektrolyt ZnCl₂ · lepší při vyšších proudech i v chladu než Leclanché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5760720" y="3749040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5"/>
          <p:cNvSpPr txBox="1"/>
          <p:nvPr/>
        </p:nvSpPr>
        <p:spPr>
          <a:xfrm>
            <a:off x="6016752" y="3877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Alkalický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0" y="38953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 V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016752" y="426110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elektrolyt KOH · 2–3× větší kapacita · unese velké proudy · dnes standard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5760720" y="4983480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19"/>
          <p:cNvSpPr txBox="1"/>
          <p:nvPr/>
        </p:nvSpPr>
        <p:spPr>
          <a:xfrm>
            <a:off x="6016752" y="51114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Lithiový (Li-FeS₂, Li-MnO₂)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0" y="5129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/ 3 V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016752" y="5495544"/>
            <a:ext cx="5285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nejlehčí · −40 až +60 °C · samovybíjení pod 1 %/rok · skladovatelnost i 20 let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Řez dvěma nejběžnějšími články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rez_clanky.png"/>
          <p:cNvPicPr>
            <a:picLocks noChangeAspect="1"/>
          </p:cNvPicPr>
          <p:nvPr/>
        </p:nvPicPr>
        <p:blipFill>
          <a:blip r:embed="rId3"/>
          <a:srcRect r="47928"/>
          <a:stretch>
            <a:fillRect/>
          </a:stretch>
        </p:blipFill>
        <p:spPr>
          <a:xfrm>
            <a:off x="1481475" y="1243066"/>
            <a:ext cx="4789929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8521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68680" y="5961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Konstrukce je obrácená:</a:t>
            </a: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 zinko-uhlíkového je plášť zinková anoda (−), u alkalického je plášť ocelový obal katody (+) a zinek je uvnitř jako gel.</a:t>
            </a:r>
            <a:endParaRPr lang="en-US" sz="1400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3E784C6-A349-F076-0552-756FAF4ACE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687"/>
          <a:stretch>
            <a:fillRect/>
          </a:stretch>
        </p:blipFill>
        <p:spPr>
          <a:xfrm>
            <a:off x="5989402" y="1156806"/>
            <a:ext cx="5199058" cy="44405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Lithiové primární články: tam, kde se nedá vyměnit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6949440" cy="20492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Napětí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se používá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Životnost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Li-MnO₂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 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knoflíkové CR2032, klíčenky, BIOS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Li-SOCl₂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 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vodoměry, plynoměry, průmyslová čidla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let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Li-FeS₂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náhrada AA tam, kde vadí mráz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let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Li/I₂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 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kardiostimulátory – velmi pomalé, ale naprosto spolehlivé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let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zrovna lithium do implantátu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572000"/>
            <a:ext cx="640080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nejvyšší energie na jednotku objemu ze všech článků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samovybíjení pod 1 % ročně – dá se spočítat, kdy dojde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klesá pomalu a předvídatelně, takže přístroj umí včas hlásit konec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plynů a kapalin – článek je hermeticky uzavřený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863840" y="1371600"/>
            <a:ext cx="3675888" cy="4937760"/>
          </a:xfrm>
          <a:prstGeom prst="roundRect">
            <a:avLst>
              <a:gd name="adj" fmla="val 199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81381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Kardiostimulátor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0574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Odebírá kolem </a:t>
            </a: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 µA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 baterie má jednotky stovek mAh. Vydrží proto 8 až 12 let a vybíjí se tak pomalu, že se chování článku dá předpovědět na roky dopředu.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napětí klesne na danou mez, přístroj přepne do úsporného režimu a hlásí, že je čas na </a:t>
            </a:r>
            <a:r>
              <a:rPr lang="en-US" sz="13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výměnu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generátoru</a:t>
            </a:r>
            <a:r>
              <a:rPr lang="cs-CZ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(cca 6 měsíců)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Baterie se nevyměňuje – mění se celý přístroj.</a:t>
            </a:r>
            <a:endParaRPr lang="en-US" sz="1300" dirty="0"/>
          </a:p>
          <a:p>
            <a:pPr marL="0" indent="0"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Implantabilní defibrilátory (ICD) potřebují navíc krátké obrovské proudy pro nabití výbojového kondenzátoru. Používají proto jinou chemii (Li-SVO) a vydrží kratší dobu.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Napětí článku podle chemie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36499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Jmenovité [V]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Plně nabitý [V]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Konec vybíjení [V]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Zinko-uhlíkový / alkalický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Olověný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 (naprázdno)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Li-ion (NMC, LCO)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3,6–3,7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LiFePO₄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Sodno-iontový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B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sekundární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C5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28523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1,2 V nestačí vždy</a:t>
            </a:r>
            <a:endParaRPr lang="en-US" sz="135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Přístroj navržený pro dva alkalické články (3,0 V) může se dvěma NiMH (2,4 V) odmítnout naběhnout. Není to vadná baterie, je to jiná chemie.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5120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6492240" y="528523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Jmenovité × nabité napětí</a:t>
            </a:r>
            <a:endParaRPr lang="en-US" sz="135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článek se jmenovitým napětím 3,7 V má po nabití 4,2 V. Obojí je správně – jedno je průměr přes vybíjení, druhé je konec nabíjení.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Olověný</a:t>
            </a: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akumulátor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34440"/>
            <a:ext cx="89611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76072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68680" y="5760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 + PbO₂ + 2 H₂SO₄  ⇄  2 PbSO₄ + 2 H₂O        (vlevo nabito, vpravo vybito)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Olověný akumulátor v praxi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9436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fig/ph_ol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89168"/>
            <a:ext cx="5724144" cy="323958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983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Rozebraný staniční akumulátor: mřížky, aktivní hmota, separátory, pólové vývody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858000" y="1325880"/>
            <a:ext cx="4663440" cy="877824"/>
          </a:xfrm>
          <a:prstGeom prst="roundRect">
            <a:avLst>
              <a:gd name="adj" fmla="val 8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7086600" y="14356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Startovací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17282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tenké mřížky, obrovský proud na pár sekund, mělké cykly – auto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0" y="2313432"/>
            <a:ext cx="4663440" cy="877824"/>
          </a:xfrm>
          <a:prstGeom prst="roundRect">
            <a:avLst>
              <a:gd name="adj" fmla="val 8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 txBox="1"/>
          <p:nvPr/>
        </p:nvSpPr>
        <p:spPr>
          <a:xfrm>
            <a:off x="7086600" y="24231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Trakční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silné desky, hluboké cykly, vysokozdvižné vozíky a čisticí stroje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0" y="3300984"/>
            <a:ext cx="4663440" cy="877824"/>
          </a:xfrm>
          <a:prstGeom prst="roundRect">
            <a:avLst>
              <a:gd name="adj" fmla="val 8333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 txBox="1"/>
          <p:nvPr/>
        </p:nvSpPr>
        <p:spPr>
          <a:xfrm>
            <a:off x="7086600" y="34107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Staniční (VRLA)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uzavřený, AGM nebo gel, leží v UPS a v zabezpečovací technice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0" y="438912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4"/>
          <p:cNvSpPr txBox="1"/>
          <p:nvPr/>
        </p:nvSpPr>
        <p:spPr>
          <a:xfrm>
            <a:off x="7086600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Sulfatace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49377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vybitý akumulátor stojí, drobné krystalky síranu zhrubnou a přestanou se rozpouštět. Kapacita se už nevrátí.</a:t>
            </a:r>
            <a:endParaRPr lang="en-US" sz="1280" dirty="0"/>
          </a:p>
          <a:p>
            <a:pPr marL="0" indent="0" algn="l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128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Nabíjí se metodou I–U:</a:t>
            </a: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nejdřív konstantní proud, pak konstantní napětí 2,40 V/článek, nakonec udržovacích </a:t>
            </a:r>
            <a:r>
              <a:rPr lang="en-US" sz="128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 V/článek</a:t>
            </a: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(13,6 V na dvanáctivoltovou baterii).</a:t>
            </a:r>
            <a:endParaRPr lang="en-US" sz="128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440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 na vodík: při přebíjení se elektrolyt rozkládá a nad články vzniká výbušná směs. Akumulátorovna musí být větraná a bez jiskřících spotřebičů.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Nikl-kadmium a nikl-metalhydrid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 V · 40–60 Wh/kg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4754880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snese obrovské proudy i mráz do −40 °C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vydrží přes 1000 cyklů a hluboké vybití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paměťový efekt při opakovaném mělkém vybíjení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samovybíjení 10–20 % za měsíc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kadmium je toxické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 EU prakticky skončilo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 txBox="1"/>
          <p:nvPr/>
        </p:nvSpPr>
        <p:spPr>
          <a:xfrm>
            <a:off x="64922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NiMH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 V · 60–120 Wh/kg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48840"/>
            <a:ext cx="4754880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zhruba dvojnásobná kapacita proti NiCd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kadmia, prakticky bez paměťového efektu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klasické typy se vybijí samy za pár měsíců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s nízkým samovybíjením (eneloop) drží rok i déle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nabíjení se ukončuje podle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−ΔU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 podle teploty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599"/>
            <a:ext cx="10881360" cy="1513573"/>
          </a:xfrm>
          <a:prstGeom prst="roundRect">
            <a:avLst>
              <a:gd name="adj" fmla="val 5161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 txBox="1"/>
          <p:nvPr/>
        </p:nvSpPr>
        <p:spPr>
          <a:xfrm>
            <a:off x="914400" y="49926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se změnilo v legislativě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358384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Nařízení EU 2023/1542 omezuje obsah kadmia v přenosných bateriích na 0,002 %. Dřívější výjimka pro nouzová, poplachová a zdravotnická zařízení platila jen do zrušení staré směrnice 18. 8. 2025 – do nových přenosných přístrojů se NiCd už nedává.</a:t>
            </a:r>
            <a:endParaRPr lang="en-US" sz="1300" dirty="0"/>
          </a:p>
          <a:p>
            <a:pPr marL="0" indent="0" algn="l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</a:t>
            </a: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února 2027</a:t>
            </a: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navíc musí být baterie v přenosných spotřebičích vyměnitelná uživatelem (výjimku mají mj. profesionální zobrazovací a radioterapeutické přístroje a diagnostika in vitro).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Li-ion: ionty se jen stěhují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liion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02" y="1280160"/>
            <a:ext cx="979511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Li-ion v praxi: formáty a dvě hlavní chemie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114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fig/ph_lii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48" y="1435608"/>
            <a:ext cx="3458664" cy="2523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 („LiPol“) – fólie místo plechového pláště, tvar na míru přístroji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709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Válcový 18650 / 21700</a:t>
            </a: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pevný ocelový plášť, pojistný ventil, nejlevnější na Wh – notebooky, nářadí, auta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257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Prizmatický</a:t>
            </a: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hliníková krabička, dobře se skládá do bloků – energetická úložiště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06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 / LiPol</a:t>
            </a: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hliníková fólie, nejlehčí a nejtenčí, ale při poruše se nafoukne – telefony, drony, přístroje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 txBox="1"/>
          <p:nvPr/>
        </p:nvSpPr>
        <p:spPr>
          <a:xfrm>
            <a:off x="621792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LiFePO₄ (LFP)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1554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 V · 90–160 Wh/kg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920240"/>
            <a:ext cx="502920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2 000–6 000 cyklů – vydrží déle než přístroj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tepelně nejstabilnější, nehoří tak ochotně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kobaltu, levnější suroviny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plochá vybíjecí křivka, horší odhad stavu nabití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38404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 txBox="1"/>
          <p:nvPr/>
        </p:nvSpPr>
        <p:spPr>
          <a:xfrm>
            <a:off x="6217920" y="3995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NMC / LCO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069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5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 V · 180–260 Wh/kg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434840"/>
            <a:ext cx="502920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nejvyšší energie na kilogram – telefony, notebooky, drony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500–1 200 cyklů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obsahuje kobalt – cena i etické otazníky těžby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citlivější na přebití a na teplotu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Nabíjení: tři chemie, tři různé profily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nabij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386367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349240"/>
            <a:ext cx="3447288" cy="960120"/>
          </a:xfrm>
          <a:prstGeom prst="roundRect">
            <a:avLst>
              <a:gd name="adj" fmla="val 7619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41248" y="5440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Li-ion: CC/CV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57241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Konstantní proud do 4,2 V, pak konstantní napětí. Konec, když proud klesne pod ~0,05 C. Nikdy se nenabíjí „natvrdo“ a nikdy pod 0 °C.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1688" y="5349240"/>
            <a:ext cx="3447288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4562856" y="5440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NiMH: −ΔU a ΔT/Δt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62856" y="57241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Nabíjí se konstantním proudem. Plně nabitý článek napětí nepatrně sníží a začne se zahřívat – to je jediný signál ke konci.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83296" y="5349240"/>
            <a:ext cx="3447288" cy="960120"/>
          </a:xfrm>
          <a:prstGeom prst="roundRect">
            <a:avLst>
              <a:gd name="adj" fmla="val 7619"/>
            </a:avLst>
          </a:prstGeom>
          <a:solidFill>
            <a:srgbClr val="E8F0F8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 txBox="1"/>
          <p:nvPr/>
        </p:nvSpPr>
        <p:spPr>
          <a:xfrm>
            <a:off x="8284464" y="5440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Olověný: I–U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84464" y="57241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Konstantní proud, pak konstantní napětí 2,40 V/článek a nakonec udržovacích 2,27 V/článek. Může zůstat na nabíječce trvale.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Li-ion hoří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runa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19" y="1234440"/>
            <a:ext cx="1075208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BMS: elektronika, bez které to nejde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b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77" y="1280160"/>
            <a:ext cx="104045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 se akumulátory posouvají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603504" cy="6035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71" y="1824411"/>
            <a:ext cx="337962" cy="337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1764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LiFePO₄ </a:t>
            </a:r>
            <a:r>
              <a:rPr lang="en-US" sz="165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místo</a:t>
            </a: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NMC</a:t>
            </a:r>
            <a:r>
              <a:rPr lang="cs-CZ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</a:t>
            </a:r>
            <a:r>
              <a:rPr lang="cs-CZ" sz="165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</a:t>
            </a:r>
            <a:r>
              <a:rPr lang="cs-CZ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-ion)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414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Levnější, bezpečnější, delší život. Už dnes převažuje v úložištích a v levnějších elektromobilech.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>
            <a:off x="6492240" y="1691640"/>
            <a:ext cx="603504" cy="6035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011" y="1824411"/>
            <a:ext cx="337962" cy="3379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42048" y="1764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Sodno-iontové články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4414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Sodík je levný a všude. Sériová výroba se rozjíždí na přelomu let 2025 a 2026: kolem 160–175 Wh/kg, deklarovaných přes 10 000 cyklů a provoz až do −40 °C.</a:t>
            </a:r>
            <a:endParaRPr lang="en-US" sz="132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1"/>
          <p:cNvSpPr/>
          <p:nvPr/>
        </p:nvSpPr>
        <p:spPr>
          <a:xfrm>
            <a:off x="914400" y="3977640"/>
            <a:ext cx="603504" cy="6035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171" y="4110411"/>
            <a:ext cx="337962" cy="3379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64208" y="4050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Pevný elektrolyt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47274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Místo hořlavé kapaliny keramika nebo polymer. Slibuje vyšší hustotu energie a výrazně menší riziko požáru. Zatím hlavně v laboratořích.</a:t>
            </a:r>
            <a:endParaRPr lang="en-US" sz="132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5"/>
          <p:cNvSpPr/>
          <p:nvPr/>
        </p:nvSpPr>
        <p:spPr>
          <a:xfrm>
            <a:off x="6492240" y="3977640"/>
            <a:ext cx="603504" cy="603504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011" y="4110411"/>
            <a:ext cx="337962" cy="3379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42048" y="4050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Recyklace jako povinnost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7274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Nařízení EU 2023/1542 zavádí uhlíkovou stopu, povinný podíl recyklovaných surovin a digitální pas baterie.</a:t>
            </a:r>
            <a:endParaRPr lang="en-US" sz="132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naopak nemění: olovo zůstává v autech a v UPS kvůli ceně a zkratovému proudu, lithiové primární články kvůli implantátům.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3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Napájecí zdroje a stabilizátory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 230 V ze zásuvky udělat přesně to, co potřebuje elektronika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po napájecím zdroji chceme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932688" y="170992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1850746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Správné napětí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514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obvod chce své: 3,3 V logika, 5 V procesor, ±15 V analogová část, stovky voltů pro displej nebo rentgenku.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>
            <a:off x="6510528" y="170992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185074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Stabilitu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514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se nesmí měnit ani při kolísání sítě, ani při změně zátěže. A nesmí mít zvlnění – jinak se objeví v naměřeném signálu.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1"/>
          <p:cNvSpPr/>
          <p:nvPr/>
        </p:nvSpPr>
        <p:spPr>
          <a:xfrm>
            <a:off x="932688" y="404164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6" y="418246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Galvanické oddělení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32688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Mezi sítí a pacientem nesmí být vodivá cesta. U zdravotnické techniky je to hlavní bezpečnostní funkce zdroje.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5"/>
          <p:cNvSpPr/>
          <p:nvPr/>
        </p:nvSpPr>
        <p:spPr>
          <a:xfrm>
            <a:off x="6510528" y="4041648"/>
            <a:ext cx="640080" cy="640080"/>
          </a:xfrm>
          <a:prstGeom prst="ellipse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346" y="4182466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Ochranu a signalizaci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846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Pojistky nebo elektronické omezení proudu, signalizaci zapnutí a hlášení poruchy zdroje.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Síťový zdroj je zároveň oddělovací člen mezi sítí a přístrojem – u zdravotnické techniky to upravuje ČSN EN 60601-1 ed. 3.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Klasický síťový zdroj po blocích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zdroj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73102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Nárazový kondenzátor a zvlnění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zvln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6858000" cy="31652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371600"/>
            <a:ext cx="3767328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001000" y="1371600"/>
            <a:ext cx="3310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8C5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ΔU ≈ I / (f · C)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240280"/>
            <a:ext cx="3767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odebíraný proud</a:t>
            </a:r>
            <a:endParaRPr lang="en-US" sz="13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kmitočet zvlnění (100 Hz při dvoucestném usměrnění)</a:t>
            </a:r>
            <a:endParaRPr lang="en-US" sz="135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kapacita nárazového kondenzátoru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0" y="3520440"/>
            <a:ext cx="3767328" cy="1371600"/>
          </a:xfrm>
          <a:prstGeom prst="roundRect">
            <a:avLst>
              <a:gd name="adj" fmla="val 5333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8001000" y="3657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A · 2 200 µF · 100 Hz</a:t>
            </a:r>
            <a:endParaRPr lang="en-US" sz="1400" dirty="0"/>
          </a:p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ΔU ≈ 1 / (100 · 0,0022) ≈ </a:t>
            </a: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 V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5029200"/>
            <a:ext cx="3767328" cy="1280160"/>
          </a:xfrm>
          <a:prstGeom prst="roundRect">
            <a:avLst>
              <a:gd name="adj" fmla="val 5714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 txBox="1"/>
          <p:nvPr/>
        </p:nvSpPr>
        <p:spPr>
          <a:xfrm>
            <a:off x="8001000" y="51663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musí mít stabilizátor na vstupu rezervu – kdyby napětí v minimu zvlnění kleslo pod požadovaný výstup, zdroj by začal „brumlat“ a v měřeném signálu se objeví 100 Hz.</a:t>
            </a:r>
            <a:endParaRPr lang="en-US" sz="12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Lineární stabilizátor: jednoduchý, ale hřeje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lin_s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881360" cy="491416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Zenerova dioda a napěťové reference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ze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22" y="1280160"/>
            <a:ext cx="9758477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77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6875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Stabilizátor × reference</a:t>
            </a:r>
            <a:endParaRPr lang="en-US" sz="1320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Stabilizátor má dodávat proud. Reference má držet přesné napětí – proud z ní téměř neteče.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>
            <a:off x="6217920" y="5577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6492240" y="5687568"/>
            <a:ext cx="4846320" cy="95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se reference používá</a:t>
            </a:r>
            <a:endParaRPr lang="en-US" sz="1320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 A/D a D/A převodníků. Přesnost celého měření nemůže být lepší než stabilita reference – proto u 16bitového převodníku stojí víc než převodník sám.</a:t>
            </a:r>
            <a:endParaRPr lang="en-US" sz="13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Spínaný</a:t>
            </a: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měnič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b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19" y="1234440"/>
            <a:ext cx="1075208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Spínaný síťový zdroj: proč je tak malý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s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19" y="1234440"/>
            <a:ext cx="1075208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Lineární × spínaný zdroj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86791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Lineární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Spínaný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Účinnost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85–95 %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Ztrátové teplo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velké, nutný chladič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Hmotnost a rozměry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velké (trafo na 50 Hz)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malé (ferit na 100 kHz)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Zvlnění výstupu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velmi nízké, bez špiček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vyšší, s jehlami na spínacím kmitočtu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Vysokofrekvenční rušení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prakticky žádné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značné, nutné filtry a stínění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Reakce na skok zátěže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okamžitá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pomalejší – řídí ji zpětná vazba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 při malém výkonu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nižší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vyšší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se používá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měřicí a analogová technika, 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počítače, nabíječky, většina přístrojů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778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7881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 jednom přístroji se často potkají oba: spínaný zdroj udělá hrubou práci ze sítě, za ním lineární stabilizátor vyčistí napětí pro citlivou analogovou část.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Měniče DC/DC uvnitř přístroje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dc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26" y="1280160"/>
            <a:ext cx="10856068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321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914400" y="56509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Akumulační prvek je vždy potřeba</a:t>
            </a:r>
            <a:endParaRPr lang="en-US" sz="1320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Buď cívka (nejčastěji), nebo kondenzátor (nábojová pumpa pro malé proudy).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>
            <a:off x="6217920" y="55321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 txBox="1"/>
          <p:nvPr/>
        </p:nvSpPr>
        <p:spPr>
          <a:xfrm>
            <a:off x="6492240" y="56509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Pozor na rušení</a:t>
            </a:r>
            <a:endParaRPr lang="en-US" sz="1320" dirty="0"/>
          </a:p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Měnič v přístroji dělá jehly na stovkách kHz. Pokud leží vedle vstupního zesilovače, </a:t>
            </a:r>
            <a:r>
              <a:rPr lang="cs-CZ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můžou se projevit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 signálu.</a:t>
            </a:r>
            <a:endParaRPr lang="en-US" sz="13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Izolační DC/DC zdroje a norma 60601-1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izo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792" y="1234440"/>
            <a:ext cx="97339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Bateriový napájecí zdroj v přístroji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2514600"/>
          </a:xfrm>
          <a:prstGeom prst="roundRect">
            <a:avLst>
              <a:gd name="adj" fmla="val 290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536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 čím musí počítat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4846320" cy="1828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napětí článku </a:t>
            </a: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klesá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 vybíjením i se samovybíjením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vlastnosti se mění </a:t>
            </a: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teplotou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vnitřní odpor během vybíjení </a:t>
            </a: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maximální proud je dán typem a technologií článku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odebratelná energie závisí i na </a:t>
            </a: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způsobu vybíjení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2514600"/>
          </a:xfrm>
          <a:prstGeom prst="roundRect">
            <a:avLst>
              <a:gd name="adj" fmla="val 2909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6492240" y="1536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se od něj vyžaduje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65960"/>
            <a:ext cx="4846320" cy="1828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signalizaci zapnutí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signalizaci poklesu napětí na zvolenou mez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 symetricky napájených obvodů vytvořit z jedné baterie </a:t>
            </a: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kladné i záporné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napětí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 zdravotnické techniky hlásit zbývající provozní dobu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868680" y="4407408"/>
            <a:ext cx="329184" cy="329184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 txBox="1"/>
          <p:nvPr/>
        </p:nvSpPr>
        <p:spPr>
          <a:xfrm>
            <a:off x="8686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44439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Článek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92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3,0–4,2 V, kolísá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42900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3657600" y="4407408"/>
            <a:ext cx="329184" cy="329184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 txBox="1"/>
          <p:nvPr/>
        </p:nvSpPr>
        <p:spPr>
          <a:xfrm>
            <a:off x="365760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87368" y="44439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Ochrana a BMS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892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hlídá meze, odpojí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6446520" y="4407408"/>
            <a:ext cx="329184" cy="329184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 txBox="1"/>
          <p:nvPr/>
        </p:nvSpPr>
        <p:spPr>
          <a:xfrm>
            <a:off x="644652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44439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Měniče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892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na 5 V, buck na 3,3 V, invertor na −15 V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9006840" y="42062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9235440" y="4407408"/>
            <a:ext cx="329184" cy="329184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 txBox="1"/>
          <p:nvPr/>
        </p:nvSpPr>
        <p:spPr>
          <a:xfrm>
            <a:off x="923544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65208" y="44439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Obvody přístroje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4892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2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stabilní napětí bez ohledu na stav baterie</a:t>
            </a:r>
            <a:endParaRPr lang="en-US" sz="122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Přenosný přístroj se dnes nenavrhuje „na baterii“, ale na jeden článek plus řetězec měničů. Výsledkem je, že přístroj pracuje stejně na začátku i na konci vybíjení – a pak se vypne naráz.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9144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11887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4630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17373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0116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22860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5603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28346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310896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338328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Shape 11"/>
          <p:cNvSpPr/>
          <p:nvPr/>
        </p:nvSpPr>
        <p:spPr>
          <a:xfrm>
            <a:off x="365760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393192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4206240" y="512064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144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887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14630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17373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Shape 19"/>
          <p:cNvSpPr/>
          <p:nvPr/>
        </p:nvSpPr>
        <p:spPr>
          <a:xfrm>
            <a:off x="20116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25603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4" name="Shape 22"/>
          <p:cNvSpPr/>
          <p:nvPr/>
        </p:nvSpPr>
        <p:spPr>
          <a:xfrm>
            <a:off x="28346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10896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338328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7" name="Shape 25"/>
          <p:cNvSpPr/>
          <p:nvPr/>
        </p:nvSpPr>
        <p:spPr>
          <a:xfrm>
            <a:off x="365760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8" name="Shape 26"/>
          <p:cNvSpPr/>
          <p:nvPr/>
        </p:nvSpPr>
        <p:spPr>
          <a:xfrm>
            <a:off x="393192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9" name="Shape 27"/>
          <p:cNvSpPr/>
          <p:nvPr/>
        </p:nvSpPr>
        <p:spPr>
          <a:xfrm>
            <a:off x="4206240" y="539496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00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Shape 29"/>
          <p:cNvSpPr/>
          <p:nvPr/>
        </p:nvSpPr>
        <p:spPr>
          <a:xfrm>
            <a:off x="9144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2" name="Shape 30"/>
          <p:cNvSpPr/>
          <p:nvPr/>
        </p:nvSpPr>
        <p:spPr>
          <a:xfrm>
            <a:off x="11887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3" name="Shape 31"/>
          <p:cNvSpPr/>
          <p:nvPr/>
        </p:nvSpPr>
        <p:spPr>
          <a:xfrm>
            <a:off x="14630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4" name="Shape 32"/>
          <p:cNvSpPr/>
          <p:nvPr/>
        </p:nvSpPr>
        <p:spPr>
          <a:xfrm>
            <a:off x="17373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5" name="Shape 33"/>
          <p:cNvSpPr/>
          <p:nvPr/>
        </p:nvSpPr>
        <p:spPr>
          <a:xfrm>
            <a:off x="20116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6" name="Shape 34"/>
          <p:cNvSpPr/>
          <p:nvPr/>
        </p:nvSpPr>
        <p:spPr>
          <a:xfrm>
            <a:off x="22860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7" name="Shape 35"/>
          <p:cNvSpPr/>
          <p:nvPr/>
        </p:nvSpPr>
        <p:spPr>
          <a:xfrm>
            <a:off x="25603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8" name="Shape 36"/>
          <p:cNvSpPr/>
          <p:nvPr/>
        </p:nvSpPr>
        <p:spPr>
          <a:xfrm>
            <a:off x="28346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9" name="Shape 37"/>
          <p:cNvSpPr/>
          <p:nvPr/>
        </p:nvSpPr>
        <p:spPr>
          <a:xfrm>
            <a:off x="310896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0" name="Shape 38"/>
          <p:cNvSpPr/>
          <p:nvPr/>
        </p:nvSpPr>
        <p:spPr>
          <a:xfrm>
            <a:off x="338328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1" name="Shape 39"/>
          <p:cNvSpPr/>
          <p:nvPr/>
        </p:nvSpPr>
        <p:spPr>
          <a:xfrm>
            <a:off x="365760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2" name="Shape 40"/>
          <p:cNvSpPr/>
          <p:nvPr/>
        </p:nvSpPr>
        <p:spPr>
          <a:xfrm>
            <a:off x="393192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3" name="Shape 41"/>
          <p:cNvSpPr/>
          <p:nvPr/>
        </p:nvSpPr>
        <p:spPr>
          <a:xfrm>
            <a:off x="4206240" y="566928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5" name="Shape 43"/>
          <p:cNvSpPr/>
          <p:nvPr/>
        </p:nvSpPr>
        <p:spPr>
          <a:xfrm>
            <a:off x="9144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6" name="Shape 44"/>
          <p:cNvSpPr/>
          <p:nvPr/>
        </p:nvSpPr>
        <p:spPr>
          <a:xfrm>
            <a:off x="11887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7" name="Shape 45"/>
          <p:cNvSpPr/>
          <p:nvPr/>
        </p:nvSpPr>
        <p:spPr>
          <a:xfrm>
            <a:off x="14630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8" name="Shape 46"/>
          <p:cNvSpPr/>
          <p:nvPr/>
        </p:nvSpPr>
        <p:spPr>
          <a:xfrm>
            <a:off x="17373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9" name="Shape 47"/>
          <p:cNvSpPr/>
          <p:nvPr/>
        </p:nvSpPr>
        <p:spPr>
          <a:xfrm>
            <a:off x="20116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0" name="Shape 48"/>
          <p:cNvSpPr/>
          <p:nvPr/>
        </p:nvSpPr>
        <p:spPr>
          <a:xfrm>
            <a:off x="22860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1" name="Shape 49"/>
          <p:cNvSpPr/>
          <p:nvPr/>
        </p:nvSpPr>
        <p:spPr>
          <a:xfrm>
            <a:off x="25603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2" name="Shape 50"/>
          <p:cNvSpPr/>
          <p:nvPr/>
        </p:nvSpPr>
        <p:spPr>
          <a:xfrm>
            <a:off x="28346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3" name="Shape 51"/>
          <p:cNvSpPr/>
          <p:nvPr/>
        </p:nvSpPr>
        <p:spPr>
          <a:xfrm>
            <a:off x="310896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4" name="Shape 52"/>
          <p:cNvSpPr/>
          <p:nvPr/>
        </p:nvSpPr>
        <p:spPr>
          <a:xfrm>
            <a:off x="338328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5" name="Shape 53"/>
          <p:cNvSpPr/>
          <p:nvPr/>
        </p:nvSpPr>
        <p:spPr>
          <a:xfrm>
            <a:off x="365760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6" name="Shape 54"/>
          <p:cNvSpPr/>
          <p:nvPr/>
        </p:nvSpPr>
        <p:spPr>
          <a:xfrm>
            <a:off x="393192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7" name="Shape 55"/>
          <p:cNvSpPr/>
          <p:nvPr/>
        </p:nvSpPr>
        <p:spPr>
          <a:xfrm>
            <a:off x="4206240" y="5943600"/>
            <a:ext cx="27432" cy="27432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8" name="Text 56"/>
          <p:cNvSpPr txBox="1"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E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SEKCE 4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Záložní napájení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stane, když zhasne – a jak tomu předejít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Výpadek není jediný problém sítě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kval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8813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754880"/>
            <a:ext cx="3447288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 txBox="1"/>
          <p:nvPr/>
        </p:nvSpPr>
        <p:spPr>
          <a:xfrm>
            <a:off x="86868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Počítač a server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2303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ztráta neuložených dat, poškození souborového systému, nestartující pole disků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61688" y="4754880"/>
            <a:ext cx="3447288" cy="1234440"/>
          </a:xfrm>
          <a:prstGeom prst="roundRect">
            <a:avLst>
              <a:gd name="adj" fmla="val 5926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6"/>
          <p:cNvSpPr txBox="1"/>
          <p:nvPr/>
        </p:nvSpPr>
        <p:spPr>
          <a:xfrm>
            <a:off x="4590288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Zdravotnická technika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90288" y="52303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přerušení ventilace, infuze nebo monitorace; restart přístroje trvá desítky sekund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83296" y="4754880"/>
            <a:ext cx="3447288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Text 9"/>
          <p:cNvSpPr txBox="1"/>
          <p:nvPr/>
        </p:nvSpPr>
        <p:spPr>
          <a:xfrm>
            <a:off x="8311896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Laboratoř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311896" y="52303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znehodnocený vzorek, přerušená analýza, rozmražený mrazicí box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nechrání jen před výpadkem. Většinu času filtruje poklesy, špičky a rušení – a právě to prodlužuje život napájeným přístrojům.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se záložní zdroje dělí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 txBox="1"/>
          <p:nvPr/>
        </p:nvSpPr>
        <p:spPr>
          <a:xfrm>
            <a:off x="914400" y="1581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Podle druhu výstupu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4846320" cy="1554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stejnosměrné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bateriové zdroje, usměrňovače se zálohou; napájejí telekomunikace a zabezpečovací techniku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střídavé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bateriové měniče (UPS) a motorgenerátory; napájejí běžné přístroje se síťovou zástrčkou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 txBox="1"/>
          <p:nvPr/>
        </p:nvSpPr>
        <p:spPr>
          <a:xfrm>
            <a:off x="6492240" y="1581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Podle zdroje energie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11680"/>
            <a:ext cx="4846320" cy="1554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akumulátory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minuty až desítky minut, okamžitě k dispozici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setrvačník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desítky sekund, bez chemie</a:t>
            </a:r>
            <a:endParaRPr lang="en-US" sz="132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32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motorgenerátor</a:t>
            </a:r>
            <a:r>
              <a:rPr lang="en-US" sz="132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hodiny až dny, ale potřebuje čas na náběh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 střídavých zdrojů se navíc posuzuje tvar výstupního napětí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Obdélník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9560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nejlevnější měniče. Pro spínaný zdroj většinou stačí, pro motor nebo transformátor ne.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Aproximovaná sinusovka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49560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schodovitý průběh. Běžné u levných UPS, část spotřebičů se hřeje a bzučí.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617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Čistá sinusovka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9560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zkreslení pod 3 %. Nutná pro zdravotnickou techniku, motory a indukční zátěže.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Míra zkreslení se udává jako THD – celkové harmonické zkreslení.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třídy UPS podle ČSN EN IEC 62040-3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ups_topolog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80160"/>
            <a:ext cx="99669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se děje v okamžiku výpadku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ups_prechod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98" y="1280160"/>
            <a:ext cx="1029312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Motorgenerátor: když má záloha vydržet hodiny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9377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5" name="Image 0" descr="fig/ph_dies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44" y="1481328"/>
            <a:ext cx="3965832" cy="2798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Staniční dieselagregát v protihlukovém krytu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1371600"/>
            <a:ext cx="2651760" cy="3017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8" name="Image 1" descr="fig/ph_hond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737177"/>
            <a:ext cx="2432304" cy="22863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521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Přenosná invertorová elektrocentrála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778240" y="1371600"/>
            <a:ext cx="2761488" cy="3017520"/>
          </a:xfrm>
          <a:prstGeom prst="roundRect">
            <a:avLst>
              <a:gd name="adj" fmla="val 2649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7"/>
          <p:cNvSpPr txBox="1"/>
          <p:nvPr/>
        </p:nvSpPr>
        <p:spPr>
          <a:xfrm>
            <a:off x="9006840" y="1572768"/>
            <a:ext cx="2331720" cy="2743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15900" indent="-215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spalovací motor roztáčí alternátor</a:t>
            </a:r>
            <a:endParaRPr lang="en-US" sz="1280" dirty="0"/>
          </a:p>
          <a:p>
            <a:pPr marL="215900" indent="-215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nafta, benzin, zemní plyn i bioplyn</a:t>
            </a:r>
            <a:endParaRPr lang="en-US" sz="1280" dirty="0"/>
          </a:p>
          <a:p>
            <a:pPr marL="215900" indent="-215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nádrž s automatickým přečerpáváním prodlouží chod na dny</a:t>
            </a:r>
            <a:endParaRPr lang="en-US" sz="1280" dirty="0"/>
          </a:p>
          <a:p>
            <a:pPr marL="215900" indent="-215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28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náběh a převzetí zátěže do </a:t>
            </a:r>
            <a:r>
              <a:rPr lang="en-US" sz="128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 sekund</a:t>
            </a:r>
            <a:endParaRPr lang="en-US" sz="1280" dirty="0"/>
          </a:p>
        </p:txBody>
      </p:sp>
      <p:sp>
        <p:nvSpPr>
          <p:cNvPr id="12" name="Shape 8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EFE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9"/>
          <p:cNvSpPr txBox="1"/>
          <p:nvPr/>
        </p:nvSpPr>
        <p:spPr>
          <a:xfrm>
            <a:off x="914400" y="5102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se agregát a UPS nenahrazují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Agregát potřebuje čas na nastartování a na ustálení otáček – těch patnáct sekund by přístroje nepřežily. UPS naopak nemá palivo a po desítkách minut končí.</a:t>
            </a:r>
            <a:endParaRPr lang="en-US" sz="1350" dirty="0"/>
          </a:p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 nemocnici proto pracují společně: </a:t>
            </a:r>
            <a:r>
              <a:rPr lang="en-US" sz="135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drží prvních patnáct sekund, agregát pak zbytek výpadku.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Setrvačník: záloha bez chemie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setrvacn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46" y="1280160"/>
            <a:ext cx="1043822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Nemocnice: tři úrovně záskoku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pic>
        <p:nvPicPr>
          <p:cNvPr id="4" name="Image 0" descr="fig/nemocn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83" y="1280160"/>
            <a:ext cx="1047375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Zdroje, baterie a UPS  ·  Přednáška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68680" y="1572768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 txBox="1"/>
          <p:nvPr/>
        </p:nvSpPr>
        <p:spPr>
          <a:xfrm>
            <a:off x="86868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54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Napětí článku dává chemie, velikost dává kapacitu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i D mají 1,5 V. Větší článek znamená víc ampérhodin a menší vnitřní odpor, ne vyšší napětí.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6446520" y="1572768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 txBox="1"/>
          <p:nvPr/>
        </p:nvSpPr>
        <p:spPr>
          <a:xfrm>
            <a:off x="644652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15544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Kapacita [Ah] je náboj, ne proud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 platí jen pro ten vybíjecí proud, pro který ji výrobce udal.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999232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868680" y="3200400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 txBox="1"/>
          <p:nvPr/>
        </p:nvSpPr>
        <p:spPr>
          <a:xfrm>
            <a:off x="86868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1821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Vnitřní odpor rozhoduje o použitelnosti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Určuje špičkový proud i to, o kolik klesne napětí pod zátěží.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999232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6446520" y="3200400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 txBox="1"/>
          <p:nvPr/>
        </p:nvSpPr>
        <p:spPr>
          <a:xfrm>
            <a:off x="644652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31821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Lineární stabilizátor přebytek spálí, spínaný ho nepustí dál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42 % proti 90 % účinnosti – a proto se v měřicí technice i tak používají oba.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868680" y="4828032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 txBox="1"/>
          <p:nvPr/>
        </p:nvSpPr>
        <p:spPr>
          <a:xfrm>
            <a:off x="86868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48097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Galvanické oddělení je u zdravotnické techniky hlavní funkce zdroje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4681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MOPP: zkouška 4000 V AC, svod typu CF nejvýše 10 µA.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626864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Shape 28"/>
          <p:cNvSpPr/>
          <p:nvPr/>
        </p:nvSpPr>
        <p:spPr>
          <a:xfrm>
            <a:off x="6446520" y="4828032"/>
            <a:ext cx="310896" cy="310896"/>
          </a:xfrm>
          <a:prstGeom prst="ellipse">
            <a:avLst/>
          </a:prstGeom>
          <a:solidFill>
            <a:srgbClr val="BE7C3D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 txBox="1"/>
          <p:nvPr/>
        </p:nvSpPr>
        <p:spPr>
          <a:xfrm>
            <a:off x="644652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76288" y="48097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 a agregát se doplňují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4681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kryje prvních patnáct sekund, agregát zbytek. Online UPS nemá přepínací čas, off-line 2–10 ms.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5195</Words>
  <Application>Microsoft Office PowerPoint</Application>
  <PresentationFormat>Širokoúhlá obrazovka</PresentationFormat>
  <Paragraphs>581</Paragraphs>
  <Slides>46</Slides>
  <Notes>46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46</vt:i4>
      </vt:variant>
    </vt:vector>
  </HeadingPairs>
  <TitlesOfParts>
    <vt:vector size="50" baseType="lpstr">
      <vt:lpstr>Arial</vt:lpstr>
      <vt:lpstr>Calibri</vt:lpstr>
      <vt:lpstr>Cambria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Přednáška 4 · Zdroje napájení: od článku po UPS</dc:title>
  <dc:subject>PptxGenJS Presentation</dc:subject>
  <dc:creator>Jiří Sekora, Martin Králík</dc:creator>
  <cp:lastModifiedBy>Králík Martin (133972)</cp:lastModifiedBy>
  <cp:revision>2</cp:revision>
  <dcterms:created xsi:type="dcterms:W3CDTF">2026-10-11T09:04:08Z</dcterms:created>
  <dcterms:modified xsi:type="dcterms:W3CDTF">2026-10-12T06:34:42Z</dcterms:modified>
</cp:coreProperties>
</file>