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45"/>
  </p:notes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57" r:id="rId10"/>
    <p:sldId id="270" r:id="rId11"/>
    <p:sldId id="306" r:id="rId12"/>
    <p:sldId id="307" r:id="rId13"/>
    <p:sldId id="308" r:id="rId14"/>
    <p:sldId id="309" r:id="rId15"/>
    <p:sldId id="310" r:id="rId16"/>
    <p:sldId id="293" r:id="rId17"/>
    <p:sldId id="295" r:id="rId18"/>
    <p:sldId id="294" r:id="rId19"/>
    <p:sldId id="296" r:id="rId20"/>
    <p:sldId id="289" r:id="rId21"/>
    <p:sldId id="290" r:id="rId22"/>
    <p:sldId id="297" r:id="rId23"/>
    <p:sldId id="259" r:id="rId24"/>
    <p:sldId id="276" r:id="rId25"/>
    <p:sldId id="277" r:id="rId26"/>
    <p:sldId id="280" r:id="rId27"/>
    <p:sldId id="281" r:id="rId28"/>
    <p:sldId id="282" r:id="rId29"/>
    <p:sldId id="284" r:id="rId30"/>
    <p:sldId id="303" r:id="rId31"/>
    <p:sldId id="286" r:id="rId32"/>
    <p:sldId id="301" r:id="rId33"/>
    <p:sldId id="287" r:id="rId34"/>
    <p:sldId id="285" r:id="rId35"/>
    <p:sldId id="304" r:id="rId36"/>
    <p:sldId id="275" r:id="rId37"/>
    <p:sldId id="283" r:id="rId38"/>
    <p:sldId id="268" r:id="rId39"/>
    <p:sldId id="271" r:id="rId40"/>
    <p:sldId id="272" r:id="rId41"/>
    <p:sldId id="273" r:id="rId42"/>
    <p:sldId id="305" r:id="rId43"/>
    <p:sldId id="274" r:id="rId44"/>
  </p:sldIdLst>
  <p:sldSz cx="12192000" cy="6858000"/>
  <p:notesSz cx="6858000" cy="9947275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21F742D9-45A8-45B6-96EE-5BF141EDB2A3}">
          <p14:sldIdLst>
            <p14:sldId id="256"/>
          </p14:sldIdLst>
        </p14:section>
        <p14:section name="Účinky elektrického proudu na organizmus" id="{62261D35-9D4A-4335-BFB2-4D75990CE668}">
          <p14:sldIdLst>
            <p14:sldId id="260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Elektromagnetická kompatibilita" id="{E19ECD73-4E7F-4BA9-916E-7417139F6F53}">
          <p14:sldIdLst>
            <p14:sldId id="257"/>
            <p14:sldId id="270"/>
            <p14:sldId id="306"/>
            <p14:sldId id="307"/>
            <p14:sldId id="308"/>
            <p14:sldId id="309"/>
            <p14:sldId id="310"/>
            <p14:sldId id="293"/>
            <p14:sldId id="295"/>
            <p14:sldId id="294"/>
            <p14:sldId id="296"/>
            <p14:sldId id="289"/>
            <p14:sldId id="290"/>
            <p14:sldId id="297"/>
          </p14:sldIdLst>
        </p14:section>
        <p14:section name="Galvanické oddělení" id="{E5BA046A-3E45-4E09-866D-E00EC4F88B9C}">
          <p14:sldIdLst>
            <p14:sldId id="259"/>
            <p14:sldId id="276"/>
            <p14:sldId id="277"/>
            <p14:sldId id="280"/>
            <p14:sldId id="281"/>
            <p14:sldId id="282"/>
          </p14:sldIdLst>
        </p14:section>
        <p14:section name="Modulace" id="{985C1844-69AC-4D6B-A8AF-2EAFA3BF0E7A}">
          <p14:sldIdLst>
            <p14:sldId id="284"/>
            <p14:sldId id="303"/>
            <p14:sldId id="286"/>
            <p14:sldId id="301"/>
            <p14:sldId id="287"/>
            <p14:sldId id="285"/>
          </p14:sldIdLst>
        </p14:section>
        <p14:section name="Návrh DPS" id="{9414E4CB-01AF-45ED-8145-F080DED5412E}">
          <p14:sldIdLst>
            <p14:sldId id="304"/>
            <p14:sldId id="275"/>
            <p14:sldId id="283"/>
            <p14:sldId id="268"/>
            <p14:sldId id="271"/>
            <p14:sldId id="272"/>
            <p14:sldId id="273"/>
            <p14:sldId id="305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E70E14-BFB9-7147-8862-40C3052EFA5F}" v="2" dt="2025-10-19T10:13:50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10" autoAdjust="0"/>
    <p:restoredTop sz="95624" autoAdjust="0"/>
  </p:normalViewPr>
  <p:slideViewPr>
    <p:cSldViewPr snapToGrid="0">
      <p:cViewPr varScale="1">
        <p:scale>
          <a:sx n="101" d="100"/>
          <a:sy n="101" d="100"/>
        </p:scale>
        <p:origin x="792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álík Martin (133972)" userId="b57e4bde-afd4-4b65-ad1f-59324e7702da" providerId="ADAL" clId="{A3C4F323-BC47-5E28-83BC-17136A585BDD}"/>
    <pc:docChg chg="custSel modSld sldOrd">
      <pc:chgData name="Králík Martin (133972)" userId="b57e4bde-afd4-4b65-ad1f-59324e7702da" providerId="ADAL" clId="{A3C4F323-BC47-5E28-83BC-17136A585BDD}" dt="2025-10-19T17:03:06.642" v="152" actId="20578"/>
      <pc:docMkLst>
        <pc:docMk/>
      </pc:docMkLst>
      <pc:sldChg chg="modSp mod">
        <pc:chgData name="Králík Martin (133972)" userId="b57e4bde-afd4-4b65-ad1f-59324e7702da" providerId="ADAL" clId="{A3C4F323-BC47-5E28-83BC-17136A585BDD}" dt="2025-10-19T10:09:55.094" v="124" actId="20577"/>
        <pc:sldMkLst>
          <pc:docMk/>
          <pc:sldMk cId="2434433508" sldId="262"/>
        </pc:sldMkLst>
        <pc:spChg chg="mod">
          <ac:chgData name="Králík Martin (133972)" userId="b57e4bde-afd4-4b65-ad1f-59324e7702da" providerId="ADAL" clId="{A3C4F323-BC47-5E28-83BC-17136A585BDD}" dt="2025-10-19T10:09:55.094" v="124" actId="20577"/>
          <ac:spMkLst>
            <pc:docMk/>
            <pc:sldMk cId="2434433508" sldId="262"/>
            <ac:spMk id="3" creationId="{00000000-0000-0000-0000-000000000000}"/>
          </ac:spMkLst>
        </pc:spChg>
      </pc:sldChg>
      <pc:sldChg chg="modSp mod">
        <pc:chgData name="Králík Martin (133972)" userId="b57e4bde-afd4-4b65-ad1f-59324e7702da" providerId="ADAL" clId="{A3C4F323-BC47-5E28-83BC-17136A585BDD}" dt="2025-10-19T10:15:51.305" v="138" actId="20577"/>
        <pc:sldMkLst>
          <pc:docMk/>
          <pc:sldMk cId="1153142489" sldId="263"/>
        </pc:sldMkLst>
        <pc:spChg chg="mod">
          <ac:chgData name="Králík Martin (133972)" userId="b57e4bde-afd4-4b65-ad1f-59324e7702da" providerId="ADAL" clId="{A3C4F323-BC47-5E28-83BC-17136A585BDD}" dt="2025-10-19T10:15:51.305" v="138" actId="20577"/>
          <ac:spMkLst>
            <pc:docMk/>
            <pc:sldMk cId="1153142489" sldId="263"/>
            <ac:spMk id="3" creationId="{00000000-0000-0000-0000-000000000000}"/>
          </ac:spMkLst>
        </pc:spChg>
      </pc:sldChg>
      <pc:sldChg chg="addSp delSp modSp mod">
        <pc:chgData name="Králík Martin (133972)" userId="b57e4bde-afd4-4b65-ad1f-59324e7702da" providerId="ADAL" clId="{A3C4F323-BC47-5E28-83BC-17136A585BDD}" dt="2025-10-19T10:14:14.771" v="137" actId="14734"/>
        <pc:sldMkLst>
          <pc:docMk/>
          <pc:sldMk cId="3348777030" sldId="267"/>
        </pc:sldMkLst>
        <pc:spChg chg="del">
          <ac:chgData name="Králík Martin (133972)" userId="b57e4bde-afd4-4b65-ad1f-59324e7702da" providerId="ADAL" clId="{A3C4F323-BC47-5E28-83BC-17136A585BDD}" dt="2025-10-19T10:13:53.571" v="131" actId="478"/>
          <ac:spMkLst>
            <pc:docMk/>
            <pc:sldMk cId="3348777030" sldId="267"/>
            <ac:spMk id="3" creationId="{00000000-0000-0000-0000-000000000000}"/>
          </ac:spMkLst>
        </pc:spChg>
        <pc:spChg chg="add del mod">
          <ac:chgData name="Králík Martin (133972)" userId="b57e4bde-afd4-4b65-ad1f-59324e7702da" providerId="ADAL" clId="{A3C4F323-BC47-5E28-83BC-17136A585BDD}" dt="2025-10-19T10:13:56.948" v="132" actId="478"/>
          <ac:spMkLst>
            <pc:docMk/>
            <pc:sldMk cId="3348777030" sldId="267"/>
            <ac:spMk id="7" creationId="{9F1A9D0D-60A3-19FB-3ADB-1EB8FAA7877A}"/>
          </ac:spMkLst>
        </pc:spChg>
        <pc:graphicFrameChg chg="add mod modGraphic">
          <ac:chgData name="Králík Martin (133972)" userId="b57e4bde-afd4-4b65-ad1f-59324e7702da" providerId="ADAL" clId="{A3C4F323-BC47-5E28-83BC-17136A585BDD}" dt="2025-10-19T10:14:14.771" v="137" actId="14734"/>
          <ac:graphicFrameMkLst>
            <pc:docMk/>
            <pc:sldMk cId="3348777030" sldId="267"/>
            <ac:graphicFrameMk id="4" creationId="{7BED7281-2D9B-917A-431C-A55C353A59A2}"/>
          </ac:graphicFrameMkLst>
        </pc:graphicFrameChg>
      </pc:sldChg>
      <pc:sldChg chg="ord">
        <pc:chgData name="Králík Martin (133972)" userId="b57e4bde-afd4-4b65-ad1f-59324e7702da" providerId="ADAL" clId="{A3C4F323-BC47-5E28-83BC-17136A585BDD}" dt="2025-10-19T17:02:49.443" v="151" actId="20578"/>
        <pc:sldMkLst>
          <pc:docMk/>
          <pc:sldMk cId="1627728028" sldId="286"/>
        </pc:sldMkLst>
      </pc:sldChg>
      <pc:sldChg chg="ord">
        <pc:chgData name="Králík Martin (133972)" userId="b57e4bde-afd4-4b65-ad1f-59324e7702da" providerId="ADAL" clId="{A3C4F323-BC47-5E28-83BC-17136A585BDD}" dt="2025-10-19T17:03:06.642" v="152" actId="20578"/>
        <pc:sldMkLst>
          <pc:docMk/>
          <pc:sldMk cId="4132300466" sldId="287"/>
        </pc:sldMkLst>
      </pc:sldChg>
      <pc:sldChg chg="ord">
        <pc:chgData name="Králík Martin (133972)" userId="b57e4bde-afd4-4b65-ad1f-59324e7702da" providerId="ADAL" clId="{A3C4F323-BC47-5E28-83BC-17136A585BDD}" dt="2025-10-19T17:02:37.751" v="150" actId="20578"/>
        <pc:sldMkLst>
          <pc:docMk/>
          <pc:sldMk cId="2463822448" sldId="303"/>
        </pc:sldMkLst>
      </pc:sldChg>
      <pc:sldChg chg="modSp mod">
        <pc:chgData name="Králík Martin (133972)" userId="b57e4bde-afd4-4b65-ad1f-59324e7702da" providerId="ADAL" clId="{A3C4F323-BC47-5E28-83BC-17136A585BDD}" dt="2025-10-19T16:52:37.607" v="149" actId="20577"/>
        <pc:sldMkLst>
          <pc:docMk/>
          <pc:sldMk cId="1358398486" sldId="306"/>
        </pc:sldMkLst>
        <pc:spChg chg="mod">
          <ac:chgData name="Králík Martin (133972)" userId="b57e4bde-afd4-4b65-ad1f-59324e7702da" providerId="ADAL" clId="{A3C4F323-BC47-5E28-83BC-17136A585BDD}" dt="2025-10-19T16:52:37.607" v="149" actId="20577"/>
          <ac:spMkLst>
            <pc:docMk/>
            <pc:sldMk cId="1358398486" sldId="306"/>
            <ac:spMk id="3" creationId="{4F30BCFF-3DCE-63A4-8929-EE5B74C6A3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E50C7-0C64-409A-8B8B-F68363A4411E}" type="datetimeFigureOut">
              <a:rPr lang="cs-CZ" smtClean="0"/>
              <a:t>19.10.2025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787900"/>
            <a:ext cx="5486400" cy="3916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9D3CE-F131-43EC-B36F-728A7AFBFF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300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9D3CE-F131-43EC-B36F-728A7AFBFF52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07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444500" y="1243013"/>
            <a:ext cx="5969000" cy="3357562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9D3CE-F131-43EC-B36F-728A7AFBFF52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0752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9D3CE-F131-43EC-B36F-728A7AFBFF52}" type="slidenum">
              <a:rPr lang="cs-CZ" smtClean="0"/>
              <a:t>42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4522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958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036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092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86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34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561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03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221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15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372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9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94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vicespecifications.com/en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Bezpečnost a konstrukce elektrických zařízení</a:t>
            </a:r>
            <a:r>
              <a:rPr lang="cs-CZ"/>
              <a:t>, EMC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Jiří Sekora</a:t>
            </a:r>
          </a:p>
          <a:p>
            <a:r>
              <a:rPr lang="cs-CZ" dirty="0"/>
              <a:t>Silnoproudá a přístrojová elektrotechnika (ASPE)</a:t>
            </a:r>
          </a:p>
          <a:p>
            <a:r>
              <a:rPr lang="cs-CZ"/>
              <a:t>2023/24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9505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Účinky elektrického proudu na organizmus</a:t>
            </a:r>
          </a:p>
        </p:txBody>
      </p:sp>
      <p:sp>
        <p:nvSpPr>
          <p:cNvPr id="5" name="Podnadpis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ciara">
            <a:extLst>
              <a:ext uri="{FF2B5EF4-FFF2-40B4-BE49-F238E27FC236}">
                <a16:creationId xmlns:a16="http://schemas.microsoft.com/office/drawing/2014/main" id="{650657B8-C770-6716-0257-47ADDB7F627B}"/>
              </a:ext>
            </a:extLst>
          </p:cNvPr>
          <p:cNvSpPr/>
          <p:nvPr/>
        </p:nvSpPr>
        <p:spPr>
          <a:xfrm>
            <a:off x="0" y="6794500"/>
            <a:ext cx="265043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1434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Účinky elektrického proudu na organizmus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Účinky na tělo:</a:t>
            </a:r>
          </a:p>
          <a:p>
            <a:pPr lvl="1"/>
            <a:r>
              <a:rPr lang="cs-CZ" dirty="0"/>
              <a:t>Tepelné</a:t>
            </a:r>
          </a:p>
          <a:p>
            <a:pPr lvl="1"/>
            <a:r>
              <a:rPr lang="cs-CZ" dirty="0"/>
              <a:t>Elektrochemické</a:t>
            </a:r>
          </a:p>
          <a:p>
            <a:pPr lvl="1"/>
            <a:r>
              <a:rPr lang="cs-CZ" dirty="0"/>
              <a:t>Nervosvalové</a:t>
            </a:r>
          </a:p>
          <a:p>
            <a:r>
              <a:rPr lang="cs-CZ" dirty="0"/>
              <a:t>Úrazy způsobené elektrickým proudem jsou vždy nebezpečné a v řadě případů nekončí jen poškozením organizmu, ale smrtí.</a:t>
            </a:r>
          </a:p>
          <a:p>
            <a:endParaRPr lang="cs-CZ" dirty="0"/>
          </a:p>
        </p:txBody>
      </p:sp>
      <p:sp>
        <p:nvSpPr>
          <p:cNvPr id="5" name="ciara">
            <a:extLst>
              <a:ext uri="{FF2B5EF4-FFF2-40B4-BE49-F238E27FC236}">
                <a16:creationId xmlns:a16="http://schemas.microsoft.com/office/drawing/2014/main" id="{DA23A959-3BD2-F562-9F3E-84652AE8686C}"/>
              </a:ext>
            </a:extLst>
          </p:cNvPr>
          <p:cNvSpPr/>
          <p:nvPr/>
        </p:nvSpPr>
        <p:spPr>
          <a:xfrm>
            <a:off x="0" y="6794500"/>
            <a:ext cx="530087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34433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Účinky elektrického proudu na organizmus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Účinky elektrického proudu na člověka závisí na:</a:t>
            </a:r>
          </a:p>
          <a:p>
            <a:pPr lvl="1"/>
            <a:r>
              <a:rPr lang="cs-CZ" dirty="0"/>
              <a:t>velikosti proudu, který prochází tělem</a:t>
            </a:r>
          </a:p>
          <a:p>
            <a:pPr lvl="1"/>
            <a:r>
              <a:rPr lang="cs-CZ" dirty="0"/>
              <a:t>na cestě, kterou proud tělem prochází</a:t>
            </a:r>
          </a:p>
          <a:p>
            <a:pPr lvl="1"/>
            <a:r>
              <a:rPr lang="cs-CZ" dirty="0"/>
              <a:t>na době působení</a:t>
            </a:r>
          </a:p>
          <a:p>
            <a:pPr lvl="1"/>
            <a:r>
              <a:rPr lang="cs-CZ" dirty="0"/>
              <a:t>na frekvenci proudu</a:t>
            </a:r>
          </a:p>
          <a:p>
            <a:pPr lvl="1"/>
            <a:r>
              <a:rPr lang="cs-CZ" dirty="0"/>
              <a:t>na zdravotním stavu člověka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C0D61F60-0016-86C1-8B9A-196BC542677D}"/>
              </a:ext>
            </a:extLst>
          </p:cNvPr>
          <p:cNvSpPr/>
          <p:nvPr/>
        </p:nvSpPr>
        <p:spPr>
          <a:xfrm>
            <a:off x="0" y="6794500"/>
            <a:ext cx="795130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53142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Účinky elektrického proudu na organizmus</a:t>
            </a:r>
          </a:p>
        </p:txBody>
      </p:sp>
      <p:sp>
        <p:nvSpPr>
          <p:cNvPr id="8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3"/>
            <a:ext cx="4539916" cy="4860000"/>
          </a:xfrm>
        </p:spPr>
        <p:txBody>
          <a:bodyPr/>
          <a:lstStyle/>
          <a:p>
            <a:r>
              <a:rPr lang="cs-CZ" dirty="0"/>
              <a:t>Závislost na efektivní</a:t>
            </a:r>
            <a:br>
              <a:rPr lang="cs-CZ" dirty="0"/>
            </a:br>
            <a:r>
              <a:rPr lang="cs-CZ" dirty="0"/>
              <a:t>hodnotě střídavého proudu</a:t>
            </a:r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912" y="1825623"/>
            <a:ext cx="6152888" cy="4550690"/>
          </a:xfrm>
          <a:prstGeom prst="rect">
            <a:avLst/>
          </a:prstGeom>
        </p:spPr>
      </p:pic>
      <p:sp>
        <p:nvSpPr>
          <p:cNvPr id="4" name="ciara">
            <a:extLst>
              <a:ext uri="{FF2B5EF4-FFF2-40B4-BE49-F238E27FC236}">
                <a16:creationId xmlns:a16="http://schemas.microsoft.com/office/drawing/2014/main" id="{FC598C29-324E-ADB4-87C2-5F75C22193A7}"/>
              </a:ext>
            </a:extLst>
          </p:cNvPr>
          <p:cNvSpPr/>
          <p:nvPr/>
        </p:nvSpPr>
        <p:spPr>
          <a:xfrm>
            <a:off x="0" y="6794500"/>
            <a:ext cx="1060174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8888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Účinky elektrického proudu na organizmus</a:t>
            </a:r>
          </a:p>
        </p:txBody>
      </p:sp>
      <p:sp>
        <p:nvSpPr>
          <p:cNvPr id="8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3"/>
            <a:ext cx="4952294" cy="4860000"/>
          </a:xfrm>
        </p:spPr>
        <p:txBody>
          <a:bodyPr/>
          <a:lstStyle/>
          <a:p>
            <a:r>
              <a:rPr lang="cs-CZ" dirty="0"/>
              <a:t>Závislost citlivosti vnímání efektivní hodnoty střídavého proudu na různých frekvencích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494" y="1690688"/>
            <a:ext cx="5563306" cy="4846744"/>
          </a:xfrm>
          <a:prstGeom prst="rect">
            <a:avLst/>
          </a:prstGeom>
        </p:spPr>
      </p:pic>
      <p:sp>
        <p:nvSpPr>
          <p:cNvPr id="6" name="ciara">
            <a:extLst>
              <a:ext uri="{FF2B5EF4-FFF2-40B4-BE49-F238E27FC236}">
                <a16:creationId xmlns:a16="http://schemas.microsoft.com/office/drawing/2014/main" id="{C0F2B4EC-966A-C5D5-BC88-5CFEF7FC46B4}"/>
              </a:ext>
            </a:extLst>
          </p:cNvPr>
          <p:cNvSpPr/>
          <p:nvPr/>
        </p:nvSpPr>
        <p:spPr>
          <a:xfrm>
            <a:off x="0" y="6794500"/>
            <a:ext cx="1325217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0573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Účinky elektrického proudu na organizmus</a:t>
            </a:r>
          </a:p>
        </p:txBody>
      </p:sp>
      <p:sp>
        <p:nvSpPr>
          <p:cNvPr id="8" name="Zástupný symbol pro obsah 2"/>
          <p:cNvSpPr>
            <a:spLocks noGrp="1"/>
          </p:cNvSpPr>
          <p:nvPr>
            <p:ph idx="1"/>
          </p:nvPr>
        </p:nvSpPr>
        <p:spPr>
          <a:xfrm>
            <a:off x="838201" y="1825623"/>
            <a:ext cx="4527884" cy="4860000"/>
          </a:xfrm>
        </p:spPr>
        <p:txBody>
          <a:bodyPr/>
          <a:lstStyle/>
          <a:p>
            <a:r>
              <a:rPr lang="cs-CZ" dirty="0"/>
              <a:t>Práh citlivosti u mužů a žen a hranice, kdy je ještě možné „pustit drát“</a:t>
            </a:r>
          </a:p>
        </p:txBody>
      </p:sp>
      <p:pic>
        <p:nvPicPr>
          <p:cNvPr id="5" name="Picture 4" descr="Obr_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642811" y="1825623"/>
            <a:ext cx="6189610" cy="4289895"/>
          </a:xfrm>
          <a:prstGeom prst="rect">
            <a:avLst/>
          </a:prstGeom>
          <a:noFill/>
        </p:spPr>
      </p:pic>
      <p:sp>
        <p:nvSpPr>
          <p:cNvPr id="4" name="ciara">
            <a:extLst>
              <a:ext uri="{FF2B5EF4-FFF2-40B4-BE49-F238E27FC236}">
                <a16:creationId xmlns:a16="http://schemas.microsoft.com/office/drawing/2014/main" id="{3DB2E878-D8B9-A175-192A-3D0590007ACB}"/>
              </a:ext>
            </a:extLst>
          </p:cNvPr>
          <p:cNvSpPr/>
          <p:nvPr/>
        </p:nvSpPr>
        <p:spPr>
          <a:xfrm>
            <a:off x="0" y="6794500"/>
            <a:ext cx="1590261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1481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Účinky elektrického proudu na organizmus</a:t>
            </a:r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F508205A-37A2-4B93-01BD-D8E92A1C015D}"/>
              </a:ext>
            </a:extLst>
          </p:cNvPr>
          <p:cNvSpPr/>
          <p:nvPr/>
        </p:nvSpPr>
        <p:spPr>
          <a:xfrm>
            <a:off x="0" y="6794500"/>
            <a:ext cx="1855304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7BED7281-2D9B-917A-431C-A55C353A5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434402"/>
              </p:ext>
            </p:extLst>
          </p:nvPr>
        </p:nvGraphicFramePr>
        <p:xfrm>
          <a:off x="662835" y="1690688"/>
          <a:ext cx="10515600" cy="3200400"/>
        </p:xfrm>
        <a:graphic>
          <a:graphicData uri="http://schemas.openxmlformats.org/drawingml/2006/table">
            <a:tbl>
              <a:tblPr/>
              <a:tblGrid>
                <a:gridCol w="2744244">
                  <a:extLst>
                    <a:ext uri="{9D8B030D-6E8A-4147-A177-3AD203B41FA5}">
                      <a16:colId xmlns:a16="http://schemas.microsoft.com/office/drawing/2014/main" val="2992131062"/>
                    </a:ext>
                  </a:extLst>
                </a:gridCol>
                <a:gridCol w="4797469">
                  <a:extLst>
                    <a:ext uri="{9D8B030D-6E8A-4147-A177-3AD203B41FA5}">
                      <a16:colId xmlns:a16="http://schemas.microsoft.com/office/drawing/2014/main" val="2676880420"/>
                    </a:ext>
                  </a:extLst>
                </a:gridCol>
                <a:gridCol w="2973887">
                  <a:extLst>
                    <a:ext uri="{9D8B030D-6E8A-4147-A177-3AD203B41FA5}">
                      <a16:colId xmlns:a16="http://schemas.microsoft.com/office/drawing/2014/main" val="4862510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400" dirty="0"/>
                        <a:t>Proud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400"/>
                        <a:t>Účinky na tělo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400" dirty="0"/>
                        <a:t>Typické zdroje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908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400" b="1"/>
                        <a:t>Stejnosměrný (DC)</a:t>
                      </a:r>
                      <a:endParaRPr lang="cs-CZ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400"/>
                        <a:t>způsobuje </a:t>
                      </a:r>
                      <a:r>
                        <a:rPr lang="cs-CZ" sz="2400" b="1"/>
                        <a:t>elektrolýzu</a:t>
                      </a:r>
                      <a:r>
                        <a:rPr lang="cs-CZ" sz="2400"/>
                        <a:t> (rozklad buněčných tekutin), </a:t>
                      </a:r>
                      <a:r>
                        <a:rPr lang="cs-CZ" sz="2400" b="1"/>
                        <a:t>tepelné poškození</a:t>
                      </a:r>
                      <a:r>
                        <a:rPr lang="cs-CZ" sz="2400"/>
                        <a:t>(Jouleův ohřev), může vyvolat popáleniny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400"/>
                        <a:t>baterie, fotovoltaika, defibrilátor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90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400" b="1"/>
                        <a:t>Střídavý (AC)</a:t>
                      </a:r>
                      <a:endParaRPr lang="cs-CZ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400"/>
                        <a:t>způsobuje </a:t>
                      </a:r>
                      <a:r>
                        <a:rPr lang="cs-CZ" sz="2400" b="1"/>
                        <a:t>svalové stahy</a:t>
                      </a:r>
                      <a:r>
                        <a:rPr lang="cs-CZ" sz="2400"/>
                        <a:t>, </a:t>
                      </a:r>
                      <a:r>
                        <a:rPr lang="cs-CZ" sz="2400" b="1"/>
                        <a:t>fibrilaci srdce</a:t>
                      </a:r>
                      <a:r>
                        <a:rPr lang="cs-CZ" sz="2400"/>
                        <a:t>, </a:t>
                      </a:r>
                      <a:r>
                        <a:rPr lang="cs-CZ" sz="2400" b="1"/>
                        <a:t>popálení kontaktních míst</a:t>
                      </a:r>
                      <a:endParaRPr lang="cs-CZ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400" dirty="0"/>
                        <a:t>síť 230 V, motory, zdroje, lékařské přístroje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116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777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Elektromagnetická kompatibilita</a:t>
            </a:r>
          </a:p>
        </p:txBody>
      </p:sp>
      <p:sp>
        <p:nvSpPr>
          <p:cNvPr id="6" name="Podnadpis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4D167D67-4077-E747-5642-D498C1A62EC9}"/>
              </a:ext>
            </a:extLst>
          </p:cNvPr>
          <p:cNvSpPr/>
          <p:nvPr/>
        </p:nvSpPr>
        <p:spPr>
          <a:xfrm>
            <a:off x="0" y="6794500"/>
            <a:ext cx="2120348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891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Elektromagnetická kompatibilita (EMC)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EMC je schopnost zařízení </a:t>
            </a:r>
            <a:r>
              <a:rPr lang="cs-CZ" b="1" dirty="0"/>
              <a:t>nevytvářet</a:t>
            </a:r>
            <a:r>
              <a:rPr lang="cs-CZ" dirty="0"/>
              <a:t> svojí funkcí </a:t>
            </a:r>
            <a:r>
              <a:rPr lang="cs-CZ" b="1" dirty="0"/>
              <a:t>elektromagnetické rušení</a:t>
            </a:r>
            <a:r>
              <a:rPr lang="cs-CZ" dirty="0"/>
              <a:t> a zároveň pracovat </a:t>
            </a:r>
            <a:r>
              <a:rPr lang="cs-CZ" b="1" dirty="0"/>
              <a:t>bez poruch</a:t>
            </a:r>
            <a:r>
              <a:rPr lang="cs-CZ" dirty="0"/>
              <a:t> za přítomnosti cizího elektromagnetického rušení</a:t>
            </a:r>
          </a:p>
          <a:p>
            <a:r>
              <a:rPr lang="cs-CZ" dirty="0"/>
              <a:t>EMI – elektromagnetická interference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A0BD3E-F0C7-D708-A625-B7A53F790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3508375"/>
            <a:ext cx="4476750" cy="298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944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AE07E9-B4DE-635C-6832-CE3213B3F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Elektromagnetické</a:t>
            </a:r>
            <a:r>
              <a:rPr lang="en-US" dirty="0"/>
              <a:t> </a:t>
            </a:r>
            <a:r>
              <a:rPr lang="en-US" dirty="0" err="1"/>
              <a:t>rušení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30BCFF-3DCE-63A4-8929-EE5B74C6A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Zdroje</a:t>
            </a:r>
            <a:endParaRPr lang="en-US" dirty="0"/>
          </a:p>
          <a:p>
            <a:pPr lvl="1"/>
            <a:r>
              <a:rPr lang="en-US" dirty="0" err="1"/>
              <a:t>Přirozené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Umělé</a:t>
            </a:r>
            <a:endParaRPr lang="en-US" dirty="0"/>
          </a:p>
          <a:p>
            <a:r>
              <a:rPr lang="en-US" dirty="0" err="1"/>
              <a:t>Podle</a:t>
            </a:r>
            <a:r>
              <a:rPr lang="en-US" dirty="0"/>
              <a:t> </a:t>
            </a:r>
            <a:r>
              <a:rPr lang="en-US" dirty="0" err="1"/>
              <a:t>šíření</a:t>
            </a:r>
            <a:endParaRPr lang="en-US" dirty="0"/>
          </a:p>
          <a:p>
            <a:pPr lvl="1"/>
            <a:r>
              <a:rPr lang="en-US" dirty="0" err="1"/>
              <a:t>Vedené</a:t>
            </a:r>
            <a:r>
              <a:rPr lang="en-US" dirty="0"/>
              <a:t> – </a:t>
            </a:r>
            <a:r>
              <a:rPr lang="en-US" dirty="0" err="1"/>
              <a:t>šíření</a:t>
            </a:r>
            <a:r>
              <a:rPr lang="en-US" dirty="0"/>
              <a:t> </a:t>
            </a:r>
            <a:r>
              <a:rPr lang="en-US" dirty="0" err="1"/>
              <a:t>vodiči</a:t>
            </a:r>
            <a:endParaRPr lang="en-US" dirty="0"/>
          </a:p>
          <a:p>
            <a:pPr lvl="1"/>
            <a:r>
              <a:rPr lang="en-US" dirty="0" err="1"/>
              <a:t>Vyzařované</a:t>
            </a:r>
            <a:r>
              <a:rPr lang="en-US" dirty="0"/>
              <a:t> - </a:t>
            </a:r>
            <a:r>
              <a:rPr lang="en-US" dirty="0" err="1"/>
              <a:t>elektromagnetickým</a:t>
            </a:r>
            <a:r>
              <a:rPr lang="en-US" dirty="0"/>
              <a:t> </a:t>
            </a:r>
            <a:r>
              <a:rPr lang="en-US" dirty="0" err="1"/>
              <a:t>polem</a:t>
            </a:r>
            <a:endParaRPr lang="en-US" dirty="0"/>
          </a:p>
          <a:p>
            <a:pPr lvl="1"/>
            <a:r>
              <a:rPr lang="en-US" dirty="0" err="1"/>
              <a:t>Statické</a:t>
            </a:r>
            <a:r>
              <a:rPr lang="en-US" dirty="0"/>
              <a:t> - ESD</a:t>
            </a:r>
          </a:p>
          <a:p>
            <a:pPr lvl="1"/>
            <a:r>
              <a:rPr lang="en-US" dirty="0" err="1"/>
              <a:t>Přechodový</a:t>
            </a:r>
            <a:r>
              <a:rPr lang="en-US" dirty="0"/>
              <a:t> </a:t>
            </a:r>
            <a:r>
              <a:rPr lang="en-US" dirty="0" err="1"/>
              <a:t>jev</a:t>
            </a:r>
            <a:r>
              <a:rPr lang="en-US" dirty="0"/>
              <a:t> – </a:t>
            </a:r>
            <a:r>
              <a:rPr lang="en-US" dirty="0" err="1"/>
              <a:t>zapínání</a:t>
            </a:r>
            <a:r>
              <a:rPr lang="en-US" dirty="0"/>
              <a:t>/</a:t>
            </a:r>
            <a:r>
              <a:rPr lang="en-US" dirty="0" err="1"/>
              <a:t>vypínání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39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A92F8E-BC90-A847-7BE8-84984D03C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Opatření</a:t>
            </a:r>
            <a:r>
              <a:rPr lang="en-US" dirty="0"/>
              <a:t> pro </a:t>
            </a:r>
            <a:r>
              <a:rPr lang="en-US" dirty="0" err="1"/>
              <a:t>omezení</a:t>
            </a:r>
            <a:r>
              <a:rPr lang="en-US" dirty="0"/>
              <a:t> EMI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6E7120-E5F7-83E6-8946-C2A6C7676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Konstrukční</a:t>
            </a:r>
            <a:endParaRPr lang="en-US" dirty="0"/>
          </a:p>
          <a:p>
            <a:pPr lvl="1"/>
            <a:r>
              <a:rPr lang="en-US" dirty="0" err="1"/>
              <a:t>Stínění</a:t>
            </a:r>
            <a:endParaRPr lang="en-US" dirty="0"/>
          </a:p>
          <a:p>
            <a:pPr lvl="1"/>
            <a:r>
              <a:rPr lang="en-US" dirty="0" err="1"/>
              <a:t>Uzemnění</a:t>
            </a:r>
            <a:endParaRPr lang="en-US" dirty="0"/>
          </a:p>
          <a:p>
            <a:pPr lvl="1"/>
            <a:r>
              <a:rPr lang="en-US" dirty="0" err="1"/>
              <a:t>Rozmístení</a:t>
            </a:r>
            <a:r>
              <a:rPr lang="en-US" dirty="0"/>
              <a:t> </a:t>
            </a:r>
            <a:r>
              <a:rPr lang="en-US" dirty="0" err="1"/>
              <a:t>součástek</a:t>
            </a:r>
            <a:endParaRPr lang="en-US" dirty="0"/>
          </a:p>
          <a:p>
            <a:r>
              <a:rPr lang="en-US" dirty="0" err="1"/>
              <a:t>Obvodové</a:t>
            </a:r>
            <a:endParaRPr lang="en-US" dirty="0"/>
          </a:p>
          <a:p>
            <a:pPr lvl="1"/>
            <a:r>
              <a:rPr lang="en-US" dirty="0" err="1"/>
              <a:t>Filtry</a:t>
            </a:r>
            <a:endParaRPr lang="en-US" dirty="0"/>
          </a:p>
          <a:p>
            <a:pPr lvl="1"/>
            <a:r>
              <a:rPr lang="en-US" dirty="0" err="1"/>
              <a:t>Oddělení</a:t>
            </a:r>
            <a:endParaRPr lang="en-US" dirty="0"/>
          </a:p>
          <a:p>
            <a:r>
              <a:rPr lang="en-US" dirty="0" err="1"/>
              <a:t>Systémové</a:t>
            </a:r>
            <a:endParaRPr lang="en-US" dirty="0"/>
          </a:p>
          <a:p>
            <a:pPr lvl="1"/>
            <a:r>
              <a:rPr lang="en-US" dirty="0" err="1"/>
              <a:t>Oddělení</a:t>
            </a:r>
            <a:r>
              <a:rPr lang="en-US" dirty="0"/>
              <a:t> </a:t>
            </a:r>
            <a:r>
              <a:rPr lang="en-US" dirty="0" err="1"/>
              <a:t>napájecích</a:t>
            </a:r>
            <a:r>
              <a:rPr lang="en-US" dirty="0"/>
              <a:t> </a:t>
            </a:r>
            <a:r>
              <a:rPr lang="en-US" dirty="0" err="1"/>
              <a:t>větví</a:t>
            </a:r>
            <a:endParaRPr lang="en-US" dirty="0"/>
          </a:p>
          <a:p>
            <a:pPr lvl="1"/>
            <a:r>
              <a:rPr lang="en-US" dirty="0" err="1"/>
              <a:t>Filtrace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vstupu</a:t>
            </a:r>
            <a:endParaRPr lang="en-US" dirty="0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63A6B962-0DCE-BE63-A0C4-1DCD5FF2F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774" y="2560320"/>
            <a:ext cx="3821456" cy="240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636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63792F-1010-351F-201E-65375087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Příklady</a:t>
            </a:r>
            <a:r>
              <a:rPr lang="en-US" dirty="0"/>
              <a:t> z </a:t>
            </a:r>
            <a:r>
              <a:rPr lang="en-US" dirty="0" err="1"/>
              <a:t>biomedicíny</a:t>
            </a:r>
            <a:endParaRPr lang="en-US" dirty="0"/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0EE0EE2C-EBFB-1DA4-90DC-33B89B328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5098370"/>
              </p:ext>
            </p:extLst>
          </p:nvPr>
        </p:nvGraphicFramePr>
        <p:xfrm>
          <a:off x="838200" y="2057400"/>
          <a:ext cx="10515600" cy="2743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1311007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164722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665440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/>
                        <a:t>Zařízení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/>
                        <a:t>Typ problému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/>
                        <a:t>Řešení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325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/>
                        <a:t>EKG</a:t>
                      </a:r>
                      <a:endParaRPr lang="cs-CZ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/>
                        <a:t>rušení z 50 Hz sítě a elektrochirurgie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/>
                        <a:t>diferenciální měření, notch filtr, stíněné kabely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838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/>
                        <a:t>Ultrazvuk</a:t>
                      </a:r>
                      <a:endParaRPr lang="cs-CZ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/>
                        <a:t>rušení od spínaného zdroje displeje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/>
                        <a:t>oddělení zemí, LC filtr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918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/>
                        <a:t>MRI</a:t>
                      </a:r>
                      <a:endParaRPr lang="cs-CZ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/>
                        <a:t>vyzařování RF ruší okolní senzory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/>
                        <a:t>Faradayova klec, filtrační průchodky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703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/>
                        <a:t>Infuzní pumpa</a:t>
                      </a:r>
                      <a:endParaRPr lang="cs-CZ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/>
                        <a:t>rušení mobilního signálu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/>
                        <a:t>kovové stínění, filtr napájení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188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/>
                        <a:t>Ventilátor</a:t>
                      </a:r>
                      <a:endParaRPr lang="cs-CZ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/>
                        <a:t>rušení z BLDC motoru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/>
                        <a:t>feritové filtry na vodičích, správné vedení zemí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661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858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842136-3241-9D52-8D5A-79611334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Testování</a:t>
            </a:r>
            <a:r>
              <a:rPr lang="en-US" dirty="0"/>
              <a:t> EMC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30EBBF-A68A-9351-95BA-7119AC7EA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ČSN EN 60601-1-2 ED.3 </a:t>
            </a:r>
            <a:r>
              <a:rPr lang="cs-CZ" dirty="0"/>
              <a:t>Zdravotnické elektrické přístroje - Část 1-2: Obecné požadavky na základní bezpečnost a nezbytnou funkčnost - Skupinová norma: Elektromagnetická rušení - Požadavky a zkoušky</a:t>
            </a:r>
          </a:p>
          <a:p>
            <a:r>
              <a:rPr lang="en-US" b="1" dirty="0"/>
              <a:t>ČSN EN 55011 ED.4 </a:t>
            </a:r>
            <a:r>
              <a:rPr lang="cs-CZ" dirty="0"/>
              <a:t>Průmyslová, vědecká a zdravotnická zařízení - Charakteristiky vysokofrekvenčního rušení - Meze a metody měření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042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5C7F80-1C09-6B2A-C04E-F02AE4073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Testování</a:t>
            </a:r>
            <a:r>
              <a:rPr lang="en-US" dirty="0"/>
              <a:t> EMC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A1B105-09C9-31E5-45CC-C0246D8DF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Měření</a:t>
            </a:r>
            <a:r>
              <a:rPr lang="en-US" dirty="0"/>
              <a:t> </a:t>
            </a:r>
            <a:r>
              <a:rPr lang="en-US" dirty="0" err="1"/>
              <a:t>emisí</a:t>
            </a:r>
            <a:endParaRPr lang="en-US" dirty="0"/>
          </a:p>
          <a:p>
            <a:pPr lvl="1"/>
            <a:r>
              <a:rPr lang="en-US" dirty="0"/>
              <a:t>Komora s </a:t>
            </a:r>
            <a:r>
              <a:rPr lang="en-US" dirty="0" err="1"/>
              <a:t>anténami</a:t>
            </a:r>
            <a:endParaRPr lang="en-US" dirty="0"/>
          </a:p>
          <a:p>
            <a:pPr lvl="1"/>
            <a:r>
              <a:rPr lang="en-US" dirty="0" err="1"/>
              <a:t>Měření</a:t>
            </a:r>
            <a:r>
              <a:rPr lang="en-US" dirty="0"/>
              <a:t> </a:t>
            </a:r>
            <a:r>
              <a:rPr lang="en-US" dirty="0" err="1"/>
              <a:t>vyzařovaného</a:t>
            </a:r>
            <a:r>
              <a:rPr lang="en-US" dirty="0"/>
              <a:t> </a:t>
            </a:r>
            <a:r>
              <a:rPr lang="en-US" dirty="0" err="1"/>
              <a:t>spektra</a:t>
            </a:r>
            <a:endParaRPr lang="en-US" dirty="0"/>
          </a:p>
          <a:p>
            <a:r>
              <a:rPr lang="en-US" dirty="0" err="1"/>
              <a:t>Měření</a:t>
            </a:r>
            <a:r>
              <a:rPr lang="en-US" dirty="0"/>
              <a:t> </a:t>
            </a:r>
            <a:r>
              <a:rPr lang="en-US" dirty="0" err="1"/>
              <a:t>imunity</a:t>
            </a:r>
            <a:endParaRPr lang="en-US" dirty="0"/>
          </a:p>
          <a:p>
            <a:pPr lvl="1"/>
            <a:r>
              <a:rPr lang="en-US" dirty="0" err="1"/>
              <a:t>Vystavení</a:t>
            </a:r>
            <a:r>
              <a:rPr lang="en-US" dirty="0"/>
              <a:t> </a:t>
            </a:r>
            <a:r>
              <a:rPr lang="en-US" dirty="0" err="1"/>
              <a:t>definovanému</a:t>
            </a:r>
            <a:r>
              <a:rPr lang="en-US" dirty="0"/>
              <a:t> poli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napěťovému</a:t>
            </a:r>
            <a:r>
              <a:rPr lang="en-US" dirty="0"/>
              <a:t> </a:t>
            </a:r>
            <a:r>
              <a:rPr lang="en-US" dirty="0" err="1"/>
              <a:t>impulzu</a:t>
            </a:r>
            <a:endParaRPr lang="en-US" dirty="0"/>
          </a:p>
        </p:txBody>
      </p:sp>
      <p:pic>
        <p:nvPicPr>
          <p:cNvPr id="5123" name="Picture 3" descr="Novojičínská společnost Varroc Lighting Systems spustila ...">
            <a:extLst>
              <a:ext uri="{FF2B5EF4-FFF2-40B4-BE49-F238E27FC236}">
                <a16:creationId xmlns:a16="http://schemas.microsoft.com/office/drawing/2014/main" id="{25487C1A-565F-6884-0FB7-E31F8F310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632" y="4097655"/>
            <a:ext cx="4371168" cy="2456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665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688053" cy="1325563"/>
          </a:xfrm>
        </p:spPr>
        <p:txBody>
          <a:bodyPr/>
          <a:lstStyle/>
          <a:p>
            <a:r>
              <a:rPr lang="cs-CZ" dirty="0"/>
              <a:t>Fatální následky nedodržení EMC…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16833"/>
            <a:ext cx="10603832" cy="4599238"/>
          </a:xfrm>
        </p:spPr>
        <p:txBody>
          <a:bodyPr>
            <a:noAutofit/>
          </a:bodyPr>
          <a:lstStyle/>
          <a:p>
            <a:pPr algn="just"/>
            <a:r>
              <a:rPr lang="cs-CZ" sz="2200" dirty="0"/>
              <a:t>Zničení stíhacího letounu NATO typu </a:t>
            </a:r>
            <a:r>
              <a:rPr lang="cs-CZ" sz="2200" dirty="0" err="1"/>
              <a:t>Tornado</a:t>
            </a:r>
            <a:r>
              <a:rPr lang="cs-CZ" sz="2200" dirty="0"/>
              <a:t> v roce 1984. Příčinou bylo rušení elektronického řídicího systému letadla elektromagnetickým vlněním. Letadlo letělo ve výšce 230 m rychlostí 800 km/h nad vysílačem velkého výkonu v </a:t>
            </a:r>
            <a:r>
              <a:rPr lang="cs-CZ" sz="2200" dirty="0" err="1"/>
              <a:t>Holkirchenu</a:t>
            </a:r>
            <a:r>
              <a:rPr lang="cs-CZ" sz="2200" dirty="0"/>
              <a:t> u Mnichova v SRN. Škoda byla 100 mil. DEM (marek).</a:t>
            </a:r>
          </a:p>
          <a:p>
            <a:pPr algn="just"/>
            <a:endParaRPr lang="cs-CZ" sz="2200" dirty="0"/>
          </a:p>
        </p:txBody>
      </p:sp>
      <p:pic>
        <p:nvPicPr>
          <p:cNvPr id="1026" name="Picture 2" descr="r/WarshipPorn - On This Day in 1982, destroyer HMS Sheffield was hit by an Exocet missile during the operation to liberate the Falklands. Twenty sailors were killed and the Type 42 - 'Shiny Sheff' - subsequently sank, the first RN warship lost to enemy action since WW2 [2291x1535]">
            <a:extLst>
              <a:ext uri="{FF2B5EF4-FFF2-40B4-BE49-F238E27FC236}">
                <a16:creationId xmlns:a16="http://schemas.microsoft.com/office/drawing/2014/main" id="{07D02957-EC8C-F894-8A8F-37E75235E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820" y="3401764"/>
            <a:ext cx="3456212" cy="231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1BDA28C5-6F3D-DB0D-E7D5-AE7068DB43D4}"/>
              </a:ext>
            </a:extLst>
          </p:cNvPr>
          <p:cNvSpPr txBox="1">
            <a:spLocks/>
          </p:cNvSpPr>
          <p:nvPr/>
        </p:nvSpPr>
        <p:spPr>
          <a:xfrm>
            <a:off x="838201" y="3276355"/>
            <a:ext cx="6995746" cy="34580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cs-CZ" sz="2200" dirty="0"/>
              <a:t>Potopení britského křižníku Sheffield roku 1982 ve falklandské válce argentinským letadlem. Příčinou bylo nedodržení EMC mezi komunikačním zařízením lodi a jejím rádiovým obranným protiletadlovým systémem určeným k rušení cílové navigace nepřátelských raket. Tento systém způsoboval tak velké poruchy při vlastní rádiové komunikaci křižníku, že musel být během rádiového spojení lodi s velitelstvím ve Velké Británii vypínán. A právě v takovém okamžiku odpálilo argentinské letadlo raketu </a:t>
            </a:r>
            <a:r>
              <a:rPr lang="cs-CZ" sz="2200" dirty="0" err="1"/>
              <a:t>Exocet</a:t>
            </a:r>
            <a:r>
              <a:rPr lang="cs-CZ" sz="2200" dirty="0"/>
              <a:t>, která křižník potopila.</a:t>
            </a:r>
          </a:p>
        </p:txBody>
      </p:sp>
      <p:sp>
        <p:nvSpPr>
          <p:cNvPr id="7" name="ciara">
            <a:extLst>
              <a:ext uri="{FF2B5EF4-FFF2-40B4-BE49-F238E27FC236}">
                <a16:creationId xmlns:a16="http://schemas.microsoft.com/office/drawing/2014/main" id="{2D41A3FE-3486-62A9-CC25-A9E3AA70F7F0}"/>
              </a:ext>
            </a:extLst>
          </p:cNvPr>
          <p:cNvSpPr/>
          <p:nvPr/>
        </p:nvSpPr>
        <p:spPr>
          <a:xfrm>
            <a:off x="0" y="6794500"/>
            <a:ext cx="3180522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034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688053" cy="1325563"/>
          </a:xfrm>
        </p:spPr>
        <p:txBody>
          <a:bodyPr/>
          <a:lstStyle/>
          <a:p>
            <a:r>
              <a:rPr lang="cs-CZ" dirty="0"/>
              <a:t>Fatální následky nedodržení EMC…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6520962" cy="4599238"/>
          </a:xfrm>
        </p:spPr>
        <p:txBody>
          <a:bodyPr>
            <a:noAutofit/>
          </a:bodyPr>
          <a:lstStyle/>
          <a:p>
            <a:r>
              <a:rPr lang="cs-CZ" sz="2200" dirty="0"/>
              <a:t>Havárie rakety typu </a:t>
            </a:r>
            <a:r>
              <a:rPr lang="cs-CZ" sz="2200" dirty="0" err="1"/>
              <a:t>Persching</a:t>
            </a:r>
            <a:r>
              <a:rPr lang="cs-CZ" sz="2200" dirty="0"/>
              <a:t> II v SRN v roce 1985</a:t>
            </a:r>
            <a:br>
              <a:rPr lang="cs-CZ" sz="2200" dirty="0"/>
            </a:br>
            <a:r>
              <a:rPr lang="cs-CZ" sz="2200" dirty="0"/>
              <a:t>v důsledku elektrostatického výboje. Při převozu pohonu rakety byl pohon neúmyslně odpálen elektrostatickou elektřinou z okolní bouřky. Vyšetřování odhalilo, že </a:t>
            </a:r>
            <a:r>
              <a:rPr lang="cs-CZ" sz="2200" dirty="0" err="1"/>
              <a:t>kevlarová</a:t>
            </a:r>
            <a:r>
              <a:rPr lang="cs-CZ" sz="2200" dirty="0"/>
              <a:t> raketová láhev nashromáždila v chladném suchém počasí elektrostatický náboj.</a:t>
            </a:r>
          </a:p>
          <a:p>
            <a:endParaRPr lang="cs-CZ" sz="2200" dirty="0"/>
          </a:p>
          <a:p>
            <a:r>
              <a:rPr lang="cs-CZ" sz="2200" dirty="0"/>
              <a:t>Vyřazení systému dálkového přenosu dat na vesmírné stanici </a:t>
            </a:r>
            <a:r>
              <a:rPr lang="cs-CZ" sz="2200" dirty="0" err="1"/>
              <a:t>SpaceLab</a:t>
            </a:r>
            <a:r>
              <a:rPr lang="cs-CZ" sz="2200" dirty="0"/>
              <a:t>. Systém byl vyřazen z provozu napěťovým pulzem, který vznikl po zapnutí elektrického vysavače. Ukázalo se, že vysavač nebyl vůbec testován na EMC a přesto se ocitl na palubě kosmické stanice.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7F0AD8-125A-94C6-D7FC-A620E7286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7981" y="1825625"/>
            <a:ext cx="3784051" cy="4332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iara">
            <a:extLst>
              <a:ext uri="{FF2B5EF4-FFF2-40B4-BE49-F238E27FC236}">
                <a16:creationId xmlns:a16="http://schemas.microsoft.com/office/drawing/2014/main" id="{8F0F8619-9472-5EE7-28BA-A22EBDE69FF0}"/>
              </a:ext>
            </a:extLst>
          </p:cNvPr>
          <p:cNvSpPr/>
          <p:nvPr/>
        </p:nvSpPr>
        <p:spPr>
          <a:xfrm>
            <a:off x="0" y="6794500"/>
            <a:ext cx="3445565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8243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1958" cy="1325563"/>
          </a:xfrm>
        </p:spPr>
        <p:txBody>
          <a:bodyPr/>
          <a:lstStyle/>
          <a:p>
            <a:r>
              <a:rPr lang="cs-CZ" dirty="0"/>
              <a:t>EMC v oblasti medicíny…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cs-CZ" sz="2400" dirty="0"/>
              <a:t>Diagnostická souprava na jednotce intenzivní péče nemocnice v Praze monitorovala dech, tep a teplotu připojených pacientů. Spínání okolních silových spotřebičů však vyvolávalo v EKG přídavné pulzy, které byly vyhodnocovány jako nesynchronní tep srdce. Dále pak vadný startér zářivkového svítidla poblíž jednotky, který spínal každou sekundu, vyvolával trvale hlášení překročení meze tepů a blokoval měření. Celá souprava vzhledem k její naprosté neodolnosti vůči rušení musela být vyměněna za jiný systém od jiného výrobce, splňující požadavky EMC.</a:t>
            </a:r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E20D520C-1FD5-07B9-EAE9-D07051865CC1}"/>
              </a:ext>
            </a:extLst>
          </p:cNvPr>
          <p:cNvSpPr/>
          <p:nvPr/>
        </p:nvSpPr>
        <p:spPr>
          <a:xfrm>
            <a:off x="0" y="6794500"/>
            <a:ext cx="3710609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1467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1958" cy="1325563"/>
          </a:xfrm>
        </p:spPr>
        <p:txBody>
          <a:bodyPr/>
          <a:lstStyle/>
          <a:p>
            <a:r>
              <a:rPr lang="cs-CZ" dirty="0"/>
              <a:t>EMC v oblasti medicíny…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cs-CZ" sz="2400" dirty="0"/>
              <a:t>V pražské poliklinice vykazoval záznam zapisovače EKG silné náhodné škubání, což zdánlivě indikovalo kritický stav pacienta. Po užití odrušovacích prostředků byl</a:t>
            </a:r>
            <a:br>
              <a:rPr lang="cs-CZ" sz="2400" dirty="0"/>
            </a:br>
            <a:r>
              <a:rPr lang="cs-CZ" sz="2400" dirty="0"/>
              <a:t>v tomto jevu identifikován záznam morseovky. Ukázalo se, že jde o krátkovlnné vysílání ministerstva dopravy, které mělo anténu 150 m od polikliniky. Porucha byla odstraněna až úplným odstíněním místnosti EKG a užitím elektrokardiografu odolného vůči rušení.</a:t>
            </a:r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A5D980DA-C25C-F27A-DA1C-EBEF61E34319}"/>
              </a:ext>
            </a:extLst>
          </p:cNvPr>
          <p:cNvSpPr/>
          <p:nvPr/>
        </p:nvSpPr>
        <p:spPr>
          <a:xfrm>
            <a:off x="0" y="6794500"/>
            <a:ext cx="3975652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500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Problémy EMC u biologických systémů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Tepelné účinky</a:t>
            </a:r>
            <a:r>
              <a:rPr lang="cs-CZ" dirty="0"/>
              <a:t> – ohřev biologických tkání vystavených účinkům EM pole vysokých intenzit</a:t>
            </a:r>
          </a:p>
          <a:p>
            <a:r>
              <a:rPr lang="cs-CZ" b="1" dirty="0"/>
              <a:t>Netepelné účinky</a:t>
            </a:r>
            <a:r>
              <a:rPr lang="cs-CZ" dirty="0"/>
              <a:t> – déle trvající expozice v poli s relativně nízkou výkonovou úrovní, potenciální vliv na CNS, imunitní systém, krevní oběh, případně genetické a karcinogenní účinky</a:t>
            </a:r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47F2E15C-C6B9-B04A-9232-5277F9D1DE75}"/>
              </a:ext>
            </a:extLst>
          </p:cNvPr>
          <p:cNvSpPr/>
          <p:nvPr/>
        </p:nvSpPr>
        <p:spPr>
          <a:xfrm>
            <a:off x="0" y="6794500"/>
            <a:ext cx="4240696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7031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SAR – měrný pohlcený výkon EM pole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 err="1"/>
              <a:t>Specific</a:t>
            </a:r>
            <a:r>
              <a:rPr lang="cs-CZ" b="1" dirty="0"/>
              <a:t> </a:t>
            </a:r>
            <a:r>
              <a:rPr lang="cs-CZ" b="1" dirty="0" err="1"/>
              <a:t>Absorption</a:t>
            </a:r>
            <a:r>
              <a:rPr lang="cs-CZ" b="1" dirty="0"/>
              <a:t> </a:t>
            </a:r>
            <a:r>
              <a:rPr lang="cs-CZ" b="1" dirty="0" err="1"/>
              <a:t>Rate</a:t>
            </a:r>
            <a:r>
              <a:rPr lang="cs-CZ" b="1" dirty="0"/>
              <a:t> </a:t>
            </a:r>
            <a:r>
              <a:rPr lang="cs-CZ" dirty="0"/>
              <a:t>(SAR) je fyzikální veličina používaná k popisu absorpce výkonu živou tkání exponovanou elektromagnetickému poli</a:t>
            </a:r>
          </a:p>
          <a:p>
            <a:r>
              <a:rPr lang="cs-CZ" dirty="0"/>
              <a:t>U nejvytíženějšího kmitočtového pásma 100 kHz – 10 GHz jsou maximální hodnoty u zaměstnanců pracujících ve VF poli 0,4 W/kg, pro ostatní obyvatele je to 0,08 W/kg</a:t>
            </a:r>
          </a:p>
          <a:p>
            <a:r>
              <a:rPr lang="cs-CZ" dirty="0"/>
              <a:t>Tyto hodnoty nesmí být překročeny při expozici trvající 6 minut.</a:t>
            </a:r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57898EEA-4DDB-3E46-6ABB-3FF695F5E9B7}"/>
              </a:ext>
            </a:extLst>
          </p:cNvPr>
          <p:cNvSpPr/>
          <p:nvPr/>
        </p:nvSpPr>
        <p:spPr>
          <a:xfrm>
            <a:off x="0" y="6794500"/>
            <a:ext cx="4505739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8780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SAR – měrný pohlcený výkon EM pole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Při expozici jen malé části těla (např. ruce, chodidla) se hodnoty zvyšují SAR a to na 2 W/kg (u rukou, chodidel a kotníků 4 W/kg)</a:t>
            </a:r>
          </a:p>
          <a:p>
            <a:r>
              <a:rPr lang="cs-CZ" dirty="0"/>
              <a:t>U zaměstnanců pracujících ve VF poli potom 10 / 20 W/kg</a:t>
            </a:r>
          </a:p>
          <a:p>
            <a:pPr marL="0" indent="0" algn="ctr">
              <a:buNone/>
            </a:pPr>
            <a:endParaRPr lang="cs-CZ" b="1" dirty="0"/>
          </a:p>
          <a:p>
            <a:r>
              <a:rPr lang="cs-CZ" dirty="0"/>
              <a:t>Nejcitlivějším orgánem na EM zatížení jsou oči, kde neprobíhá dodatečné chlazení cévním systémem</a:t>
            </a:r>
          </a:p>
          <a:p>
            <a:pPr marL="0" indent="0" algn="r">
              <a:buNone/>
            </a:pPr>
            <a:endParaRPr lang="cs-CZ" b="1" dirty="0"/>
          </a:p>
          <a:p>
            <a:pPr marL="0" indent="0" algn="r">
              <a:buNone/>
            </a:pPr>
            <a:r>
              <a:rPr lang="cs-CZ" b="1" dirty="0"/>
              <a:t>mobilní telefony </a:t>
            </a:r>
            <a:r>
              <a:rPr lang="cs-CZ" dirty="0">
                <a:hlinkClick r:id="rId2"/>
              </a:rPr>
              <a:t>https://www.devicespecifications.com/en</a:t>
            </a:r>
            <a:endParaRPr lang="cs-CZ" dirty="0"/>
          </a:p>
          <a:p>
            <a:endParaRPr lang="cs-CZ" dirty="0"/>
          </a:p>
        </p:txBody>
      </p:sp>
      <p:sp>
        <p:nvSpPr>
          <p:cNvPr id="6" name="Šipka: doprava 5">
            <a:extLst>
              <a:ext uri="{FF2B5EF4-FFF2-40B4-BE49-F238E27FC236}">
                <a16:creationId xmlns:a16="http://schemas.microsoft.com/office/drawing/2014/main" id="{40AE720A-9225-08FF-0A89-799912AC19BD}"/>
              </a:ext>
            </a:extLst>
          </p:cNvPr>
          <p:cNvSpPr/>
          <p:nvPr/>
        </p:nvSpPr>
        <p:spPr>
          <a:xfrm>
            <a:off x="1485900" y="5217992"/>
            <a:ext cx="1080478" cy="36512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ciara">
            <a:extLst>
              <a:ext uri="{FF2B5EF4-FFF2-40B4-BE49-F238E27FC236}">
                <a16:creationId xmlns:a16="http://schemas.microsoft.com/office/drawing/2014/main" id="{290DD28E-97B3-12F4-CD90-D4B726FDA8D0}"/>
              </a:ext>
            </a:extLst>
          </p:cNvPr>
          <p:cNvSpPr/>
          <p:nvPr/>
        </p:nvSpPr>
        <p:spPr>
          <a:xfrm>
            <a:off x="0" y="6794500"/>
            <a:ext cx="4770782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9093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Bezpečnost a konstrukce elektrických zařízení</a:t>
            </a:r>
          </a:p>
        </p:txBody>
      </p:sp>
      <p:sp>
        <p:nvSpPr>
          <p:cNvPr id="6" name="Podnadpis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1EA36C75-2A8F-8AEC-6CCD-C5CF84100610}"/>
              </a:ext>
            </a:extLst>
          </p:cNvPr>
          <p:cNvSpPr/>
          <p:nvPr/>
        </p:nvSpPr>
        <p:spPr>
          <a:xfrm>
            <a:off x="0" y="6794500"/>
            <a:ext cx="6361044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6439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Galvanické oddělení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1" y="1825625"/>
            <a:ext cx="6537158" cy="4351338"/>
          </a:xfrm>
        </p:spPr>
        <p:txBody>
          <a:bodyPr/>
          <a:lstStyle/>
          <a:p>
            <a:r>
              <a:rPr lang="cs-CZ" dirty="0"/>
              <a:t>Dva elektrické obvody jsou galvanicky oddělené, když nejsou vzájemně propojené ani v jednom bodě</a:t>
            </a:r>
          </a:p>
          <a:p>
            <a:r>
              <a:rPr lang="cs-CZ" dirty="0"/>
              <a:t>Aby mělo smysl hovořit o galvanickém oddělení, oba obvody nejen nesmí mít žádné vodivé propojení, ale i přes to by mělo mezi nimi docházet k přenosu energie, informace, nebo obojího.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863" y="1825624"/>
            <a:ext cx="3785937" cy="2684573"/>
          </a:xfrm>
          <a:prstGeom prst="rect">
            <a:avLst/>
          </a:prstGeom>
        </p:spPr>
      </p:pic>
      <p:sp>
        <p:nvSpPr>
          <p:cNvPr id="7" name="ciara">
            <a:extLst>
              <a:ext uri="{FF2B5EF4-FFF2-40B4-BE49-F238E27FC236}">
                <a16:creationId xmlns:a16="http://schemas.microsoft.com/office/drawing/2014/main" id="{D07850A6-79F7-44F6-464F-7EA7F8785BC0}"/>
              </a:ext>
            </a:extLst>
          </p:cNvPr>
          <p:cNvSpPr/>
          <p:nvPr/>
        </p:nvSpPr>
        <p:spPr>
          <a:xfrm>
            <a:off x="0" y="6794500"/>
            <a:ext cx="6626087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1307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Galvanické oddělení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Typickým obvodovým prvkem pro galvanické oddělení je relé nebo transformátor (AC/AC), má-li oddělení vinutí</a:t>
            </a:r>
          </a:p>
          <a:p>
            <a:r>
              <a:rPr lang="cs-CZ" dirty="0"/>
              <a:t>Zde se využívá transformace:</a:t>
            </a:r>
          </a:p>
          <a:p>
            <a:pPr lvl="1">
              <a:buFont typeface="Calibri" panose="020F0502020204030204" pitchFamily="34" charset="0"/>
              <a:buChar char="−"/>
            </a:pPr>
            <a:r>
              <a:rPr lang="cs-CZ" dirty="0"/>
              <a:t>Elektrické pole– magnetické pole – mechanická energie</a:t>
            </a:r>
          </a:p>
          <a:p>
            <a:pPr lvl="1">
              <a:buFont typeface="Calibri" panose="020F0502020204030204" pitchFamily="34" charset="0"/>
              <a:buChar char="−"/>
            </a:pPr>
            <a:r>
              <a:rPr lang="cs-CZ" dirty="0"/>
              <a:t>Elektrické pole – magnetické pole – elektrické pole</a:t>
            </a:r>
          </a:p>
          <a:p>
            <a:endParaRPr lang="cs-CZ" dirty="0"/>
          </a:p>
          <a:p>
            <a:r>
              <a:rPr lang="cs-CZ" dirty="0"/>
              <a:t>Pro galvanické oddělení přenášené energie se využívají měniče, podle průběhu proudu:  AC/AC  AC/DC  DC/AC  DC/DC</a:t>
            </a:r>
          </a:p>
        </p:txBody>
      </p:sp>
      <p:sp>
        <p:nvSpPr>
          <p:cNvPr id="6" name="Řečová bublina: obdélníkový bublinový popisek se zakulacenými rohy 5">
            <a:extLst>
              <a:ext uri="{FF2B5EF4-FFF2-40B4-BE49-F238E27FC236}">
                <a16:creationId xmlns:a16="http://schemas.microsoft.com/office/drawing/2014/main" id="{F1F84C99-6F95-C354-CBBC-662E691AE659}"/>
              </a:ext>
            </a:extLst>
          </p:cNvPr>
          <p:cNvSpPr/>
          <p:nvPr/>
        </p:nvSpPr>
        <p:spPr>
          <a:xfrm>
            <a:off x="1701312" y="5648569"/>
            <a:ext cx="1714500" cy="738554"/>
          </a:xfrm>
          <a:prstGeom prst="wedgeRoundRectCallout">
            <a:avLst>
              <a:gd name="adj1" fmla="val 84723"/>
              <a:gd name="adj2" fmla="val -92262"/>
              <a:gd name="adj3" fmla="val 16667"/>
            </a:avLst>
          </a:prstGeom>
          <a:solidFill>
            <a:schemeClr val="accent2">
              <a:alpha val="25000"/>
            </a:scheme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transformátor</a:t>
            </a:r>
          </a:p>
        </p:txBody>
      </p:sp>
      <p:sp>
        <p:nvSpPr>
          <p:cNvPr id="7" name="Řečová bublina: obdélníkový bublinový popisek se zakulacenými rohy 6">
            <a:extLst>
              <a:ext uri="{FF2B5EF4-FFF2-40B4-BE49-F238E27FC236}">
                <a16:creationId xmlns:a16="http://schemas.microsoft.com/office/drawing/2014/main" id="{4C6134F6-FAA8-D899-55FE-C479439BE9FE}"/>
              </a:ext>
            </a:extLst>
          </p:cNvPr>
          <p:cNvSpPr/>
          <p:nvPr/>
        </p:nvSpPr>
        <p:spPr>
          <a:xfrm>
            <a:off x="4007827" y="5648569"/>
            <a:ext cx="1714500" cy="738554"/>
          </a:xfrm>
          <a:prstGeom prst="wedgeRoundRectCallout">
            <a:avLst>
              <a:gd name="adj1" fmla="val 22500"/>
              <a:gd name="adj2" fmla="val -92262"/>
              <a:gd name="adj3" fmla="val 16667"/>
            </a:avLst>
          </a:prstGeom>
          <a:solidFill>
            <a:schemeClr val="accent2">
              <a:alpha val="25000"/>
            </a:scheme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napájecí zdroj</a:t>
            </a:r>
          </a:p>
        </p:txBody>
      </p:sp>
      <p:sp>
        <p:nvSpPr>
          <p:cNvPr id="8" name="Řečová bublina: obdélníkový bublinový popisek se zakulacenými rohy 7">
            <a:extLst>
              <a:ext uri="{FF2B5EF4-FFF2-40B4-BE49-F238E27FC236}">
                <a16:creationId xmlns:a16="http://schemas.microsoft.com/office/drawing/2014/main" id="{865A9EF4-7882-E6BB-960B-25F7CFDF412C}"/>
              </a:ext>
            </a:extLst>
          </p:cNvPr>
          <p:cNvSpPr/>
          <p:nvPr/>
        </p:nvSpPr>
        <p:spPr>
          <a:xfrm>
            <a:off x="6469673" y="5648569"/>
            <a:ext cx="1714500" cy="738554"/>
          </a:xfrm>
          <a:prstGeom prst="wedgeRoundRectCallout">
            <a:avLst>
              <a:gd name="adj1" fmla="val -49722"/>
              <a:gd name="adj2" fmla="val -89683"/>
              <a:gd name="adj3" fmla="val 16667"/>
            </a:avLst>
          </a:prstGeom>
          <a:solidFill>
            <a:schemeClr val="accent2">
              <a:alpha val="25000"/>
            </a:scheme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střídač</a:t>
            </a:r>
          </a:p>
        </p:txBody>
      </p:sp>
      <p:sp>
        <p:nvSpPr>
          <p:cNvPr id="9" name="Řečová bublina: obdélníkový bublinový popisek se zakulacenými rohy 8">
            <a:extLst>
              <a:ext uri="{FF2B5EF4-FFF2-40B4-BE49-F238E27FC236}">
                <a16:creationId xmlns:a16="http://schemas.microsoft.com/office/drawing/2014/main" id="{3C053C95-9B0D-0433-44F9-85CF528DDA08}"/>
              </a:ext>
            </a:extLst>
          </p:cNvPr>
          <p:cNvSpPr/>
          <p:nvPr/>
        </p:nvSpPr>
        <p:spPr>
          <a:xfrm>
            <a:off x="8776188" y="5648813"/>
            <a:ext cx="1714500" cy="738554"/>
          </a:xfrm>
          <a:prstGeom prst="wedgeRoundRectCallout">
            <a:avLst>
              <a:gd name="adj1" fmla="val -120833"/>
              <a:gd name="adj2" fmla="val -96130"/>
              <a:gd name="adj3" fmla="val 16667"/>
            </a:avLst>
          </a:prstGeom>
          <a:solidFill>
            <a:schemeClr val="accent2">
              <a:alpha val="25000"/>
            </a:scheme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DC/DC měnič </a:t>
            </a:r>
          </a:p>
        </p:txBody>
      </p:sp>
      <p:sp>
        <p:nvSpPr>
          <p:cNvPr id="10" name="ciara">
            <a:extLst>
              <a:ext uri="{FF2B5EF4-FFF2-40B4-BE49-F238E27FC236}">
                <a16:creationId xmlns:a16="http://schemas.microsoft.com/office/drawing/2014/main" id="{4922C43E-FCBB-87D5-130B-BD51713AC3F2}"/>
              </a:ext>
            </a:extLst>
          </p:cNvPr>
          <p:cNvSpPr/>
          <p:nvPr/>
        </p:nvSpPr>
        <p:spPr>
          <a:xfrm>
            <a:off x="0" y="6794500"/>
            <a:ext cx="6891131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457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Galvanické oddělení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6753726" cy="1718315"/>
          </a:xfrm>
        </p:spPr>
        <p:txBody>
          <a:bodyPr/>
          <a:lstStyle/>
          <a:p>
            <a:r>
              <a:rPr lang="cs-CZ" dirty="0"/>
              <a:t>V digitální technice se často jako prvek pro galvanické oddělení dvou částí obvodu a současný přenos informace používá optický spojovací člen (</a:t>
            </a:r>
            <a:r>
              <a:rPr lang="cs-CZ" dirty="0" err="1"/>
              <a:t>optocoupler</a:t>
            </a:r>
            <a:r>
              <a:rPr lang="cs-CZ" dirty="0"/>
              <a:t>, </a:t>
            </a:r>
            <a:r>
              <a:rPr lang="cs-CZ" dirty="0" err="1"/>
              <a:t>opto-isolator</a:t>
            </a:r>
            <a:r>
              <a:rPr lang="cs-CZ" dirty="0"/>
              <a:t>).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003" y="1555751"/>
            <a:ext cx="3218806" cy="1853252"/>
          </a:xfrm>
          <a:prstGeom prst="rect">
            <a:avLst/>
          </a:prstGeom>
        </p:spPr>
      </p:pic>
      <p:sp>
        <p:nvSpPr>
          <p:cNvPr id="5" name="Zástupný symbol pro obsah 2"/>
          <p:cNvSpPr txBox="1">
            <a:spLocks/>
          </p:cNvSpPr>
          <p:nvPr/>
        </p:nvSpPr>
        <p:spPr>
          <a:xfrm>
            <a:off x="834191" y="3543940"/>
            <a:ext cx="10515600" cy="2641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Součástí jednoho obvodu je LED, která je ve společném izolačním pouzdru s fotodiodou nebo fototranzistorem.</a:t>
            </a:r>
          </a:p>
          <a:p>
            <a:r>
              <a:rPr lang="cs-CZ" dirty="0"/>
              <a:t>Když se LED rozsvítí, světlo přenese informaci a fotodioda nebo fototranzistor sepne.</a:t>
            </a:r>
          </a:p>
        </p:txBody>
      </p:sp>
      <p:sp>
        <p:nvSpPr>
          <p:cNvPr id="8" name="ciara">
            <a:extLst>
              <a:ext uri="{FF2B5EF4-FFF2-40B4-BE49-F238E27FC236}">
                <a16:creationId xmlns:a16="http://schemas.microsoft.com/office/drawing/2014/main" id="{1184069D-755F-FE3F-8626-DC23CFD69B10}"/>
              </a:ext>
            </a:extLst>
          </p:cNvPr>
          <p:cNvSpPr/>
          <p:nvPr/>
        </p:nvSpPr>
        <p:spPr>
          <a:xfrm>
            <a:off x="0" y="6794500"/>
            <a:ext cx="7686261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8662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Galvanické oddělení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Každé galvanické oddělení má svoji mez – </a:t>
            </a:r>
            <a:r>
              <a:rPr lang="cs-CZ" b="1" dirty="0"/>
              <a:t>maximální izolační napětí</a:t>
            </a:r>
            <a:r>
              <a:rPr lang="cs-CZ" dirty="0"/>
              <a:t>, při němž se izolace poruší.</a:t>
            </a:r>
          </a:p>
          <a:p>
            <a:r>
              <a:rPr lang="cs-CZ" dirty="0"/>
              <a:t>U relé se mez napětí udává málokdy a obvykle je to nejméně napětí, které je uvedeno u kontaktů. U síťových transformátorů, není-li uvedeno vyšší izolační napětí, můžeme počítat přibližně 600 V. Optické spojovací členy mívají typicky izolační napětí 2 </a:t>
            </a:r>
            <a:r>
              <a:rPr lang="cs-CZ" dirty="0" err="1"/>
              <a:t>kV</a:t>
            </a:r>
            <a:r>
              <a:rPr lang="cs-CZ" dirty="0"/>
              <a:t> nebo 4 </a:t>
            </a:r>
            <a:r>
              <a:rPr lang="cs-CZ" dirty="0" err="1"/>
              <a:t>kV</a:t>
            </a:r>
            <a:r>
              <a:rPr lang="cs-CZ" dirty="0"/>
              <a:t>.</a:t>
            </a:r>
          </a:p>
          <a:p>
            <a:r>
              <a:rPr lang="cs-CZ" dirty="0"/>
              <a:t>Technicky je možné vytvořit galvanické oddělení mnoha různými způsoby, třeba i vysokofrekvenčním spojením nebo mechanickým spojem</a:t>
            </a:r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083C9933-4EC7-02C6-3AC3-5AE82AA0EE23}"/>
              </a:ext>
            </a:extLst>
          </p:cNvPr>
          <p:cNvSpPr/>
          <p:nvPr/>
        </p:nvSpPr>
        <p:spPr>
          <a:xfrm>
            <a:off x="0" y="6794500"/>
            <a:ext cx="7951305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01514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 čemu je to dobré?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Oddělení částí obvodu s různým potenciálem (různé úrovně USB, RS232…)</a:t>
            </a:r>
          </a:p>
          <a:p>
            <a:r>
              <a:rPr lang="cs-CZ" dirty="0"/>
              <a:t>Možnost spojování různých obvodů bez rizika zkratu</a:t>
            </a:r>
          </a:p>
          <a:p>
            <a:r>
              <a:rPr lang="cs-CZ" dirty="0"/>
              <a:t>Bezpečnost při obsluze zdravotnických zařízení</a:t>
            </a:r>
          </a:p>
          <a:p>
            <a:r>
              <a:rPr lang="cs-CZ" dirty="0"/>
              <a:t>Prevence před vznikem zemních smyček</a:t>
            </a:r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5BA66B2A-8B39-3592-6F87-8741978CA575}"/>
              </a:ext>
            </a:extLst>
          </p:cNvPr>
          <p:cNvSpPr/>
          <p:nvPr/>
        </p:nvSpPr>
        <p:spPr>
          <a:xfrm>
            <a:off x="0" y="6794500"/>
            <a:ext cx="8216348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26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Modulace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 optickému přenosu se často využívá modulace</a:t>
            </a:r>
          </a:p>
          <a:p>
            <a:r>
              <a:rPr lang="cs-CZ" dirty="0"/>
              <a:t>Nelineární proces, kterým se mění charakter vhodného nosného signálu pomocí modulujícího signálu</a:t>
            </a:r>
          </a:p>
          <a:p>
            <a:r>
              <a:rPr lang="cs-CZ" dirty="0"/>
              <a:t>Nejznámějšími jsou amplitudová a frekvenční modulace</a:t>
            </a:r>
          </a:p>
          <a:p>
            <a:r>
              <a:rPr lang="cs-CZ" dirty="0"/>
              <a:t>V číslicové technice se využívají jiné druhy modulací – nespojité (diskrétní) modulace využívající synchronizační signál</a:t>
            </a:r>
          </a:p>
          <a:p>
            <a:endParaRPr lang="cs-CZ" dirty="0"/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57CD8AFA-43B0-E0D0-07BF-10D365D3A17F}"/>
              </a:ext>
            </a:extLst>
          </p:cNvPr>
          <p:cNvSpPr/>
          <p:nvPr/>
        </p:nvSpPr>
        <p:spPr>
          <a:xfrm>
            <a:off x="0" y="6794500"/>
            <a:ext cx="8481392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6675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81DEF0-DC8B-44B2-89B7-7E5B23510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Modulace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2E79C57-FA27-4D79-9A9E-08703A8F8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Modulace je nelineární proces, který mění charakter nosného signálu pomocí modulačního signálu</a:t>
            </a:r>
          </a:p>
          <a:p>
            <a:r>
              <a:rPr lang="cs-CZ" dirty="0"/>
              <a:t>Modulační signál je pomocí nosného signálu posílen pro přenos</a:t>
            </a:r>
          </a:p>
        </p:txBody>
      </p:sp>
      <p:grpSp>
        <p:nvGrpSpPr>
          <p:cNvPr id="20" name="Skupina 19">
            <a:extLst>
              <a:ext uri="{FF2B5EF4-FFF2-40B4-BE49-F238E27FC236}">
                <a16:creationId xmlns:a16="http://schemas.microsoft.com/office/drawing/2014/main" id="{23D37455-EF75-4BE2-B515-7CBB56570A16}"/>
              </a:ext>
            </a:extLst>
          </p:cNvPr>
          <p:cNvGrpSpPr/>
          <p:nvPr/>
        </p:nvGrpSpPr>
        <p:grpSpPr>
          <a:xfrm>
            <a:off x="4110122" y="4104640"/>
            <a:ext cx="3971756" cy="2072323"/>
            <a:chOff x="7021283" y="7009130"/>
            <a:chExt cx="3926117" cy="2048510"/>
          </a:xfrm>
        </p:grpSpPr>
        <p:sp>
          <p:nvSpPr>
            <p:cNvPr id="16" name="Šipka: doprava 15">
              <a:extLst>
                <a:ext uri="{FF2B5EF4-FFF2-40B4-BE49-F238E27FC236}">
                  <a16:creationId xmlns:a16="http://schemas.microsoft.com/office/drawing/2014/main" id="{33191352-5DE4-4BE6-B013-B13F531E18CA}"/>
                </a:ext>
              </a:extLst>
            </p:cNvPr>
            <p:cNvSpPr/>
            <p:nvPr/>
          </p:nvSpPr>
          <p:spPr>
            <a:xfrm>
              <a:off x="9409791" y="7208520"/>
              <a:ext cx="1537609" cy="487680"/>
            </a:xfrm>
            <a:prstGeom prst="rightArrow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cs-CZ" sz="1200" dirty="0"/>
                <a:t>modulovaný signál</a:t>
              </a:r>
            </a:p>
          </p:txBody>
        </p:sp>
        <p:grpSp>
          <p:nvGrpSpPr>
            <p:cNvPr id="19" name="Skupina 18">
              <a:extLst>
                <a:ext uri="{FF2B5EF4-FFF2-40B4-BE49-F238E27FC236}">
                  <a16:creationId xmlns:a16="http://schemas.microsoft.com/office/drawing/2014/main" id="{6778F8D3-5943-4350-AF21-612E3FED5BFD}"/>
                </a:ext>
              </a:extLst>
            </p:cNvPr>
            <p:cNvGrpSpPr/>
            <p:nvPr/>
          </p:nvGrpSpPr>
          <p:grpSpPr>
            <a:xfrm>
              <a:off x="8528411" y="7009130"/>
              <a:ext cx="886460" cy="886460"/>
              <a:chOff x="8333740" y="6906260"/>
              <a:chExt cx="1092200" cy="1092200"/>
            </a:xfrm>
          </p:grpSpPr>
          <p:sp>
            <p:nvSpPr>
              <p:cNvPr id="4" name="Ovál 3">
                <a:extLst>
                  <a:ext uri="{FF2B5EF4-FFF2-40B4-BE49-F238E27FC236}">
                    <a16:creationId xmlns:a16="http://schemas.microsoft.com/office/drawing/2014/main" id="{E4D50DCE-0152-4A6D-A68F-E4CB80E5931D}"/>
                  </a:ext>
                </a:extLst>
              </p:cNvPr>
              <p:cNvSpPr/>
              <p:nvPr/>
            </p:nvSpPr>
            <p:spPr>
              <a:xfrm>
                <a:off x="8333740" y="6906260"/>
                <a:ext cx="1092200" cy="1092200"/>
              </a:xfrm>
              <a:prstGeom prst="ellipse">
                <a:avLst/>
              </a:prstGeom>
              <a:ln w="254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cxnSp>
            <p:nvCxnSpPr>
              <p:cNvPr id="11" name="Přímá spojnice 10">
                <a:extLst>
                  <a:ext uri="{FF2B5EF4-FFF2-40B4-BE49-F238E27FC236}">
                    <a16:creationId xmlns:a16="http://schemas.microsoft.com/office/drawing/2014/main" id="{9BA7CD80-3483-474D-88CE-6930F8A9E0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600440" y="7172960"/>
                <a:ext cx="558800" cy="55880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Přímá spojnice 12">
                <a:extLst>
                  <a:ext uri="{FF2B5EF4-FFF2-40B4-BE49-F238E27FC236}">
                    <a16:creationId xmlns:a16="http://schemas.microsoft.com/office/drawing/2014/main" id="{826C3A90-9596-4BE9-90A3-83D937533242}"/>
                  </a:ext>
                </a:extLst>
              </p:cNvPr>
              <p:cNvCxnSpPr/>
              <p:nvPr/>
            </p:nvCxnSpPr>
            <p:spPr>
              <a:xfrm flipV="1">
                <a:off x="8600440" y="7172960"/>
                <a:ext cx="558800" cy="55880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Šipka: doprava 14">
              <a:extLst>
                <a:ext uri="{FF2B5EF4-FFF2-40B4-BE49-F238E27FC236}">
                  <a16:creationId xmlns:a16="http://schemas.microsoft.com/office/drawing/2014/main" id="{B8A7AE23-6383-4F30-8992-4EAFB1A44A94}"/>
                </a:ext>
              </a:extLst>
            </p:cNvPr>
            <p:cNvSpPr/>
            <p:nvPr/>
          </p:nvSpPr>
          <p:spPr>
            <a:xfrm>
              <a:off x="7021283" y="7208520"/>
              <a:ext cx="1497958" cy="487680"/>
            </a:xfrm>
            <a:prstGeom prst="rightArrow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cs-CZ" sz="1200" dirty="0"/>
                <a:t>modulační signál</a:t>
              </a:r>
            </a:p>
          </p:txBody>
        </p:sp>
        <p:sp>
          <p:nvSpPr>
            <p:cNvPr id="17" name="Šipka: doprava 16">
              <a:extLst>
                <a:ext uri="{FF2B5EF4-FFF2-40B4-BE49-F238E27FC236}">
                  <a16:creationId xmlns:a16="http://schemas.microsoft.com/office/drawing/2014/main" id="{9D19AB7E-0CD9-4633-84C7-B684269EB3AB}"/>
                </a:ext>
              </a:extLst>
            </p:cNvPr>
            <p:cNvSpPr/>
            <p:nvPr/>
          </p:nvSpPr>
          <p:spPr>
            <a:xfrm rot="16200000">
              <a:off x="8390616" y="8232775"/>
              <a:ext cx="1162050" cy="487680"/>
            </a:xfrm>
            <a:prstGeom prst="rightArrow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cs-CZ" sz="1200" dirty="0"/>
                <a:t>nosný signál</a:t>
              </a:r>
            </a:p>
          </p:txBody>
        </p:sp>
      </p:grpSp>
      <p:sp>
        <p:nvSpPr>
          <p:cNvPr id="5" name="ciara">
            <a:extLst>
              <a:ext uri="{FF2B5EF4-FFF2-40B4-BE49-F238E27FC236}">
                <a16:creationId xmlns:a16="http://schemas.microsoft.com/office/drawing/2014/main" id="{7ED65156-77DE-CE3C-3451-F208C6291CE3}"/>
              </a:ext>
            </a:extLst>
          </p:cNvPr>
          <p:cNvSpPr/>
          <p:nvPr/>
        </p:nvSpPr>
        <p:spPr>
          <a:xfrm>
            <a:off x="0" y="6794500"/>
            <a:ext cx="9011479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3822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Modulace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Modulační signál</a:t>
            </a:r>
            <a:r>
              <a:rPr lang="cs-CZ" dirty="0"/>
              <a:t> – signál, kterým chceme modulovat nosný signál</a:t>
            </a:r>
          </a:p>
          <a:p>
            <a:r>
              <a:rPr lang="cs-CZ" b="1" dirty="0"/>
              <a:t>Nosný signál</a:t>
            </a:r>
            <a:r>
              <a:rPr lang="cs-CZ" dirty="0"/>
              <a:t> – signál, který modulujeme modulačním signálem</a:t>
            </a:r>
          </a:p>
          <a:p>
            <a:r>
              <a:rPr lang="cs-CZ" b="1" dirty="0"/>
              <a:t>Modulovaný signál</a:t>
            </a:r>
            <a:r>
              <a:rPr lang="cs-CZ" dirty="0"/>
              <a:t> – výsledný signál po procesu modulace</a:t>
            </a:r>
          </a:p>
          <a:p>
            <a:endParaRPr lang="cs-CZ" b="1" dirty="0"/>
          </a:p>
          <a:p>
            <a:r>
              <a:rPr lang="cs-CZ" b="1" dirty="0"/>
              <a:t>Modulátor</a:t>
            </a:r>
            <a:r>
              <a:rPr lang="cs-CZ" dirty="0"/>
              <a:t> – prvek, ve kterém dochází k modulaci</a:t>
            </a:r>
          </a:p>
          <a:p>
            <a:r>
              <a:rPr lang="cs-CZ" b="1" dirty="0"/>
              <a:t>Demodulátor</a:t>
            </a:r>
            <a:r>
              <a:rPr lang="cs-CZ" dirty="0"/>
              <a:t> – prvek, ve kterém dochází k demodulaci, tj. ve kterém je obnoven původní signál</a:t>
            </a:r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20090E83-A8F4-0BF8-0A51-DBA00315D381}"/>
              </a:ext>
            </a:extLst>
          </p:cNvPr>
          <p:cNvSpPr/>
          <p:nvPr/>
        </p:nvSpPr>
        <p:spPr>
          <a:xfrm>
            <a:off x="0" y="6794500"/>
            <a:ext cx="9276521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77280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A94FFC-4EFD-6A06-D32E-8FF1B454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VA charakteristika světelných zdrojů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39F7945-D161-B8B9-1806-0E47B371A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Charakteristika LED je v 1. kvadrantu velmi nelineární, regulaci jasu tak není možné použít pro přímou modulace amplitudy signálu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4C93645E-DFC4-1976-86C1-092269DFF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969" y="3075412"/>
            <a:ext cx="4076601" cy="3256384"/>
          </a:xfrm>
          <a:prstGeom prst="rect">
            <a:avLst/>
          </a:prstGeom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469F0073-1339-2D8D-17EA-D5A3C3A0C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232" y="2914334"/>
            <a:ext cx="3719706" cy="357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iara">
            <a:extLst>
              <a:ext uri="{FF2B5EF4-FFF2-40B4-BE49-F238E27FC236}">
                <a16:creationId xmlns:a16="http://schemas.microsoft.com/office/drawing/2014/main" id="{7ED36C11-C8E5-1EAD-7BCA-C6E8F274444A}"/>
              </a:ext>
            </a:extLst>
          </p:cNvPr>
          <p:cNvSpPr/>
          <p:nvPr/>
        </p:nvSpPr>
        <p:spPr>
          <a:xfrm>
            <a:off x="0" y="6794500"/>
            <a:ext cx="8746435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94379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PWM – pulzně-šířková modulace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6408761" cy="4351338"/>
          </a:xfrm>
        </p:spPr>
        <p:txBody>
          <a:bodyPr/>
          <a:lstStyle/>
          <a:p>
            <a:r>
              <a:rPr lang="cs-CZ" dirty="0"/>
              <a:t>Často využívaná modulace pro přenos</a:t>
            </a:r>
            <a:br>
              <a:rPr lang="cs-CZ" dirty="0"/>
            </a:br>
            <a:r>
              <a:rPr lang="cs-CZ" dirty="0"/>
              <a:t>u optočlenů</a:t>
            </a:r>
          </a:p>
          <a:p>
            <a:r>
              <a:rPr lang="cs-CZ" dirty="0"/>
              <a:t>Pulzně-šířková modulace je diskrétní modulace pro přenos analogového signálu pomocí dvouhodnotového signálu</a:t>
            </a:r>
          </a:p>
          <a:p>
            <a:r>
              <a:rPr lang="cs-CZ" dirty="0"/>
              <a:t>Signál je modulován pomocí střídy</a:t>
            </a:r>
          </a:p>
          <a:p>
            <a:r>
              <a:rPr lang="cs-CZ" dirty="0"/>
              <a:t>Pro demodulaci takového signálu pak </a:t>
            </a:r>
            <a:r>
              <a:rPr lang="cs-CZ" i="1" dirty="0"/>
              <a:t>stačí</a:t>
            </a:r>
            <a:r>
              <a:rPr lang="cs-CZ" dirty="0"/>
              <a:t> dolní propust</a:t>
            </a:r>
          </a:p>
        </p:txBody>
      </p:sp>
      <p:pic>
        <p:nvPicPr>
          <p:cNvPr id="1026" name="Picture 2" descr="Výsledek obrázku pro pw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690688"/>
            <a:ext cx="3810000" cy="417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iara">
            <a:extLst>
              <a:ext uri="{FF2B5EF4-FFF2-40B4-BE49-F238E27FC236}">
                <a16:creationId xmlns:a16="http://schemas.microsoft.com/office/drawing/2014/main" id="{65188A1B-B680-1575-B840-40C25713F598}"/>
              </a:ext>
            </a:extLst>
          </p:cNvPr>
          <p:cNvSpPr/>
          <p:nvPr/>
        </p:nvSpPr>
        <p:spPr>
          <a:xfrm>
            <a:off x="0" y="6794500"/>
            <a:ext cx="9806608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23004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919" y="3548563"/>
            <a:ext cx="6571881" cy="2415166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modulace Manchester u sítě Ethernet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 vyjádření hodnoty bitu se do poloviny bitového intervalu původního signálu vloží hrana</a:t>
            </a:r>
          </a:p>
          <a:p>
            <a:r>
              <a:rPr lang="cs-CZ" dirty="0"/>
              <a:t>Pokud signál v této hraně přechází z „H“ na „L“, pak vyjadřuje hrana hodnotu bitu 1.</a:t>
            </a:r>
          </a:p>
          <a:p>
            <a:r>
              <a:rPr lang="cs-CZ" dirty="0"/>
              <a:t>Přechází-li z „L“ na „H“,</a:t>
            </a:r>
            <a:br>
              <a:rPr lang="cs-CZ" dirty="0"/>
            </a:br>
            <a:r>
              <a:rPr lang="cs-CZ" dirty="0"/>
              <a:t>hodnota bitu bude 0.</a:t>
            </a:r>
          </a:p>
        </p:txBody>
      </p:sp>
      <p:sp>
        <p:nvSpPr>
          <p:cNvPr id="7" name="ciara">
            <a:extLst>
              <a:ext uri="{FF2B5EF4-FFF2-40B4-BE49-F238E27FC236}">
                <a16:creationId xmlns:a16="http://schemas.microsoft.com/office/drawing/2014/main" id="{33314BE0-73D4-7E7E-C738-6ED4CA5887E0}"/>
              </a:ext>
            </a:extLst>
          </p:cNvPr>
          <p:cNvSpPr/>
          <p:nvPr/>
        </p:nvSpPr>
        <p:spPr>
          <a:xfrm>
            <a:off x="0" y="6794500"/>
            <a:ext cx="9541565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872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Konstrukce elektrických zařízení</a:t>
            </a:r>
          </a:p>
        </p:txBody>
      </p:sp>
      <p:sp>
        <p:nvSpPr>
          <p:cNvPr id="5" name="Podnadpis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ciara">
            <a:extLst>
              <a:ext uri="{FF2B5EF4-FFF2-40B4-BE49-F238E27FC236}">
                <a16:creationId xmlns:a16="http://schemas.microsoft.com/office/drawing/2014/main" id="{8C4197FF-61B9-0252-2B89-F7CD1240831C}"/>
              </a:ext>
            </a:extLst>
          </p:cNvPr>
          <p:cNvSpPr/>
          <p:nvPr/>
        </p:nvSpPr>
        <p:spPr>
          <a:xfrm>
            <a:off x="0" y="6794500"/>
            <a:ext cx="10071652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4571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Deska plošných spojů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3"/>
            <a:ext cx="7241931" cy="4860000"/>
          </a:xfrm>
        </p:spPr>
        <p:txBody>
          <a:bodyPr>
            <a:normAutofit/>
          </a:bodyPr>
          <a:lstStyle/>
          <a:p>
            <a:r>
              <a:rPr lang="cs-CZ" sz="2400" dirty="0"/>
              <a:t>DPS nebo PCB (</a:t>
            </a:r>
            <a:r>
              <a:rPr lang="cs-CZ" sz="2400" dirty="0" err="1"/>
              <a:t>Printed</a:t>
            </a:r>
            <a:r>
              <a:rPr lang="cs-CZ" sz="2400" dirty="0"/>
              <a:t> </a:t>
            </a:r>
            <a:r>
              <a:rPr lang="cs-CZ" sz="2400" dirty="0" err="1"/>
              <a:t>Circuit</a:t>
            </a:r>
            <a:r>
              <a:rPr lang="cs-CZ" sz="2400" dirty="0"/>
              <a:t> </a:t>
            </a:r>
            <a:r>
              <a:rPr lang="cs-CZ" sz="2400" dirty="0" err="1"/>
              <a:t>Board</a:t>
            </a:r>
            <a:r>
              <a:rPr lang="cs-CZ" sz="2400" dirty="0"/>
              <a:t>) je </a:t>
            </a:r>
            <a:r>
              <a:rPr lang="cs-CZ" sz="2400" b="1" dirty="0"/>
              <a:t>mechanická opora elektrických obvodů</a:t>
            </a:r>
            <a:r>
              <a:rPr lang="cs-CZ" sz="2400" dirty="0"/>
              <a:t>, zároveň vytváří vodivé cesty</a:t>
            </a:r>
          </a:p>
          <a:p>
            <a:r>
              <a:rPr lang="cs-CZ" sz="2400" dirty="0"/>
              <a:t>Vodivé cesty tvořené leptáním nebo frézováním</a:t>
            </a:r>
          </a:p>
          <a:p>
            <a:r>
              <a:rPr lang="cs-CZ" sz="2400" dirty="0"/>
              <a:t>Obvykle laminátová deska potažená plátovanou měděnou folií</a:t>
            </a:r>
          </a:p>
          <a:p>
            <a:endParaRPr lang="cs-CZ" sz="2400" dirty="0"/>
          </a:p>
          <a:p>
            <a:r>
              <a:rPr lang="cs-CZ" sz="2400" dirty="0"/>
              <a:t>Spoj obsahuje:</a:t>
            </a:r>
          </a:p>
          <a:p>
            <a:pPr lvl="1">
              <a:buFont typeface="Calibri" panose="020F0502020204030204" pitchFamily="34" charset="0"/>
              <a:buChar char="−"/>
            </a:pPr>
            <a:r>
              <a:rPr lang="cs-CZ" dirty="0"/>
              <a:t>stranu spojů (</a:t>
            </a:r>
            <a:r>
              <a:rPr lang="cs-CZ" dirty="0" err="1"/>
              <a:t>bottom</a:t>
            </a:r>
            <a:r>
              <a:rPr lang="cs-CZ" dirty="0"/>
              <a:t>)</a:t>
            </a:r>
          </a:p>
          <a:p>
            <a:pPr lvl="1">
              <a:buFont typeface="Calibri" panose="020F0502020204030204" pitchFamily="34" charset="0"/>
              <a:buChar char="−"/>
            </a:pPr>
            <a:r>
              <a:rPr lang="cs-CZ" dirty="0"/>
              <a:t>stranu součástek (top)</a:t>
            </a:r>
          </a:p>
        </p:txBody>
      </p:sp>
      <p:pic>
        <p:nvPicPr>
          <p:cNvPr id="1028" name="Picture 4" descr="Související obráze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257467" y="2728859"/>
            <a:ext cx="3999568" cy="219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iara">
            <a:extLst>
              <a:ext uri="{FF2B5EF4-FFF2-40B4-BE49-F238E27FC236}">
                <a16:creationId xmlns:a16="http://schemas.microsoft.com/office/drawing/2014/main" id="{4CDA2E13-FE48-8197-9162-8B7134591FCF}"/>
              </a:ext>
            </a:extLst>
          </p:cNvPr>
          <p:cNvSpPr/>
          <p:nvPr/>
        </p:nvSpPr>
        <p:spPr>
          <a:xfrm>
            <a:off x="0" y="6794500"/>
            <a:ext cx="10336695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40458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Deska plošných spojů – povrchová montáž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3"/>
            <a:ext cx="5861538" cy="4860000"/>
          </a:xfrm>
        </p:spPr>
        <p:txBody>
          <a:bodyPr>
            <a:normAutofit/>
          </a:bodyPr>
          <a:lstStyle/>
          <a:p>
            <a:r>
              <a:rPr lang="cs-CZ" sz="2400" dirty="0"/>
              <a:t>SMT – </a:t>
            </a:r>
            <a:r>
              <a:rPr lang="cs-CZ" sz="2400" dirty="0" err="1"/>
              <a:t>Surface-mount</a:t>
            </a:r>
            <a:r>
              <a:rPr lang="cs-CZ" sz="2400" dirty="0"/>
              <a:t> Technology</a:t>
            </a:r>
          </a:p>
          <a:p>
            <a:r>
              <a:rPr lang="cs-CZ" sz="2400" dirty="0"/>
              <a:t>SMD – </a:t>
            </a:r>
            <a:r>
              <a:rPr lang="cs-CZ" sz="2400" dirty="0" err="1"/>
              <a:t>Surface-mount</a:t>
            </a:r>
            <a:r>
              <a:rPr lang="cs-CZ" sz="2400" dirty="0"/>
              <a:t> </a:t>
            </a:r>
            <a:r>
              <a:rPr lang="cs-CZ" sz="2400" dirty="0" err="1"/>
              <a:t>Device</a:t>
            </a:r>
            <a:endParaRPr lang="cs-CZ" sz="2400" dirty="0"/>
          </a:p>
          <a:p>
            <a:r>
              <a:rPr lang="cs-CZ" sz="2400" dirty="0"/>
              <a:t>Povrchová montáž součástek pájením přímo na DPS</a:t>
            </a:r>
          </a:p>
          <a:p>
            <a:r>
              <a:rPr lang="cs-CZ" sz="2400" dirty="0"/>
              <a:t>DPS jsou obvykle vícevrstvé</a:t>
            </a:r>
          </a:p>
        </p:txBody>
      </p:sp>
      <p:pic>
        <p:nvPicPr>
          <p:cNvPr id="2050" name="Picture 2" descr="Související obráze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300" y="1912594"/>
            <a:ext cx="3619500" cy="284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iara">
            <a:extLst>
              <a:ext uri="{FF2B5EF4-FFF2-40B4-BE49-F238E27FC236}">
                <a16:creationId xmlns:a16="http://schemas.microsoft.com/office/drawing/2014/main" id="{5C7D54B8-5159-1DA0-A7BE-0870BE5982CB}"/>
              </a:ext>
            </a:extLst>
          </p:cNvPr>
          <p:cNvSpPr/>
          <p:nvPr/>
        </p:nvSpPr>
        <p:spPr>
          <a:xfrm>
            <a:off x="0" y="6794500"/>
            <a:ext cx="10601739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37909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Několik zásad při tvorbě DPS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Minimalizace hodnot proudů – volba vhodných typů obvodů z hlediska vstupních impedancí</a:t>
            </a:r>
          </a:p>
          <a:p>
            <a:r>
              <a:rPr lang="cs-CZ" sz="2400" dirty="0"/>
              <a:t>Minimalizace proudových smyček a délek spojů</a:t>
            </a:r>
          </a:p>
          <a:p>
            <a:r>
              <a:rPr lang="cs-CZ" sz="2400" dirty="0"/>
              <a:t>Minimalizace kmitočtového spektra – nepoužívat zbytečně rychlé obvody, zbytečně rychlou datovou komunikaci</a:t>
            </a:r>
          </a:p>
          <a:p>
            <a:r>
              <a:rPr lang="cs-CZ" sz="2400" dirty="0"/>
              <a:t>Filtrace a ochrany napájení</a:t>
            </a:r>
          </a:p>
          <a:p>
            <a:r>
              <a:rPr lang="cs-CZ" sz="2400" dirty="0"/>
              <a:t>Stínění</a:t>
            </a:r>
          </a:p>
        </p:txBody>
      </p:sp>
      <p:sp>
        <p:nvSpPr>
          <p:cNvPr id="6" name="ciara">
            <a:extLst>
              <a:ext uri="{FF2B5EF4-FFF2-40B4-BE49-F238E27FC236}">
                <a16:creationId xmlns:a16="http://schemas.microsoft.com/office/drawing/2014/main" id="{D5976611-CD70-874F-7200-A21104CC5B0E}"/>
              </a:ext>
            </a:extLst>
          </p:cNvPr>
          <p:cNvSpPr/>
          <p:nvPr/>
        </p:nvSpPr>
        <p:spPr>
          <a:xfrm>
            <a:off x="0" y="6794500"/>
            <a:ext cx="10866782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67532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40" y="3525253"/>
            <a:ext cx="9971920" cy="2516773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Několik zásad při tvorbě DPS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99628"/>
          </a:xfrm>
        </p:spPr>
        <p:txBody>
          <a:bodyPr numCol="2">
            <a:normAutofit/>
          </a:bodyPr>
          <a:lstStyle/>
          <a:p>
            <a:r>
              <a:rPr lang="cs-CZ" sz="2400" dirty="0"/>
              <a:t>Napájení IO vést co nejblíže u sebe</a:t>
            </a:r>
          </a:p>
          <a:p>
            <a:r>
              <a:rPr lang="cs-CZ" sz="2400" dirty="0"/>
              <a:t>Používat blokovací kondenzátory</a:t>
            </a:r>
          </a:p>
          <a:p>
            <a:r>
              <a:rPr lang="cs-CZ" sz="2400" dirty="0"/>
              <a:t>SMD součástky – nižší indukčnost přívodů</a:t>
            </a:r>
          </a:p>
          <a:p>
            <a:r>
              <a:rPr lang="cs-CZ" sz="2400" dirty="0"/>
              <a:t>U spínaných obvodů T, L a C co nejblíže k sobě</a:t>
            </a:r>
          </a:p>
          <a:p>
            <a:r>
              <a:rPr lang="cs-CZ" sz="2400" dirty="0"/>
              <a:t>Více zemí u datových vodičů, nebo „rozlitá“ měď</a:t>
            </a:r>
          </a:p>
        </p:txBody>
      </p:sp>
      <p:sp>
        <p:nvSpPr>
          <p:cNvPr id="7" name="ciara">
            <a:extLst>
              <a:ext uri="{FF2B5EF4-FFF2-40B4-BE49-F238E27FC236}">
                <a16:creationId xmlns:a16="http://schemas.microsoft.com/office/drawing/2014/main" id="{5AF86FD6-B844-EFD0-8594-DCD81869EE3A}"/>
              </a:ext>
            </a:extLst>
          </p:cNvPr>
          <p:cNvSpPr/>
          <p:nvPr/>
        </p:nvSpPr>
        <p:spPr>
          <a:xfrm>
            <a:off x="0" y="6794500"/>
            <a:ext cx="11131826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449772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Několik zásad při tvorbě DPS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Vhodné vedení zemí – sériové, paralelní, vícebodové</a:t>
            </a:r>
          </a:p>
          <a:p>
            <a:r>
              <a:rPr lang="cs-CZ" sz="2400" dirty="0"/>
              <a:t>Oddělení digitálních a analogových zemí</a:t>
            </a:r>
          </a:p>
          <a:p>
            <a:r>
              <a:rPr lang="cs-CZ" sz="2400" dirty="0"/>
              <a:t>Oddělení funkčních bloků (digitální, analogový, silový)</a:t>
            </a: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99" y="3544094"/>
            <a:ext cx="10512701" cy="1400958"/>
          </a:xfrm>
          <a:prstGeom prst="rect">
            <a:avLst/>
          </a:prstGeom>
        </p:spPr>
      </p:pic>
      <p:sp>
        <p:nvSpPr>
          <p:cNvPr id="7" name="ciara">
            <a:extLst>
              <a:ext uri="{FF2B5EF4-FFF2-40B4-BE49-F238E27FC236}">
                <a16:creationId xmlns:a16="http://schemas.microsoft.com/office/drawing/2014/main" id="{79E5DEC5-7E4D-A22D-1CBC-AF9FF136B871}"/>
              </a:ext>
            </a:extLst>
          </p:cNvPr>
          <p:cNvSpPr/>
          <p:nvPr/>
        </p:nvSpPr>
        <p:spPr>
          <a:xfrm>
            <a:off x="0" y="6794500"/>
            <a:ext cx="11396869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87238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DPS a blokovací kondenzátory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825625"/>
            <a:ext cx="7644063" cy="4351338"/>
          </a:xfrm>
        </p:spPr>
        <p:txBody>
          <a:bodyPr>
            <a:normAutofit/>
          </a:bodyPr>
          <a:lstStyle/>
          <a:p>
            <a:r>
              <a:rPr lang="cs-CZ" sz="2400" dirty="0"/>
              <a:t>Slouží k blokování VF rušení v napájecí cestě</a:t>
            </a:r>
          </a:p>
          <a:p>
            <a:r>
              <a:rPr lang="cs-CZ" sz="2400" dirty="0"/>
              <a:t>Pro VF aplikace je vhodné použít více blokovacích kondenzátorů o různých kapacitách</a:t>
            </a:r>
          </a:p>
          <a:p>
            <a:r>
              <a:rPr lang="cs-CZ" sz="2400" dirty="0"/>
              <a:t>Umístění nejlépe v těsné blízkosti IO, vzdálenost jen několika cm je již problematická (úbytky napětí na parazitní indukčnosti mohou být i několik voltů)</a:t>
            </a:r>
          </a:p>
          <a:p>
            <a:r>
              <a:rPr lang="cs-CZ" sz="2400" dirty="0"/>
              <a:t>U spínaných zdrojů často skládáme kapacitu v řádu stovek mikrofaradů z několika menších kondenzátorů zapojených paralelně, zmenší se tím jejich indukčnost</a:t>
            </a: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625" y="1825625"/>
            <a:ext cx="2352174" cy="1493630"/>
          </a:xfrm>
          <a:prstGeom prst="rect">
            <a:avLst/>
          </a:prstGeom>
        </p:spPr>
      </p:pic>
      <p:pic>
        <p:nvPicPr>
          <p:cNvPr id="2050" name="Picture 2" descr="http://www.acierta-it.com/jas/v3.0/CD%20CON%20TODO/DCRABBIT_9.21/Docs/refs/TN221/images/rcm31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626" y="3724822"/>
            <a:ext cx="2352174" cy="245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Šipka doprava 5"/>
          <p:cNvSpPr/>
          <p:nvPr/>
        </p:nvSpPr>
        <p:spPr>
          <a:xfrm rot="5400000">
            <a:off x="9886466" y="3420462"/>
            <a:ext cx="755455" cy="315337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ciara">
            <a:extLst>
              <a:ext uri="{FF2B5EF4-FFF2-40B4-BE49-F238E27FC236}">
                <a16:creationId xmlns:a16="http://schemas.microsoft.com/office/drawing/2014/main" id="{17AFCC35-616D-F871-8977-078494BA9027}"/>
              </a:ext>
            </a:extLst>
          </p:cNvPr>
          <p:cNvSpPr/>
          <p:nvPr/>
        </p:nvSpPr>
        <p:spPr>
          <a:xfrm>
            <a:off x="0" y="6794500"/>
            <a:ext cx="11661913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31589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DPS a chlazení součástek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199" y="1825625"/>
            <a:ext cx="5404339" cy="4351338"/>
          </a:xfrm>
        </p:spPr>
        <p:txBody>
          <a:bodyPr>
            <a:normAutofit/>
          </a:bodyPr>
          <a:lstStyle/>
          <a:p>
            <a:r>
              <a:rPr lang="cs-CZ" sz="2400" dirty="0"/>
              <a:t>Vhodný návrh DPS umožňuje i distribuci tepla výkonových součástek</a:t>
            </a:r>
          </a:p>
          <a:p>
            <a:r>
              <a:rPr lang="cs-CZ" sz="2400" dirty="0"/>
              <a:t>Nesprávný návrh rozložení DPS může způsobit vysoké proudy některými spoji a produkovat nadměrné teplo.</a:t>
            </a:r>
          </a:p>
          <a:p>
            <a:r>
              <a:rPr lang="cs-CZ" sz="2400" dirty="0"/>
              <a:t>To může způsobit nestabilitu desky plošných spojů a zkrátit životnost desky i celého zařízení.</a:t>
            </a:r>
          </a:p>
          <a:p>
            <a:r>
              <a:rPr lang="cs-CZ" sz="2400" dirty="0"/>
              <a:t>Tyto konstrukční problémy je však snadné analyzovat pomocí termokamery.</a:t>
            </a:r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83591905-92A5-AC61-661A-78B75233B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248" y="1825625"/>
            <a:ext cx="4443552" cy="4351338"/>
          </a:xfrm>
          <a:prstGeom prst="rect">
            <a:avLst/>
          </a:prstGeom>
        </p:spPr>
      </p:pic>
      <p:sp>
        <p:nvSpPr>
          <p:cNvPr id="11" name="ciara">
            <a:extLst>
              <a:ext uri="{FF2B5EF4-FFF2-40B4-BE49-F238E27FC236}">
                <a16:creationId xmlns:a16="http://schemas.microsoft.com/office/drawing/2014/main" id="{C473D142-CBCB-CC7A-C5E0-836CEDB6810B}"/>
              </a:ext>
            </a:extLst>
          </p:cNvPr>
          <p:cNvSpPr/>
          <p:nvPr/>
        </p:nvSpPr>
        <p:spPr>
          <a:xfrm>
            <a:off x="0" y="6794500"/>
            <a:ext cx="11926956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99560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Vícevrstvé DPS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Vícevrstvé spoje mohou obsahovat i více zemních vrstev, které zajišťují výrazně lepší odolnost proti vyzařování</a:t>
            </a:r>
          </a:p>
          <a:p>
            <a:r>
              <a:rPr lang="cs-CZ" dirty="0"/>
              <a:t>U číslicových obvodů při dvouvrstvých DPS vedeme na jedné vrstvě spoje vodorovně a na druhé svisle, to umožňuje propojit na DPS libovolné dva body.</a:t>
            </a:r>
          </a:p>
          <a:p>
            <a:r>
              <a:rPr lang="cs-CZ" dirty="0"/>
              <a:t>Kladné a záporné napájecí napětí</a:t>
            </a:r>
            <a:br>
              <a:rPr lang="cs-CZ" dirty="0"/>
            </a:br>
            <a:r>
              <a:rPr lang="cs-CZ" dirty="0"/>
              <a:t>musíme vést vedle sebe</a:t>
            </a:r>
            <a:br>
              <a:rPr lang="cs-CZ" dirty="0"/>
            </a:br>
            <a:r>
              <a:rPr lang="cs-CZ" dirty="0"/>
              <a:t>k minimalizaci proudové smyčky</a:t>
            </a:r>
          </a:p>
          <a:p>
            <a:endParaRPr lang="cs-CZ" dirty="0"/>
          </a:p>
        </p:txBody>
      </p:sp>
      <p:pic>
        <p:nvPicPr>
          <p:cNvPr id="1026" name="Picture 2" descr="Výsledek obrázku pro Multilayer PC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176712"/>
            <a:ext cx="3810000" cy="200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iara">
            <a:extLst>
              <a:ext uri="{FF2B5EF4-FFF2-40B4-BE49-F238E27FC236}">
                <a16:creationId xmlns:a16="http://schemas.microsoft.com/office/drawing/2014/main" id="{4B9A09A6-33B1-3E7E-081A-12B082DA943F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DAE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7413562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23243</TotalTime>
  <Words>1924</Words>
  <Application>Microsoft Macintosh PowerPoint</Application>
  <PresentationFormat>Širokoúhlá obrazovka</PresentationFormat>
  <Paragraphs>215</Paragraphs>
  <Slides>43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Motiv Office</vt:lpstr>
      <vt:lpstr>Bezpečnost a konstrukce elektrických zařízení, EMC</vt:lpstr>
      <vt:lpstr>Účinky elektrického proudu na organizmus</vt:lpstr>
      <vt:lpstr>Účinky elektrického proudu na organizmus</vt:lpstr>
      <vt:lpstr>Účinky elektrického proudu na organizmus</vt:lpstr>
      <vt:lpstr>Účinky elektrického proudu na organizmus</vt:lpstr>
      <vt:lpstr>Účinky elektrického proudu na organizmus</vt:lpstr>
      <vt:lpstr>Účinky elektrického proudu na organizmus</vt:lpstr>
      <vt:lpstr>Účinky elektrického proudu na organizmus</vt:lpstr>
      <vt:lpstr>Elektromagnetická kompatibilita</vt:lpstr>
      <vt:lpstr>Elektromagnetická kompatibilita (EMC)</vt:lpstr>
      <vt:lpstr>Elektromagnetické rušení</vt:lpstr>
      <vt:lpstr>Opatření pro omezení EMI</vt:lpstr>
      <vt:lpstr>Příklady z biomedicíny</vt:lpstr>
      <vt:lpstr>Testování EMC</vt:lpstr>
      <vt:lpstr>Testování EMC</vt:lpstr>
      <vt:lpstr>Fatální následky nedodržení EMC…</vt:lpstr>
      <vt:lpstr>Fatální následky nedodržení EMC…</vt:lpstr>
      <vt:lpstr>EMC v oblasti medicíny…</vt:lpstr>
      <vt:lpstr>EMC v oblasti medicíny…</vt:lpstr>
      <vt:lpstr>Problémy EMC u biologických systémů</vt:lpstr>
      <vt:lpstr>SAR – měrný pohlcený výkon EM pole</vt:lpstr>
      <vt:lpstr>SAR – měrný pohlcený výkon EM pole</vt:lpstr>
      <vt:lpstr>Bezpečnost a konstrukce elektrických zařízení</vt:lpstr>
      <vt:lpstr>Galvanické oddělení</vt:lpstr>
      <vt:lpstr>Galvanické oddělení</vt:lpstr>
      <vt:lpstr>Galvanické oddělení</vt:lpstr>
      <vt:lpstr>Galvanické oddělení</vt:lpstr>
      <vt:lpstr>K čemu je to dobré?</vt:lpstr>
      <vt:lpstr>Modulace</vt:lpstr>
      <vt:lpstr>Modulace</vt:lpstr>
      <vt:lpstr>Modulace</vt:lpstr>
      <vt:lpstr>VA charakteristika světelných zdrojů</vt:lpstr>
      <vt:lpstr>PWM – pulzně-šířková modulace</vt:lpstr>
      <vt:lpstr>Příklad modulace Manchester u sítě Ethernet</vt:lpstr>
      <vt:lpstr>Konstrukce elektrických zařízení</vt:lpstr>
      <vt:lpstr>Deska plošných spojů</vt:lpstr>
      <vt:lpstr>Deska plošných spojů – povrchová montáž</vt:lpstr>
      <vt:lpstr>Několik zásad při tvorbě DPS</vt:lpstr>
      <vt:lpstr>Několik zásad při tvorbě DPS</vt:lpstr>
      <vt:lpstr>Několik zásad při tvorbě DPS</vt:lpstr>
      <vt:lpstr>DPS a blokovací kondenzátory</vt:lpstr>
      <vt:lpstr>DPS a chlazení součástek</vt:lpstr>
      <vt:lpstr>Vícevrstvé DPS</vt:lpstr>
    </vt:vector>
  </TitlesOfParts>
  <Company>ÚBMI FEKT VUT v Brně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ASPE</dc:title>
  <dc:creator>Jiří Sekora</dc:creator>
  <cp:lastModifiedBy>Králík Martin (133972)</cp:lastModifiedBy>
  <cp:revision>129</cp:revision>
  <cp:lastPrinted>2017-02-06T06:52:19Z</cp:lastPrinted>
  <dcterms:created xsi:type="dcterms:W3CDTF">2017-01-29T21:36:28Z</dcterms:created>
  <dcterms:modified xsi:type="dcterms:W3CDTF">2025-10-19T17:03:08Z</dcterms:modified>
</cp:coreProperties>
</file>