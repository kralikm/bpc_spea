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356" r:id="rId3"/>
    <p:sldId id="359" r:id="rId4"/>
    <p:sldId id="325" r:id="rId5"/>
    <p:sldId id="257" r:id="rId6"/>
    <p:sldId id="258" r:id="rId7"/>
    <p:sldId id="259" r:id="rId8"/>
    <p:sldId id="32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361" r:id="rId46"/>
    <p:sldId id="297" r:id="rId47"/>
    <p:sldId id="298" r:id="rId48"/>
    <p:sldId id="299" r:id="rId49"/>
    <p:sldId id="300" r:id="rId50"/>
    <p:sldId id="36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1098C3-7857-4492-B0EB-0920442991DE}" v="4" dt="2026-09-10T08:51:03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8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álík Martin (133972)" userId="b57e4bde-afd4-4b65-ad1f-59324e7702da" providerId="ADAL" clId="{8E1BC46D-510E-4DBE-9421-24018953E315}"/>
    <pc:docChg chg="custSel addSld delSld modSld sldOrd">
      <pc:chgData name="Králík Martin (133972)" userId="b57e4bde-afd4-4b65-ad1f-59324e7702da" providerId="ADAL" clId="{8E1BC46D-510E-4DBE-9421-24018953E315}" dt="2026-09-10T09:08:20.747" v="164"/>
      <pc:docMkLst>
        <pc:docMk/>
      </pc:docMkLst>
      <pc:sldChg chg="modSp mod">
        <pc:chgData name="Králík Martin (133972)" userId="b57e4bde-afd4-4b65-ad1f-59324e7702da" providerId="ADAL" clId="{8E1BC46D-510E-4DBE-9421-24018953E315}" dt="2026-09-10T07:22:42.278" v="1" actId="403"/>
        <pc:sldMkLst>
          <pc:docMk/>
          <pc:sldMk cId="0" sldId="258"/>
        </pc:sldMkLst>
        <pc:spChg chg="mod">
          <ac:chgData name="Králík Martin (133972)" userId="b57e4bde-afd4-4b65-ad1f-59324e7702da" providerId="ADAL" clId="{8E1BC46D-510E-4DBE-9421-24018953E315}" dt="2026-09-10T07:22:42.278" v="1" actId="403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Králík Martin (133972)" userId="b57e4bde-afd4-4b65-ad1f-59324e7702da" providerId="ADAL" clId="{8E1BC46D-510E-4DBE-9421-24018953E315}" dt="2026-09-10T07:22:51.358" v="3" actId="403"/>
        <pc:sldMkLst>
          <pc:docMk/>
          <pc:sldMk cId="0" sldId="259"/>
        </pc:sldMkLst>
        <pc:spChg chg="mod">
          <ac:chgData name="Králík Martin (133972)" userId="b57e4bde-afd4-4b65-ad1f-59324e7702da" providerId="ADAL" clId="{8E1BC46D-510E-4DBE-9421-24018953E315}" dt="2026-09-10T07:22:51.358" v="3" actId="403"/>
          <ac:spMkLst>
            <pc:docMk/>
            <pc:sldMk cId="0" sldId="259"/>
            <ac:spMk id="4" creationId="{00000000-0000-0000-0000-000000000000}"/>
          </ac:spMkLst>
        </pc:spChg>
      </pc:sldChg>
      <pc:sldChg chg="add del ord">
        <pc:chgData name="Králík Martin (133972)" userId="b57e4bde-afd4-4b65-ad1f-59324e7702da" providerId="ADAL" clId="{8E1BC46D-510E-4DBE-9421-24018953E315}" dt="2026-09-10T07:34:36.994" v="7"/>
        <pc:sldMkLst>
          <pc:docMk/>
          <pc:sldMk cId="1908714488" sldId="321"/>
        </pc:sldMkLst>
      </pc:sldChg>
      <pc:sldChg chg="add del">
        <pc:chgData name="Králík Martin (133972)" userId="b57e4bde-afd4-4b65-ad1f-59324e7702da" providerId="ADAL" clId="{8E1BC46D-510E-4DBE-9421-24018953E315}" dt="2026-09-10T07:35:11.588" v="9"/>
        <pc:sldMkLst>
          <pc:docMk/>
          <pc:sldMk cId="3546415988" sldId="322"/>
        </pc:sldMkLst>
      </pc:sldChg>
      <pc:sldChg chg="modSp add del mod">
        <pc:chgData name="Králík Martin (133972)" userId="b57e4bde-afd4-4b65-ad1f-59324e7702da" providerId="ADAL" clId="{8E1BC46D-510E-4DBE-9421-24018953E315}" dt="2026-09-10T07:35:40.126" v="25"/>
        <pc:sldMkLst>
          <pc:docMk/>
          <pc:sldMk cId="1583680826" sldId="323"/>
        </pc:sldMkLst>
        <pc:graphicFrameChg chg="modGraphic">
          <ac:chgData name="Králík Martin (133972)" userId="b57e4bde-afd4-4b65-ad1f-59324e7702da" providerId="ADAL" clId="{8E1BC46D-510E-4DBE-9421-24018953E315}" dt="2026-09-10T07:35:11.646" v="23"/>
          <ac:graphicFrameMkLst>
            <pc:docMk/>
            <pc:sldMk cId="1583680826" sldId="323"/>
            <ac:graphicFrameMk id="60" creationId="{00000000-0000-0000-0000-000000000000}"/>
          </ac:graphicFrameMkLst>
        </pc:graphicFrameChg>
      </pc:sldChg>
      <pc:sldChg chg="modSp add del mod">
        <pc:chgData name="Králík Martin (133972)" userId="b57e4bde-afd4-4b65-ad1f-59324e7702da" providerId="ADAL" clId="{8E1BC46D-510E-4DBE-9421-24018953E315}" dt="2026-09-10T07:36:10.620" v="41"/>
        <pc:sldMkLst>
          <pc:docMk/>
          <pc:sldMk cId="3507047815" sldId="324"/>
        </pc:sldMkLst>
        <pc:graphicFrameChg chg="modGraphic">
          <ac:chgData name="Králík Martin (133972)" userId="b57e4bde-afd4-4b65-ad1f-59324e7702da" providerId="ADAL" clId="{8E1BC46D-510E-4DBE-9421-24018953E315}" dt="2026-09-10T07:35:40.259" v="39"/>
          <ac:graphicFrameMkLst>
            <pc:docMk/>
            <pc:sldMk cId="3507047815" sldId="324"/>
            <ac:graphicFrameMk id="60" creationId="{00000000-0000-0000-0000-000000000000}"/>
          </ac:graphicFrameMkLst>
        </pc:graphicFrameChg>
      </pc:sldChg>
      <pc:sldChg chg="modSp add mod">
        <pc:chgData name="Králík Martin (133972)" userId="b57e4bde-afd4-4b65-ad1f-59324e7702da" providerId="ADAL" clId="{8E1BC46D-510E-4DBE-9421-24018953E315}" dt="2026-09-10T07:36:10.701" v="55"/>
        <pc:sldMkLst>
          <pc:docMk/>
          <pc:sldMk cId="1784452969" sldId="325"/>
        </pc:sldMkLst>
        <pc:graphicFrameChg chg="modGraphic">
          <ac:chgData name="Králík Martin (133972)" userId="b57e4bde-afd4-4b65-ad1f-59324e7702da" providerId="ADAL" clId="{8E1BC46D-510E-4DBE-9421-24018953E315}" dt="2026-09-10T07:36:10.701" v="55"/>
          <ac:graphicFrameMkLst>
            <pc:docMk/>
            <pc:sldMk cId="1784452969" sldId="325"/>
            <ac:graphicFrameMk id="60" creationId="{00000000-0000-0000-0000-000000000000}"/>
          </ac:graphicFrameMkLst>
        </pc:graphicFrameChg>
      </pc:sldChg>
      <pc:sldChg chg="new del">
        <pc:chgData name="Králík Martin (133972)" userId="b57e4bde-afd4-4b65-ad1f-59324e7702da" providerId="ADAL" clId="{8E1BC46D-510E-4DBE-9421-24018953E315}" dt="2026-09-10T08:50:19.350" v="58" actId="47"/>
        <pc:sldMkLst>
          <pc:docMk/>
          <pc:sldMk cId="708148269" sldId="326"/>
        </pc:sldMkLst>
      </pc:sldChg>
      <pc:sldChg chg="addSp delSp modSp add del mod ord">
        <pc:chgData name="Králík Martin (133972)" userId="b57e4bde-afd4-4b65-ad1f-59324e7702da" providerId="ADAL" clId="{8E1BC46D-510E-4DBE-9421-24018953E315}" dt="2026-09-10T08:55:56.957" v="125"/>
        <pc:sldMkLst>
          <pc:docMk/>
          <pc:sldMk cId="1832391081" sldId="349"/>
        </pc:sldMkLst>
        <pc:spChg chg="add del mod">
          <ac:chgData name="Králík Martin (133972)" userId="b57e4bde-afd4-4b65-ad1f-59324e7702da" providerId="ADAL" clId="{8E1BC46D-510E-4DBE-9421-24018953E315}" dt="2026-09-10T08:51:08.032" v="68"/>
          <ac:spMkLst>
            <pc:docMk/>
            <pc:sldMk cId="1832391081" sldId="349"/>
            <ac:spMk id="2" creationId="{03F25B69-1EB6-AE02-0B91-D9D3212ADE97}"/>
          </ac:spMkLst>
        </pc:spChg>
        <pc:spChg chg="del">
          <ac:chgData name="Králík Martin (133972)" userId="b57e4bde-afd4-4b65-ad1f-59324e7702da" providerId="ADAL" clId="{8E1BC46D-510E-4DBE-9421-24018953E315}" dt="2026-09-10T08:51:08.028" v="66" actId="478"/>
          <ac:spMkLst>
            <pc:docMk/>
            <pc:sldMk cId="1832391081" sldId="349"/>
            <ac:spMk id="7" creationId="{EB345BE7-DDF3-3191-4810-FB663713F67B}"/>
          </ac:spMkLst>
        </pc:spChg>
        <pc:picChg chg="del">
          <ac:chgData name="Králík Martin (133972)" userId="b57e4bde-afd4-4b65-ad1f-59324e7702da" providerId="ADAL" clId="{8E1BC46D-510E-4DBE-9421-24018953E315}" dt="2026-09-10T08:51:01.131" v="64" actId="478"/>
          <ac:picMkLst>
            <pc:docMk/>
            <pc:sldMk cId="1832391081" sldId="349"/>
            <ac:picMk id="18" creationId="{C95EB34E-A9A6-DD81-B890-C69660A40C41}"/>
          </ac:picMkLst>
        </pc:picChg>
      </pc:sldChg>
      <pc:sldChg chg="modSp add del mod ord">
        <pc:chgData name="Králík Martin (133972)" userId="b57e4bde-afd4-4b65-ad1f-59324e7702da" providerId="ADAL" clId="{8E1BC46D-510E-4DBE-9421-24018953E315}" dt="2026-09-10T08:54:45.100" v="121"/>
        <pc:sldMkLst>
          <pc:docMk/>
          <pc:sldMk cId="1208675953" sldId="350"/>
        </pc:sldMkLst>
        <pc:spChg chg="mod">
          <ac:chgData name="Králík Martin (133972)" userId="b57e4bde-afd4-4b65-ad1f-59324e7702da" providerId="ADAL" clId="{8E1BC46D-510E-4DBE-9421-24018953E315}" dt="2026-09-10T08:52:25.823" v="119" actId="20577"/>
          <ac:spMkLst>
            <pc:docMk/>
            <pc:sldMk cId="1208675953" sldId="350"/>
            <ac:spMk id="3" creationId="{00000000-0000-0000-0000-000000000000}"/>
          </ac:spMkLst>
        </pc:spChg>
      </pc:sldChg>
      <pc:sldChg chg="add del">
        <pc:chgData name="Králík Martin (133972)" userId="b57e4bde-afd4-4b65-ad1f-59324e7702da" providerId="ADAL" clId="{8E1BC46D-510E-4DBE-9421-24018953E315}" dt="2026-09-10T08:55:13.365" v="123"/>
        <pc:sldMkLst>
          <pc:docMk/>
          <pc:sldMk cId="530000026" sldId="351"/>
        </pc:sldMkLst>
      </pc:sldChg>
      <pc:sldChg chg="add del">
        <pc:chgData name="Králík Martin (133972)" userId="b57e4bde-afd4-4b65-ad1f-59324e7702da" providerId="ADAL" clId="{8E1BC46D-510E-4DBE-9421-24018953E315}" dt="2026-09-10T08:59:49.283" v="129"/>
        <pc:sldMkLst>
          <pc:docMk/>
          <pc:sldMk cId="1471655916" sldId="352"/>
        </pc:sldMkLst>
      </pc:sldChg>
      <pc:sldChg chg="add del">
        <pc:chgData name="Králík Martin (133972)" userId="b57e4bde-afd4-4b65-ad1f-59324e7702da" providerId="ADAL" clId="{8E1BC46D-510E-4DBE-9421-24018953E315}" dt="2026-09-10T08:59:07.949" v="127"/>
        <pc:sldMkLst>
          <pc:docMk/>
          <pc:sldMk cId="1359904186" sldId="353"/>
        </pc:sldMkLst>
      </pc:sldChg>
      <pc:sldChg chg="modSp add del mod">
        <pc:chgData name="Králík Martin (133972)" userId="b57e4bde-afd4-4b65-ad1f-59324e7702da" providerId="ADAL" clId="{8E1BC46D-510E-4DBE-9421-24018953E315}" dt="2026-09-10T09:01:51.001" v="160"/>
        <pc:sldMkLst>
          <pc:docMk/>
          <pc:sldMk cId="2552998787" sldId="354"/>
        </pc:sldMkLst>
        <pc:spChg chg="mod">
          <ac:chgData name="Králík Martin (133972)" userId="b57e4bde-afd4-4b65-ad1f-59324e7702da" providerId="ADAL" clId="{8E1BC46D-510E-4DBE-9421-24018953E315}" dt="2026-09-10T09:00:16.772" v="140" actId="20577"/>
          <ac:spMkLst>
            <pc:docMk/>
            <pc:sldMk cId="2552998787" sldId="354"/>
            <ac:spMk id="22" creationId="{00000000-0000-0000-0000-000000000000}"/>
          </ac:spMkLst>
        </pc:spChg>
        <pc:spChg chg="mod">
          <ac:chgData name="Králík Martin (133972)" userId="b57e4bde-afd4-4b65-ad1f-59324e7702da" providerId="ADAL" clId="{8E1BC46D-510E-4DBE-9421-24018953E315}" dt="2026-09-10T09:00:21.062" v="144" actId="20577"/>
          <ac:spMkLst>
            <pc:docMk/>
            <pc:sldMk cId="2552998787" sldId="354"/>
            <ac:spMk id="25" creationId="{00000000-0000-0000-0000-000000000000}"/>
          </ac:spMkLst>
        </pc:spChg>
        <pc:spChg chg="mod">
          <ac:chgData name="Králík Martin (133972)" userId="b57e4bde-afd4-4b65-ad1f-59324e7702da" providerId="ADAL" clId="{8E1BC46D-510E-4DBE-9421-24018953E315}" dt="2026-09-10T09:00:26.908" v="158" actId="20577"/>
          <ac:spMkLst>
            <pc:docMk/>
            <pc:sldMk cId="2552998787" sldId="354"/>
            <ac:spMk id="28" creationId="{00000000-0000-0000-0000-000000000000}"/>
          </ac:spMkLst>
        </pc:spChg>
      </pc:sldChg>
      <pc:sldChg chg="add del">
        <pc:chgData name="Králík Martin (133972)" userId="b57e4bde-afd4-4b65-ad1f-59324e7702da" providerId="ADAL" clId="{8E1BC46D-510E-4DBE-9421-24018953E315}" dt="2026-09-10T09:00:23.696" v="149"/>
        <pc:sldMkLst>
          <pc:docMk/>
          <pc:sldMk cId="4197093631" sldId="355"/>
        </pc:sldMkLst>
      </pc:sldChg>
      <pc:sldChg chg="add">
        <pc:chgData name="Králík Martin (133972)" userId="b57e4bde-afd4-4b65-ad1f-59324e7702da" providerId="ADAL" clId="{8E1BC46D-510E-4DBE-9421-24018953E315}" dt="2026-09-10T09:00:23.693" v="148"/>
        <pc:sldMkLst>
          <pc:docMk/>
          <pc:sldMk cId="4276025936" sldId="356"/>
        </pc:sldMkLst>
      </pc:sldChg>
      <pc:sldChg chg="add del">
        <pc:chgData name="Králík Martin (133972)" userId="b57e4bde-afd4-4b65-ad1f-59324e7702da" providerId="ADAL" clId="{8E1BC46D-510E-4DBE-9421-24018953E315}" dt="2026-09-10T09:07:02.345" v="162"/>
        <pc:sldMkLst>
          <pc:docMk/>
          <pc:sldMk cId="3228483980" sldId="357"/>
        </pc:sldMkLst>
      </pc:sldChg>
      <pc:sldChg chg="add del">
        <pc:chgData name="Králík Martin (133972)" userId="b57e4bde-afd4-4b65-ad1f-59324e7702da" providerId="ADAL" clId="{8E1BC46D-510E-4DBE-9421-24018953E315}" dt="2026-09-10T09:08:20.747" v="164"/>
        <pc:sldMkLst>
          <pc:docMk/>
          <pc:sldMk cId="1749748866" sldId="358"/>
        </pc:sldMkLst>
      </pc:sldChg>
      <pc:sldChg chg="add">
        <pc:chgData name="Králík Martin (133972)" userId="b57e4bde-afd4-4b65-ad1f-59324e7702da" providerId="ADAL" clId="{8E1BC46D-510E-4DBE-9421-24018953E315}" dt="2026-09-10T09:08:20.558" v="163"/>
        <pc:sldMkLst>
          <pc:docMk/>
          <pc:sldMk cId="2649296960" sldId="359"/>
        </pc:sldMkLst>
      </pc:sldChg>
    </pc:docChg>
  </pc:docChgLst>
  <pc:docChgLst>
    <pc:chgData name="Králík Martin (133972)" userId="b57e4bde-afd4-4b65-ad1f-59324e7702da" providerId="ADAL" clId="{6D8C1BE4-C478-423B-9F95-B0F75F2CCC19}"/>
    <pc:docChg chg="modSld">
      <pc:chgData name="Králík Martin (133972)" userId="b57e4bde-afd4-4b65-ad1f-59324e7702da" providerId="ADAL" clId="{6D8C1BE4-C478-423B-9F95-B0F75F2CCC19}" dt="2026-09-08T12:02:52.985" v="0"/>
      <pc:docMkLst>
        <pc:docMk/>
      </pc:docMkLst>
      <pc:sldChg chg="addSp">
        <pc:chgData name="Králík Martin (133972)" userId="b57e4bde-afd4-4b65-ad1f-59324e7702da" providerId="ADAL" clId="{6D8C1BE4-C478-423B-9F95-B0F75F2CCC19}" dt="2026-09-08T12:02:52.985" v="0"/>
        <pc:sldMkLst>
          <pc:docMk/>
          <pc:sldMk cId="0" sldId="259"/>
        </pc:sldMkLst>
        <pc:picChg chg="add">
          <ac:chgData name="Králík Martin (133972)" userId="b57e4bde-afd4-4b65-ad1f-59324e7702da" providerId="ADAL" clId="{6D8C1BE4-C478-423B-9F95-B0F75F2CCC19}" dt="2026-09-08T12:02:52.985" v="0"/>
          <ac:picMkLst>
            <pc:docMk/>
            <pc:sldMk cId="0" sldId="259"/>
            <ac:picMk id="194" creationId="{675B8410-FAD1-5FD4-51EE-8D917971AE3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686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Obrázek vpravo dole je animovaný GIF – přehraje se v režimu prezentace (v editoru je vidět jen první snímek s celým průběhem).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Obrázek vpravo dole je animovaný GIF – přehraje se v režimu prezentace (v editoru je vidět jen první snímek s celým průběhem).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20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gi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gi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985248" y="54864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0277856" y="54864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570464" y="54864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863072" y="54864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1155680" y="54864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9692640" y="84124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9985248" y="84124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10277856" y="84124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10570464" y="84124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0863072" y="84124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11155680" y="84124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9692640" y="113385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9985248" y="113385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10277856" y="113385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10570464" y="113385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0863072" y="113385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1155680" y="113385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9692640" y="142646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9985248" y="142646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10277856" y="142646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10570464" y="142646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10863072" y="142646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11155680" y="142646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9692640" y="171907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9985248" y="171907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10277856" y="171907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10570464" y="171907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10863072" y="171907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11155680" y="171907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9692640" y="201168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9985248" y="201168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0277856" y="201168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10570464" y="201168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10863072" y="201168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11155680" y="201168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9692640" y="230428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9985248" y="230428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10277856" y="230428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10570464" y="230428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10863072" y="230428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11155680" y="230428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9692640" y="259689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985248" y="259689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0277856" y="259689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0570464" y="259689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0863072" y="259689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11155680" y="259689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9692640" y="288950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9985248" y="288950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10277856" y="288950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10570464" y="288950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10863072" y="288950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11155680" y="288950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9692640" y="318211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9985248" y="318211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Shape 56"/>
          <p:cNvSpPr/>
          <p:nvPr/>
        </p:nvSpPr>
        <p:spPr>
          <a:xfrm>
            <a:off x="10277856" y="318211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9" name="Shape 57"/>
          <p:cNvSpPr/>
          <p:nvPr/>
        </p:nvSpPr>
        <p:spPr>
          <a:xfrm>
            <a:off x="10570464" y="318211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0" name="Shape 58"/>
          <p:cNvSpPr/>
          <p:nvPr/>
        </p:nvSpPr>
        <p:spPr>
          <a:xfrm>
            <a:off x="10863072" y="318211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1" name="Shape 59"/>
          <p:cNvSpPr/>
          <p:nvPr/>
        </p:nvSpPr>
        <p:spPr>
          <a:xfrm>
            <a:off x="11155680" y="318211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2" name="Text 60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822960" y="2788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Přednáška 1 · Od elektřiny k obvodovým prvkům</a:t>
            </a:r>
            <a:endParaRPr lang="en-US" sz="4000" dirty="0"/>
          </a:p>
        </p:txBody>
      </p:sp>
      <p:sp>
        <p:nvSpPr>
          <p:cNvPr id="64" name="Text 62"/>
          <p:cNvSpPr/>
          <p:nvPr/>
        </p:nvSpPr>
        <p:spPr>
          <a:xfrm>
            <a:off x="82296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Silnoproudá a přístrojová elektrotechnika · Biomedicínské inženýrství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822960" y="3840480"/>
            <a:ext cx="1005840" cy="0"/>
          </a:xfrm>
          <a:prstGeom prst="line">
            <a:avLst/>
          </a:prstGeom>
          <a:noFill/>
          <a:ln w="31750">
            <a:solidFill>
              <a:srgbClr val="BE7C3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6" name="Text 6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406400"/>
            <a:ext cx="10883900" cy="774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cs-CZ" sz="3000" b="1" dirty="0">
                <a:solidFill>
                  <a:srgbClr val="1E2A38"/>
                </a:solidFill>
                <a:latin typeface="Cambria" pitchFamily="34" charset="0"/>
                <a:cs typeface="Cambria" pitchFamily="34" charset="-120"/>
              </a:rPr>
              <a:t>Podmínky ukončení předmětu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477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cs-CZ" sz="900" dirty="0">
                <a:solidFill>
                  <a:srgbClr val="5B6B78"/>
                </a:solidFill>
                <a:latin typeface="Calibri" pitchFamily="34" charset="0"/>
                <a:cs typeface="Calibri" pitchFamily="34" charset="-120"/>
              </a:rPr>
              <a:t>Elektronické součástky  ·  Organizace výuky</a:t>
            </a:r>
          </a:p>
        </p:txBody>
      </p:sp>
      <p:sp>
        <p:nvSpPr>
          <p:cNvPr id="10" name="Karta kriteria"/>
          <p:cNvSpPr/>
          <p:nvPr/>
        </p:nvSpPr>
        <p:spPr>
          <a:xfrm>
            <a:off x="635000" y="1587500"/>
            <a:ext cx="5715000" cy="3048000"/>
          </a:xfrm>
          <a:prstGeom prst="roundRect">
            <a:avLst>
              <a:gd name="adj" fmla="val 2096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 wrap="square" lIns="266700" tIns="228600" rIns="266700" bIns="22860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cs-CZ" sz="2000" b="1" dirty="0">
                <a:solidFill>
                  <a:srgbClr val="1E2A38"/>
                </a:solidFill>
                <a:latin typeface="Calibri" pitchFamily="34" charset="0"/>
                <a:cs typeface="Calibri" pitchFamily="34" charset="-120"/>
              </a:rPr>
              <a:t>Kritéria pro získání klasifikovaného zápočtu</a:t>
            </a:r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Font typeface="Calibri"/>
              <a:buAutoNum type="arabicPeriod"/>
            </a:pPr>
            <a:r>
              <a:rPr lang="cs-CZ" sz="1700" dirty="0">
                <a:solidFill>
                  <a:srgbClr val="1E2A38"/>
                </a:solidFill>
                <a:latin typeface="Calibri" pitchFamily="34" charset="0"/>
                <a:cs typeface="Calibri" pitchFamily="34" charset="-120"/>
              </a:rPr>
              <a:t>Absolvování povinných laboratorních cvičení daného akademického roku – max. 2 absence</a:t>
            </a:r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Font typeface="Calibri"/>
              <a:buAutoNum type="arabicPeriod"/>
            </a:pPr>
            <a:r>
              <a:rPr lang="cs-CZ" sz="1700" dirty="0">
                <a:solidFill>
                  <a:srgbClr val="1E2A38"/>
                </a:solidFill>
                <a:latin typeface="Calibri" pitchFamily="34" charset="0"/>
                <a:cs typeface="Calibri" pitchFamily="34" charset="-120"/>
              </a:rPr>
              <a:t>Absolvování půlsemestrálního písemného testu</a:t>
            </a:r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Font typeface="Calibri"/>
              <a:buAutoNum type="arabicPeriod"/>
            </a:pPr>
            <a:r>
              <a:rPr lang="cs-CZ" sz="1700" dirty="0">
                <a:solidFill>
                  <a:srgbClr val="1E2A38"/>
                </a:solidFill>
                <a:latin typeface="Calibri" pitchFamily="34" charset="0"/>
                <a:cs typeface="Calibri" pitchFamily="34" charset="-120"/>
              </a:rPr>
              <a:t>Absolvování závěrečného písemného testu</a:t>
            </a:r>
          </a:p>
        </p:txBody>
      </p:sp>
      <p:sp>
        <p:nvSpPr>
          <p:cNvPr id="11" name="Karta body"/>
          <p:cNvSpPr/>
          <p:nvPr/>
        </p:nvSpPr>
        <p:spPr>
          <a:xfrm>
            <a:off x="6477000" y="1587500"/>
            <a:ext cx="5080000" cy="3048000"/>
          </a:xfrm>
          <a:prstGeom prst="roundRect">
            <a:avLst>
              <a:gd name="adj" fmla="val 2096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 wrap="square" lIns="266700" tIns="228600" rIns="266700" bIns="22860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cs-CZ" sz="2000" b="1" dirty="0">
                <a:solidFill>
                  <a:srgbClr val="1E2A38"/>
                </a:solidFill>
                <a:latin typeface="Calibri" pitchFamily="34" charset="0"/>
                <a:cs typeface="Calibri" pitchFamily="34" charset="-120"/>
              </a:rPr>
              <a:t>Bodové hodnocení</a:t>
            </a:r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cs-CZ" sz="1700" b="1" dirty="0">
                <a:solidFill>
                  <a:srgbClr val="C0392B"/>
                </a:solidFill>
                <a:latin typeface="Calibri" pitchFamily="34" charset="0"/>
                <a:cs typeface="Calibri" pitchFamily="34" charset="-120"/>
              </a:rPr>
              <a:t>30 bodů</a:t>
            </a:r>
            <a:r>
              <a:rPr lang="cs-CZ" sz="1700" dirty="0">
                <a:solidFill>
                  <a:srgbClr val="1E2A38"/>
                </a:solidFill>
                <a:latin typeface="Calibri" pitchFamily="34" charset="0"/>
                <a:cs typeface="Calibri" pitchFamily="34" charset="-120"/>
              </a:rPr>
              <a:t> – půlsemestrální písemný test</a:t>
            </a:r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cs-CZ" sz="1700" b="1" dirty="0">
                <a:solidFill>
                  <a:srgbClr val="C0392B"/>
                </a:solidFill>
                <a:latin typeface="Calibri" pitchFamily="34" charset="0"/>
                <a:cs typeface="Calibri" pitchFamily="34" charset="-120"/>
              </a:rPr>
              <a:t>70 bodů</a:t>
            </a:r>
            <a:r>
              <a:rPr lang="cs-CZ" sz="1700" dirty="0">
                <a:solidFill>
                  <a:srgbClr val="1E2A38"/>
                </a:solidFill>
                <a:latin typeface="Calibri" pitchFamily="34" charset="0"/>
                <a:cs typeface="Calibri" pitchFamily="34" charset="-120"/>
              </a:rPr>
              <a:t> – závěrečný písemný test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cs-CZ" sz="1700" b="1" dirty="0">
                <a:solidFill>
                  <a:srgbClr val="1E2A38"/>
                </a:solidFill>
                <a:latin typeface="Calibri" pitchFamily="34" charset="0"/>
                <a:cs typeface="Calibri" pitchFamily="34" charset="-120"/>
              </a:rPr>
              <a:t>Celkem 100 bodů – výsledná klasifikace dle stupnice ECTS</a:t>
            </a:r>
          </a:p>
        </p:txBody>
      </p:sp>
      <p:sp>
        <p:nvSpPr>
          <p:cNvPr id="30" name="Pas terminy"/>
          <p:cNvSpPr/>
          <p:nvPr/>
        </p:nvSpPr>
        <p:spPr>
          <a:xfrm>
            <a:off x="635000" y="5080000"/>
            <a:ext cx="10922000" cy="838200"/>
          </a:xfrm>
          <a:prstGeom prst="roundRect">
            <a:avLst>
              <a:gd name="adj" fmla="val 2096"/>
            </a:avLst>
          </a:prstGeom>
          <a:solidFill>
            <a:srgbClr val="1E2A38"/>
          </a:solidFill>
          <a:ln>
            <a:noFill/>
          </a:ln>
        </p:spPr>
        <p:txBody>
          <a:bodyPr wrap="square" lIns="228600" rIns="228600" rtlCol="0" anchor="ctr"/>
          <a:lstStyle/>
          <a:p>
            <a:pPr marL="0" indent="0" algn="ctr">
              <a:buNone/>
            </a:pPr>
            <a:r>
              <a:rPr lang="cs-CZ" sz="17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Termíny:  </a:t>
            </a:r>
            <a:r>
              <a:rPr lang="cs-CZ" sz="17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půlsemestrální test – pondělí 9. 11. 2026     ·     závěrečný test – pondělí 7. 12. 2026</a:t>
            </a:r>
          </a:p>
        </p:txBody>
      </p:sp>
    </p:spTree>
    <p:extLst>
      <p:ext uri="{BB962C8B-B14F-4D97-AF65-F5344CB8AC3E}">
        <p14:creationId xmlns:p14="http://schemas.microsoft.com/office/powerpoint/2010/main" val="4276025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406400"/>
            <a:ext cx="10883900" cy="7747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cs-CZ" sz="3000" b="1" dirty="0">
                <a:solidFill>
                  <a:srgbClr val="1E2A38"/>
                </a:solidFill>
                <a:latin typeface="Cambria" pitchFamily="34" charset="0"/>
                <a:cs typeface="Cambria" pitchFamily="34" charset="-120"/>
              </a:rPr>
              <a:t>Vyučující předmětu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4770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cs-CZ" sz="900" dirty="0">
                <a:solidFill>
                  <a:srgbClr val="5B6B78"/>
                </a:solidFill>
                <a:latin typeface="Calibri" pitchFamily="34" charset="0"/>
                <a:cs typeface="Calibri" pitchFamily="34" charset="-120"/>
              </a:rPr>
              <a:t>Elektronické součástky  ·  Organizace výuky</a:t>
            </a:r>
          </a:p>
        </p:txBody>
      </p:sp>
      <p:sp>
        <p:nvSpPr>
          <p:cNvPr id="20" name="Karta Martin Králík"/>
          <p:cNvSpPr/>
          <p:nvPr/>
        </p:nvSpPr>
        <p:spPr>
          <a:xfrm>
            <a:off x="635000" y="1524000"/>
            <a:ext cx="3175000" cy="4445000"/>
          </a:xfrm>
          <a:prstGeom prst="roundRect">
            <a:avLst>
              <a:gd name="adj" fmla="val 2096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 wrap="square" lIns="91440" tIns="45720" rIns="91440" bIns="45720" rtlCol="0" anchor="t"/>
          <a:lstStyle/>
          <a:p>
            <a:endParaRPr lang="cs-CZ"/>
          </a:p>
        </p:txBody>
      </p:sp>
      <p:sp>
        <p:nvSpPr>
          <p:cNvPr id="21" name="Jmeno Martin Králík"/>
          <p:cNvSpPr/>
          <p:nvPr/>
        </p:nvSpPr>
        <p:spPr>
          <a:xfrm>
            <a:off x="762000" y="4191000"/>
            <a:ext cx="292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cs-CZ" sz="1800" b="1" dirty="0">
                <a:solidFill>
                  <a:srgbClr val="C0392B"/>
                </a:solidFill>
                <a:latin typeface="Calibri" pitchFamily="34" charset="0"/>
                <a:cs typeface="Calibri" pitchFamily="34" charset="-120"/>
              </a:rPr>
              <a:t>Martin Králík</a:t>
            </a:r>
          </a:p>
        </p:txBody>
      </p:sp>
      <p:sp>
        <p:nvSpPr>
          <p:cNvPr id="22" name="Badge Martin Králík"/>
          <p:cNvSpPr/>
          <p:nvPr/>
        </p:nvSpPr>
        <p:spPr>
          <a:xfrm>
            <a:off x="1333500" y="4673600"/>
            <a:ext cx="1778000" cy="355600"/>
          </a:xfrm>
          <a:prstGeom prst="roundRect">
            <a:avLst>
              <a:gd name="adj" fmla="val 2096"/>
            </a:avLst>
          </a:prstGeom>
          <a:solidFill>
            <a:srgbClr val="C0392B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cs-CZ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Garant předmětu</a:t>
            </a:r>
          </a:p>
        </p:txBody>
      </p:sp>
      <p:sp>
        <p:nvSpPr>
          <p:cNvPr id="23" name="Role Martin Králík"/>
          <p:cNvSpPr/>
          <p:nvPr/>
        </p:nvSpPr>
        <p:spPr>
          <a:xfrm>
            <a:off x="762000" y="5130800"/>
            <a:ext cx="29210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cs-CZ" sz="1500" dirty="0">
                <a:solidFill>
                  <a:srgbClr val="5B6B78"/>
                </a:solidFill>
                <a:latin typeface="Calibri" pitchFamily="34" charset="0"/>
                <a:cs typeface="Calibri" pitchFamily="34" charset="-120"/>
              </a:rPr>
              <a:t>Přednášky 1–6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cs-CZ" sz="1500" dirty="0">
                <a:solidFill>
                  <a:srgbClr val="5B6B78"/>
                </a:solidFill>
                <a:latin typeface="Calibri" pitchFamily="34" charset="0"/>
                <a:cs typeface="Calibri" pitchFamily="34" charset="-120"/>
              </a:rPr>
              <a:t>Cvičení 1, 2, 9</a:t>
            </a:r>
          </a:p>
        </p:txBody>
      </p:sp>
      <p:sp>
        <p:nvSpPr>
          <p:cNvPr id="24" name="Karta Martin Mézl"/>
          <p:cNvSpPr/>
          <p:nvPr/>
        </p:nvSpPr>
        <p:spPr>
          <a:xfrm>
            <a:off x="4508500" y="1524000"/>
            <a:ext cx="3175000" cy="4445000"/>
          </a:xfrm>
          <a:prstGeom prst="roundRect">
            <a:avLst>
              <a:gd name="adj" fmla="val 2096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 wrap="square" lIns="91440" tIns="45720" rIns="91440" bIns="45720" rtlCol="0" anchor="t"/>
          <a:lstStyle/>
          <a:p>
            <a:endParaRPr lang="cs-CZ"/>
          </a:p>
        </p:txBody>
      </p:sp>
      <p:sp>
        <p:nvSpPr>
          <p:cNvPr id="25" name="Jmeno Martin Mézl"/>
          <p:cNvSpPr/>
          <p:nvPr/>
        </p:nvSpPr>
        <p:spPr>
          <a:xfrm>
            <a:off x="4635500" y="4191000"/>
            <a:ext cx="292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cs-CZ" sz="1800" b="1" dirty="0">
                <a:solidFill>
                  <a:srgbClr val="1E7A46"/>
                </a:solidFill>
                <a:latin typeface="Calibri" pitchFamily="34" charset="0"/>
                <a:cs typeface="Calibri" pitchFamily="34" charset="-120"/>
              </a:rPr>
              <a:t>Martin Mézl</a:t>
            </a:r>
          </a:p>
        </p:txBody>
      </p:sp>
      <p:sp>
        <p:nvSpPr>
          <p:cNvPr id="26" name="Role Martin Mézl"/>
          <p:cNvSpPr/>
          <p:nvPr/>
        </p:nvSpPr>
        <p:spPr>
          <a:xfrm>
            <a:off x="4635500" y="5130800"/>
            <a:ext cx="29210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cs-CZ" sz="1500" dirty="0">
                <a:solidFill>
                  <a:srgbClr val="5B6B78"/>
                </a:solidFill>
                <a:latin typeface="Calibri" pitchFamily="34" charset="0"/>
                <a:cs typeface="Calibri" pitchFamily="34" charset="-120"/>
              </a:rPr>
              <a:t>Cvičení 3–5</a:t>
            </a:r>
          </a:p>
        </p:txBody>
      </p:sp>
      <p:sp>
        <p:nvSpPr>
          <p:cNvPr id="27" name="Karta Jiří Sekora"/>
          <p:cNvSpPr/>
          <p:nvPr/>
        </p:nvSpPr>
        <p:spPr>
          <a:xfrm>
            <a:off x="8382000" y="1524000"/>
            <a:ext cx="3175000" cy="4445000"/>
          </a:xfrm>
          <a:prstGeom prst="roundRect">
            <a:avLst>
              <a:gd name="adj" fmla="val 2096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 wrap="square" lIns="91440" tIns="45720" rIns="91440" bIns="45720" rtlCol="0" anchor="t"/>
          <a:lstStyle/>
          <a:p>
            <a:endParaRPr lang="cs-CZ"/>
          </a:p>
        </p:txBody>
      </p:sp>
      <p:sp>
        <p:nvSpPr>
          <p:cNvPr id="28" name="Jmeno Jiří Sekora"/>
          <p:cNvSpPr/>
          <p:nvPr/>
        </p:nvSpPr>
        <p:spPr>
          <a:xfrm>
            <a:off x="8509000" y="4191000"/>
            <a:ext cx="292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cs-CZ" sz="1800" b="1" dirty="0">
                <a:solidFill>
                  <a:srgbClr val="1F5FA8"/>
                </a:solidFill>
                <a:latin typeface="Calibri" pitchFamily="34" charset="0"/>
                <a:cs typeface="Calibri" pitchFamily="34" charset="-120"/>
              </a:rPr>
              <a:t>Jiří Sekora</a:t>
            </a:r>
          </a:p>
        </p:txBody>
      </p:sp>
      <p:sp>
        <p:nvSpPr>
          <p:cNvPr id="29" name="Role Jiří Sekora"/>
          <p:cNvSpPr/>
          <p:nvPr/>
        </p:nvSpPr>
        <p:spPr>
          <a:xfrm>
            <a:off x="8509000" y="5130800"/>
            <a:ext cx="29210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cs-CZ" sz="1500" dirty="0">
                <a:solidFill>
                  <a:srgbClr val="5B6B78"/>
                </a:solidFill>
                <a:latin typeface="Calibri" pitchFamily="34" charset="0"/>
                <a:cs typeface="Calibri" pitchFamily="34" charset="-120"/>
              </a:rPr>
              <a:t>Cvičení 6–8</a:t>
            </a:r>
          </a:p>
        </p:txBody>
      </p:sp>
      <p:sp>
        <p:nvSpPr>
          <p:cNvPr id="60" name="Badge Mezl"/>
          <p:cNvSpPr/>
          <p:nvPr/>
        </p:nvSpPr>
        <p:spPr>
          <a:xfrm>
            <a:off x="5207000" y="4673600"/>
            <a:ext cx="1778000" cy="355600"/>
          </a:xfrm>
          <a:prstGeom prst="roundRect">
            <a:avLst>
              <a:gd name="adj" fmla="val 2096"/>
            </a:avLst>
          </a:prstGeom>
          <a:solidFill>
            <a:srgbClr val="1E7A46"/>
          </a:solidFill>
          <a:ln>
            <a:noFill/>
          </a:ln>
        </p:spPr>
        <p:txBody>
          <a:bodyPr wrap="square" lIns="45720" tIns="18000" rIns="45720" bIns="180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cs-CZ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Cvičící</a:t>
            </a:r>
          </a:p>
        </p:txBody>
      </p:sp>
      <p:sp>
        <p:nvSpPr>
          <p:cNvPr id="61" name="Badge Sekora"/>
          <p:cNvSpPr/>
          <p:nvPr/>
        </p:nvSpPr>
        <p:spPr>
          <a:xfrm>
            <a:off x="9080500" y="4673600"/>
            <a:ext cx="1778000" cy="355600"/>
          </a:xfrm>
          <a:prstGeom prst="roundRect">
            <a:avLst>
              <a:gd name="adj" fmla="val 2096"/>
            </a:avLst>
          </a:prstGeom>
          <a:solidFill>
            <a:srgbClr val="1F5FA8"/>
          </a:solidFill>
          <a:ln>
            <a:noFill/>
          </a:ln>
        </p:spPr>
        <p:txBody>
          <a:bodyPr wrap="square" lIns="45720" tIns="18000" rIns="45720" bIns="180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cs-CZ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Cvičící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A4B0C13-6ACF-1B8F-5636-668F397944E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5181600" y="1905000"/>
            <a:ext cx="2095500" cy="20955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Obrázek 13" descr="Obsah obrázku Lidská tvář, osoba, Čelo, muž&#10;&#10;Popis byl vytvořen automaticky">
            <a:extLst>
              <a:ext uri="{FF2B5EF4-FFF2-40B4-BE49-F238E27FC236}">
                <a16:creationId xmlns:a16="http://schemas.microsoft.com/office/drawing/2014/main" id="{BE97AC71-92AB-1DC6-D41B-1AF11AC09DB3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1905000"/>
            <a:ext cx="2095500" cy="20955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Obrázek 14" descr="Obsah obrázku Lidská tvář, osoba, Brada, Čelo&#10;&#10;Popis byl vytvořen automaticky">
            <a:extLst>
              <a:ext uri="{FF2B5EF4-FFF2-40B4-BE49-F238E27FC236}">
                <a16:creationId xmlns:a16="http://schemas.microsoft.com/office/drawing/2014/main" id="{03355FA7-C4AD-2536-D9DC-46BE64D7A2B0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100" y="1905000"/>
            <a:ext cx="2095500" cy="20955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4929696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Organizace výuky – harmonogram semestru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graphicFrame>
        <p:nvGraphicFramePr>
          <p:cNvPr id="60" name="Tabulka vyuk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633248"/>
              </p:ext>
            </p:extLst>
          </p:nvPr>
        </p:nvGraphicFramePr>
        <p:xfrm>
          <a:off x="762000" y="1295400"/>
          <a:ext cx="10439400" cy="49530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Týden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Úterý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Pátek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Plánovaná náplň cvičení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Vyučující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Přednáška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1.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15.9.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18.9.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1) Úvodní cvičení, přehled přístrojů, časová konstanta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C0392B"/>
                          </a:solidFill>
                          <a:latin typeface="Calibri" pitchFamily="34" charset="0"/>
                          <a:cs typeface="Calibri" pitchFamily="34" charset="-120"/>
                        </a:rPr>
                        <a:t>Králík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Přednáška 1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2.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22.9.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25.9.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2) Obvody střídavého proudu, protokol měření f. char.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C0392B"/>
                          </a:solidFill>
                          <a:latin typeface="Calibri" pitchFamily="34" charset="0"/>
                          <a:cs typeface="Calibri" pitchFamily="34" charset="-120"/>
                        </a:rPr>
                        <a:t>Králík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Přednáška 2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3.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29.9.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2.10.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3) PN přechod, dioda, ZP, usměrnění, stabilizace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7A46"/>
                          </a:solidFill>
                          <a:latin typeface="Calibri" pitchFamily="34" charset="0"/>
                          <a:cs typeface="Calibri" pitchFamily="34" charset="-120"/>
                        </a:rPr>
                        <a:t>Mézl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6B7784"/>
                          </a:solidFill>
                          <a:latin typeface="Calibri" pitchFamily="34" charset="0"/>
                          <a:cs typeface="Calibri" pitchFamily="34" charset="-120"/>
                        </a:rPr>
                        <a:t>—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4.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6.10.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9.10.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4) Tranzistor – vlastnosti, činnost, spínání, AKO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7A46"/>
                          </a:solidFill>
                          <a:latin typeface="Calibri" pitchFamily="34" charset="0"/>
                          <a:cs typeface="Calibri" pitchFamily="34" charset="-120"/>
                        </a:rPr>
                        <a:t>Mézl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Přednáška 3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5.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13.10.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16.10.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5) Operační zesilovače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7A46"/>
                          </a:solidFill>
                          <a:latin typeface="Calibri" pitchFamily="34" charset="0"/>
                          <a:cs typeface="Calibri" pitchFamily="34" charset="-120"/>
                        </a:rPr>
                        <a:t>Mézl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Přednáška 4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6.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20.10.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23.10.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6) Polovodičové spínací prvky, řízení tyristorem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F5FA8"/>
                          </a:solidFill>
                          <a:latin typeface="Calibri" pitchFamily="34" charset="0"/>
                          <a:cs typeface="Calibri" pitchFamily="34" charset="-120"/>
                        </a:rPr>
                        <a:t>Sekora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6B7784"/>
                          </a:solidFill>
                          <a:latin typeface="Calibri" pitchFamily="34" charset="0"/>
                          <a:cs typeface="Calibri" pitchFamily="34" charset="-120"/>
                        </a:rPr>
                        <a:t>—</a:t>
                      </a:r>
                      <a:endParaRPr lang="cs-CZ" sz="1400" dirty="0">
                        <a:solidFill>
                          <a:srgbClr val="1E2A38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7.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27.10.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30.10.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7) PWM, řízení stejnosměrných motorů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F5FA8"/>
                          </a:solidFill>
                          <a:latin typeface="Calibri" pitchFamily="34" charset="0"/>
                          <a:cs typeface="Calibri" pitchFamily="34" charset="-120"/>
                        </a:rPr>
                        <a:t>Sekora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Přednáška 5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8.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3.11.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6.11.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8) Spínané zdroje, princip DC/DC měniče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F5FA8"/>
                          </a:solidFill>
                          <a:latin typeface="Calibri" pitchFamily="34" charset="0"/>
                          <a:cs typeface="Calibri" pitchFamily="34" charset="-120"/>
                        </a:rPr>
                        <a:t>Sekora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Přednáška 6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9.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10.11.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13.11.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9) Plovoucí vstupy a optočleny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C0392B"/>
                          </a:solidFill>
                          <a:latin typeface="Calibri" pitchFamily="34" charset="0"/>
                          <a:cs typeface="Calibri" pitchFamily="34" charset="-120"/>
                        </a:rPr>
                        <a:t>Králík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Půlsem. test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10.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BF1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17.11.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BF1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20.11.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BF1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Státní svátek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BF1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6B7784"/>
                          </a:solidFill>
                          <a:latin typeface="Calibri" pitchFamily="34" charset="0"/>
                          <a:cs typeface="Calibri" pitchFamily="34" charset="-120"/>
                        </a:rPr>
                        <a:t>—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BF1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6B7784"/>
                          </a:solidFill>
                          <a:latin typeface="Calibri" pitchFamily="34" charset="0"/>
                          <a:cs typeface="Calibri" pitchFamily="34" charset="-120"/>
                        </a:rPr>
                        <a:t>—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BF1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11.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24.11.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27.11.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10) Mikroprocesory 1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Všichni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6B7784"/>
                          </a:solidFill>
                          <a:latin typeface="Calibri" pitchFamily="34" charset="0"/>
                          <a:cs typeface="Calibri" pitchFamily="34" charset="-120"/>
                        </a:rPr>
                        <a:t>—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12.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1.12.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4.12.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11) Mikroprocesory 2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Všichni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6B7784"/>
                          </a:solidFill>
                          <a:latin typeface="Calibri" pitchFamily="34" charset="0"/>
                          <a:cs typeface="Calibri" pitchFamily="34" charset="-120"/>
                        </a:rPr>
                        <a:t>—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13.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8.12.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11.12.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Zápočtový test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b="1" dirty="0">
                          <a:solidFill>
                            <a:srgbClr val="1E2A38"/>
                          </a:solidFill>
                          <a:latin typeface="Calibri" pitchFamily="34" charset="0"/>
                          <a:cs typeface="Calibri" pitchFamily="34" charset="-120"/>
                        </a:rPr>
                        <a:t>Všichni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s-CZ" sz="1400" dirty="0">
                          <a:solidFill>
                            <a:srgbClr val="6B7784"/>
                          </a:solidFill>
                          <a:latin typeface="Calibri" pitchFamily="34" charset="0"/>
                          <a:cs typeface="Calibri" pitchFamily="34" charset="-120"/>
                        </a:rPr>
                        <a:t>—</a:t>
                      </a:r>
                    </a:p>
                  </a:txBody>
                  <a:tcPr marL="45720" marR="45720" marT="27000" marB="2700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4452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1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22960" y="26060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funguje elektřina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Náboj, proud a </a:t>
            </a:r>
            <a:r>
              <a:rPr lang="en-US" sz="1600" i="1" dirty="0" err="1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napětí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Stavba atomu a elektrický náboj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943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●"/>
            </a:pPr>
            <a:r>
              <a:rPr lang="en-US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 tvoří jádro (protony +, neutrony) a elektronový obal (elektrony –)</a:t>
            </a:r>
            <a:endParaRPr lang="en-US" dirty="0"/>
          </a:p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●"/>
            </a:pPr>
            <a:r>
              <a:rPr lang="en-US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Valenční elektrony leží v nejvzdálenější vrstvě a jsou vázány nejslaběji</a:t>
            </a:r>
            <a:endParaRPr lang="en-US" dirty="0"/>
          </a:p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●"/>
            </a:pPr>
            <a:r>
              <a:rPr lang="en-US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Kovy jako měď, stříbro nebo zlato mají jeden valenční elektron – snadno se uvolňuje, proto jsou dobrými vodiči</a:t>
            </a:r>
            <a:endParaRPr lang="en-US" dirty="0"/>
          </a:p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●"/>
            </a:pPr>
            <a:r>
              <a:rPr lang="en-US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Dodáním energie (např. teplem) se valenční elektron uvolní a stává se volným elektronem</a:t>
            </a:r>
            <a:endParaRPr lang="en-US" dirty="0"/>
          </a:p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●"/>
            </a:pPr>
            <a:r>
              <a:rPr lang="en-US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Atom, který elektron ztratí, je kladný iont; atom, který elektron získá, je záporný iont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805672" y="3203692"/>
            <a:ext cx="1316736" cy="816376"/>
          </a:xfrm>
          <a:prstGeom prst="ellipse">
            <a:avLst/>
          </a:prstGeom>
          <a:ln w="15875">
            <a:solidFill>
              <a:srgbClr val="AEB9C4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8412480" y="2959913"/>
            <a:ext cx="2103120" cy="1303934"/>
          </a:xfrm>
          <a:prstGeom prst="ellipse">
            <a:avLst/>
          </a:prstGeom>
          <a:ln w="15875">
            <a:solidFill>
              <a:srgbClr val="AEB9C4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8046720" y="2733142"/>
            <a:ext cx="2834640" cy="1757477"/>
          </a:xfrm>
          <a:prstGeom prst="ellipse">
            <a:avLst/>
          </a:prstGeom>
          <a:ln w="15875">
            <a:solidFill>
              <a:srgbClr val="AEB9C4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9390888" y="3946916"/>
            <a:ext cx="146304" cy="146304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9390888" y="3130540"/>
            <a:ext cx="146304" cy="146304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10252276" y="3912681"/>
            <a:ext cx="146304" cy="146304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8529500" y="3912681"/>
            <a:ext cx="146304" cy="146304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8529500" y="3164775"/>
            <a:ext cx="146304" cy="146304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10252276" y="3164775"/>
            <a:ext cx="146304" cy="146304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10489463" y="2979435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9198864" y="3346704"/>
            <a:ext cx="530352" cy="53035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9198864" y="334670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0" y="3611880"/>
            <a:ext cx="1883664" cy="0"/>
          </a:xfrm>
          <a:prstGeom prst="line">
            <a:avLst/>
          </a:prstGeom>
          <a:noFill/>
          <a:ln w="12700">
            <a:solidFill>
              <a:srgbClr val="AEB9C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6400800" y="34564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jádro (+)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635767" y="3016011"/>
            <a:ext cx="292608" cy="0"/>
          </a:xfrm>
          <a:prstGeom prst="line">
            <a:avLst/>
          </a:prstGeom>
          <a:noFill/>
          <a:ln w="12700">
            <a:solidFill>
              <a:srgbClr val="AEB9C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10215143" y="2284491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valenční elektron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69480" y="47548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elektronové slupky (K, L, valenční)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Elektrické pole, síla, proud, odpor a zdroj – fyzikálně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943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Kolem každého náboje existuje elektrické pole – jiný náboj v jeho okolí jím je přitahován nebo odpuzován silou F</a:t>
            </a:r>
            <a:endParaRPr lang="en-US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 I je usměrněný pohyb volných nosičů náboje (v kovech elektronů), který pole v látce vyvolá</a:t>
            </a:r>
            <a:endParaRPr lang="en-US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Odpor R vzniká srážkami pohybujících se elektronů s krystalovou mřížkou vodiče – část energie se mění v teplo</a:t>
            </a:r>
            <a:endParaRPr lang="en-US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Napětí U je práce potřebná k přenosu náboje mezi dvěma místy v poli</a:t>
            </a:r>
            <a:endParaRPr lang="en-US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 je zařízení, které na úkor jiné energie (chemické, mechanické…) trvale odděluje náboj a udržuje tak pole a napětí mezi svými póly</a:t>
            </a:r>
            <a:endParaRPr lang="en-US" dirty="0"/>
          </a:p>
        </p:txBody>
      </p:sp>
      <p:pic>
        <p:nvPicPr>
          <p:cNvPr id="194" name="Graphic 193">
            <a:extLst>
              <a:ext uri="{FF2B5EF4-FFF2-40B4-BE49-F238E27FC236}">
                <a16:creationId xmlns:a16="http://schemas.microsoft.com/office/drawing/2014/main" id="{675B8410-FAD1-5FD4-51EE-8D917971AE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727"/>
          <a:stretch>
            <a:fillRect/>
          </a:stretch>
        </p:blipFill>
        <p:spPr>
          <a:xfrm>
            <a:off x="6492240" y="1197864"/>
            <a:ext cx="5669280" cy="33906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Elektřina jako voda v trubkách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46520" y="1920240"/>
            <a:ext cx="5074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Napětí U ↔ výškový rozdíl hladin – „tlak“, který vodu žene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 I ↔ průtok vody – kolik jí proteče za sekundu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Odpor R ↔ zúžení trubky – co proudění brzdí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 napětí ↔ čerpadlo, které rozdíl hladin trvale udržuje</a:t>
            </a:r>
            <a:endParaRPr lang="en-US" sz="1500" dirty="0"/>
          </a:p>
        </p:txBody>
      </p:sp>
      <p:pic>
        <p:nvPicPr>
          <p:cNvPr id="530" name="Vodni analogie U I 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" y="1905000"/>
            <a:ext cx="58420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452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Náboj a elektrický proud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6492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Jednotkou náboje je coulomb: Q [C]</a:t>
            </a:r>
            <a:endParaRPr lang="en-US" sz="16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Náboj jednoho elektronu (elementární náboj) e = 1,6 × 10⁻¹⁹ C – dále nedělitelný</a:t>
            </a:r>
            <a:endParaRPr lang="en-US" sz="16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Elektrický proud je tok náboje za čas – obdoba průtoku vody trubkou</a:t>
            </a:r>
            <a:endParaRPr lang="en-US" sz="16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Jednotka ampér: 1 A = 1 C/s – průřezem vodiče projde náboj 1 C za 1 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589520" y="23774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7818120" y="23774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 = Q / t   [A]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Elektrické pole, potenciál a napětí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6492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Souhlasné náboje se odpuzují, nesouhlasné se přitahují – nabitá částice tak může konat práci</a:t>
            </a:r>
            <a:endParaRPr lang="en-US" sz="16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Elektrický potenciál φ v daném bodě pole = potenciální energie náboje vztažená na jednotkový náboj: φ = W / Q</a:t>
            </a:r>
            <a:endParaRPr lang="en-US" sz="16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Napětí je rozdíl potenciálů mezi dvěma body: U = φ₁ − φ₂ – obdoba výškového rozdílu hladin</a:t>
            </a:r>
            <a:endParaRPr lang="en-US" sz="16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Jednotka volt: 1 V = 1 J/C – práce 1 J na přenesení náboje 1 C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589520" y="23774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7818120" y="23774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 = W / Q   [V]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2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22960" y="26060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Elektrický obvod a obvodové veličiny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popisujeme napětí a proud v obvodu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Elektrický obvod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Vzniká vzájemným propojením součástek tak, aby jimi po připojení zdroje mohl protékat proud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Mezi jednotlivými součástkami obvodu potom působí elektrické napětí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Obvod může být složen z diskrétních součástek, nebo vytvořen jako celek – integrovaný obvod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0" y="2377440"/>
            <a:ext cx="3657600" cy="0"/>
          </a:xfrm>
          <a:prstGeom prst="line">
            <a:avLst/>
          </a:prstGeom>
          <a:noFill/>
          <a:ln w="22225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7772400" y="4572000"/>
            <a:ext cx="3657600" cy="0"/>
          </a:xfrm>
          <a:prstGeom prst="line">
            <a:avLst/>
          </a:prstGeom>
          <a:noFill/>
          <a:ln w="22225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7772400" y="2377440"/>
            <a:ext cx="0" cy="978408"/>
          </a:xfrm>
          <a:prstGeom prst="line">
            <a:avLst/>
          </a:prstGeom>
          <a:noFill/>
          <a:ln w="22225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7772400" y="3593592"/>
            <a:ext cx="0" cy="978408"/>
          </a:xfrm>
          <a:prstGeom prst="line">
            <a:avLst/>
          </a:prstGeom>
          <a:noFill/>
          <a:ln w="22225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11430000" y="2377440"/>
            <a:ext cx="0" cy="614477"/>
          </a:xfrm>
          <a:prstGeom prst="line">
            <a:avLst/>
          </a:prstGeom>
          <a:noFill/>
          <a:ln w="22225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11430000" y="3957523"/>
            <a:ext cx="0" cy="614477"/>
          </a:xfrm>
          <a:prstGeom prst="line">
            <a:avLst/>
          </a:prstGeom>
          <a:noFill/>
          <a:ln w="22225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7534656" y="3355848"/>
            <a:ext cx="475488" cy="0"/>
          </a:xfrm>
          <a:prstGeom prst="line">
            <a:avLst/>
          </a:prstGeom>
          <a:noFill/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7644384" y="3593592"/>
            <a:ext cx="256032" cy="0"/>
          </a:xfrm>
          <a:prstGeom prst="line">
            <a:avLst/>
          </a:prstGeom>
          <a:noFill/>
          <a:ln w="5080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7918704" y="3044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18704" y="3611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05472" y="3858768"/>
            <a:ext cx="0" cy="0"/>
          </a:xfrm>
          <a:prstGeom prst="line">
            <a:avLst/>
          </a:prstGeom>
          <a:noFill/>
          <a:ln w="19050">
            <a:solidFill>
              <a:srgbClr val="1E2A38"/>
            </a:solidFill>
            <a:prstDash val="solid"/>
            <a:tailEnd type="arrow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6748272" y="329184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311128" y="2991917"/>
            <a:ext cx="237744" cy="965606"/>
          </a:xfrm>
          <a:prstGeom prst="rect">
            <a:avLst/>
          </a:prstGeom>
          <a:solidFill>
            <a:srgbClr val="FFFFFF"/>
          </a:solidFill>
          <a:ln w="22225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11612880" y="329184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015984" y="2377440"/>
            <a:ext cx="1097280" cy="0"/>
          </a:xfrm>
          <a:prstGeom prst="line">
            <a:avLst/>
          </a:prstGeom>
          <a:noFill/>
          <a:ln w="28575">
            <a:solidFill>
              <a:srgbClr val="BE7C3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9418320" y="20482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Obvodové veličiny U a 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Napětí U [V] působí mezi částmi obvodu, proud I [A] prochází jednotlivými větvemi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obou veličin rozlišujeme smysl (orientaci): napětí – otevřená šipka, proud – uzavřená šipka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Skutečný smysl veličiny určuje její znaménko (+/–); velikost bez smyslu se nazývá hodnota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68312" y="2101285"/>
            <a:ext cx="4517136" cy="3386950"/>
          </a:xfrm>
          <a:prstGeom prst="roundRect">
            <a:avLst>
              <a:gd name="adj" fmla="val 1620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" name="Image 0" descr="assets/obvod_velicina.gif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8040" y="2211013"/>
            <a:ext cx="4297680" cy="31674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Vlastnosti obvodových veličin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Okamžitá hodnota – hodnota veličiny v daném časovém okamžiku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Časový průběh – sled mnoha okamžitých hodnot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Periodická veličina – pravidelně se opakuje s periodou T [s]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Harmonická veličina – lze ji popsat funkcí sinus: u(t) = Uₘ · sin(ωt + φ), Uₘ je amplituda, φ fázový posun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Efektivní (RMS) hodnota odpovídá stejnému výkonu jako stejnosměrný proud – u sinusovky je to 0,707 × amplituda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4352544"/>
            <a:ext cx="6035040" cy="1499616"/>
          </a:xfrm>
          <a:prstGeom prst="roundRect">
            <a:avLst>
              <a:gd name="adj" fmla="val 487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1005840" y="4443984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 = 1/T  [Hz]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5102352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ω = 2πf  [rad·s⁻¹]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068312" y="2377792"/>
            <a:ext cx="4517136" cy="2833935"/>
          </a:xfrm>
          <a:prstGeom prst="roundRect">
            <a:avLst>
              <a:gd name="adj" fmla="val 1936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9" name="Image 0" descr="assets/sinusovk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8040" y="2487520"/>
            <a:ext cx="4297680" cy="26144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Časové průběhy obvodových veličin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661131"/>
            <a:ext cx="3663696" cy="2219002"/>
          </a:xfrm>
          <a:prstGeom prst="roundRect">
            <a:avLst>
              <a:gd name="adj" fmla="val 2472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" name="Image 0" descr="assets/prubeh_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770859"/>
            <a:ext cx="3444240" cy="16703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3459509"/>
            <a:ext cx="3663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Stejnosměrná (konstantní)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294632" y="1647767"/>
            <a:ext cx="3663696" cy="2245729"/>
          </a:xfrm>
          <a:prstGeom prst="roundRect">
            <a:avLst>
              <a:gd name="adj" fmla="val 2443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8" name="Image 1" descr="assets/prubeh_pulz_nep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04360" y="1757495"/>
            <a:ext cx="3444240" cy="16970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4632" y="3472873"/>
            <a:ext cx="3663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Pulzující neperiodická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058912" y="1692991"/>
            <a:ext cx="3663696" cy="2155283"/>
          </a:xfrm>
          <a:prstGeom prst="roundRect">
            <a:avLst>
              <a:gd name="adj" fmla="val 2546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1" name="Image 2" descr="assets/prubeh_pulz_per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68640" y="1802719"/>
            <a:ext cx="3444240" cy="16066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58912" y="3427649"/>
            <a:ext cx="3663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Pulzující periodická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30352" y="4490655"/>
            <a:ext cx="3663696" cy="2229234"/>
          </a:xfrm>
          <a:prstGeom prst="roundRect">
            <a:avLst>
              <a:gd name="adj" fmla="val 2461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4" name="Image 3" descr="assets/prubeh_pulz_per_harm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080" y="4600383"/>
            <a:ext cx="3444240" cy="16805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0352" y="6299265"/>
            <a:ext cx="3663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Pulzující periodická harmonická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294632" y="4430753"/>
            <a:ext cx="3663696" cy="2349038"/>
          </a:xfrm>
          <a:prstGeom prst="roundRect">
            <a:avLst>
              <a:gd name="adj" fmla="val 2336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7" name="Image 4" descr="assets/prubeh_ac_harm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404360" y="4540481"/>
            <a:ext cx="3444240" cy="180039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294632" y="6359167"/>
            <a:ext cx="3663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Střídavá periodická harmonická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8058912" y="4456899"/>
            <a:ext cx="3663696" cy="2296745"/>
          </a:xfrm>
          <a:prstGeom prst="roundRect">
            <a:avLst>
              <a:gd name="adj" fmla="val 2389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0" name="Image 5" descr="assets/prubeh_ac_neharm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68640" y="4566627"/>
            <a:ext cx="3444240" cy="174810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058912" y="6333021"/>
            <a:ext cx="3663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Střídavá periodická neharmonická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3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22960" y="26060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Ohmův a Kirchhoffovy zákony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Základní vztahy pro výpočet obvodů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Elektrický odpor a Ohmův zákon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Elektrický odpor R [Ω] vyjadřuje, jak moc materiál brání průchodu proudu – obdoba zúžení trubky</a:t>
            </a:r>
            <a:endParaRPr lang="en-US" sz="16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Závisí na materiálu a rozměrech vodiče: R = ρ·l / S (ρ je měrný odpor materiálu)</a:t>
            </a:r>
            <a:endParaRPr lang="en-US" sz="16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kovů odpor s teplotou roste, u polovodičů naopak klesá</a:t>
            </a:r>
            <a:endParaRPr lang="en-US" sz="16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Ohmův zákon: proud je přímo úměrný napětí – V-A charakteristika rezistoru je přímka se sklonem 1/R</a:t>
            </a:r>
            <a:endParaRPr lang="en-US" sz="165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Průchod proudu odporem uvolňuje teplo – výkon P = U·I = R·I² = U²/R  [W]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589520" y="1600200"/>
            <a:ext cx="3840480" cy="109728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7818120" y="16002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 = U / R   [A]</a:t>
            </a:r>
            <a:endParaRPr lang="en-US" sz="2400" dirty="0"/>
          </a:p>
        </p:txBody>
      </p:sp>
      <p:sp>
        <p:nvSpPr>
          <p:cNvPr id="7" name="Rounded Rectangle 6"/>
          <p:cNvSpPr/>
          <p:nvPr/>
        </p:nvSpPr>
        <p:spPr>
          <a:xfrm>
            <a:off x="7479792" y="2932730"/>
            <a:ext cx="4059936" cy="3187099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ohm_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042458"/>
            <a:ext cx="3840480" cy="29676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Kirchhoffovy zákony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I. Kirchhoffův zákon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proudový, o uzlech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4526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Součet proudů vstupujících do uzlu se rovná součtu proudů z uzlu vystupujících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05840" y="4480560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1234440" y="448056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 Iₖ = 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6492240" y="18288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II. Kirchhoffův zákon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napěťový, o smyčkách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743200"/>
            <a:ext cx="4526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Součet úbytků napětí na spotřebičích v uzavřené smyčce se rovná součtu elektromotorických napětí zdrojů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92240" y="4480560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6720840" y="448056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 Uₖ = 0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Kirchhoffovy zákony v praxi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60704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obvodu se dvěma uzly (A, B) a třemi větvemi lze oba zákony zapsat přímo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KZ dá vztah mezi proudy I₁, I₂, I₃ v uzlu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KZ dá vztah mezi úbytky napětí a napětím zdrojů v obou smyčkách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092833" y="2916936"/>
            <a:ext cx="7975854" cy="3547872"/>
          </a:xfrm>
          <a:prstGeom prst="roundRect">
            <a:avLst>
              <a:gd name="adj" fmla="val 1546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" name="Image 0" descr="assets/kz_prikla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02561" y="3026664"/>
            <a:ext cx="7756398" cy="33284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4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22960" y="26060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Obvodové součástky – jak je třídíme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Společný slovník pro popis chování součástek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dělíme obvodové součástky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07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Podle počtu vývodů: dvojpóly (2 vývody) a vícepóly</a:t>
            </a:r>
            <a:endParaRPr lang="en-US" sz="17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Podle toku energie: aktivní (dodávají energii, např. zdroje) a pasivní (spotřebovávají / akumulují, např. R, L, C)</a:t>
            </a:r>
            <a:endParaRPr lang="en-US" sz="17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Podle závislosti mezi U a I: lineární (R, L, C) a nelineární (dioda, tranzistor)</a:t>
            </a:r>
            <a:endParaRPr lang="en-US" sz="17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Podle frekvenční závislosti: odporové, reaktanční, komplexní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Aktivní a pasivní součástky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Aktivní součástka (zdroj) dodává do obvodu energii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Pasivní součástka (spotřebič) energii odebírá, nebo ji akumuluje a později vrací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Rezistor, cívka i kondenzátor jsou pasivní součástky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68312" y="3101151"/>
            <a:ext cx="4517136" cy="1387217"/>
          </a:xfrm>
          <a:prstGeom prst="roundRect">
            <a:avLst>
              <a:gd name="adj" fmla="val 3955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" name="Image 0" descr="assets/aktivni_pasivn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8040" y="3210879"/>
            <a:ext cx="4297680" cy="116776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Lineární a nelineární součástky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lineární součástky je proud přímo úměrný napětí – v celém rozsahu platí Ohmův zákon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nelineární součástky (dioda, tranzistor) se poměr U/I podle pracovního bodu mění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115358" y="2953512"/>
            <a:ext cx="2444405" cy="3429000"/>
          </a:xfrm>
          <a:prstGeom prst="roundRect">
            <a:avLst>
              <a:gd name="adj" fmla="val 2244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" name="Image 0" descr="assets/linearn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25086" y="3063240"/>
            <a:ext cx="2224949" cy="288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15358" y="5961888"/>
            <a:ext cx="24444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Lineární (např. rezistor)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84638" y="2953512"/>
            <a:ext cx="2444405" cy="3429000"/>
          </a:xfrm>
          <a:prstGeom prst="roundRect">
            <a:avLst>
              <a:gd name="adj" fmla="val 2244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9" name="Image 1" descr="assets/nelinearni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94366" y="3063240"/>
            <a:ext cx="2224949" cy="2880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84638" y="5961888"/>
            <a:ext cx="24444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Nelineární (např. dioda)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5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22960" y="26060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Rezistor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Nejjednodušší obvodová součástka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Rezistor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Pasivní součástka, která v ideálním případě vykazuje pouze elektrický odpor R [Ω]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„Převádí“ napětí na proud a proud na napětí (Ohmův zákon)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Použití: omezení proudu v obvodu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Provedení: se dvěma vývody i s více vývody (potenciometr)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Jmenovité zatížení: hranice výkonu, jejíž překročení součástku zničí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114032" y="1581912"/>
            <a:ext cx="4425696" cy="4425696"/>
          </a:xfrm>
          <a:prstGeom prst="roundRect">
            <a:avLst>
              <a:gd name="adj" fmla="val 1240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" name="Image 0" descr="assets/rezistor_a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3760" y="169164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Značení rezistorů – řady a barevný kód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07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Hodnoty rezistorů se nevyrábí libovolně, ale v normovaných řadách E3, E6, E12, E24 …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Číslo řady = počet hodnot v jedné dekádě; řada odpovídá toleranci: E6 ±20 %, E12 ±10 %, E24 ±5 %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součástce se hodnota nejčastěji značí barevným kódem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063240"/>
          <a:ext cx="6766560" cy="22860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Řada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Hodnoty (výběr)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· 2,2 · 4,7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· 1,5 · 2,2 · 3,3 · 4,7 · 6,8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· 1,2 · 1,5 · 1,8 · 2,2 · 2,7 · 3,3 · 3,9 · 4,7 · 5,6 · 6,8 · 8,2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· 1,1 · 1,2 · 1,3 · 1,5 · 1,6 · 1,8 · 2,0 · 2,2 · 2,4 · 2,7 · 3,0 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08392" y="3309000"/>
            <a:ext cx="3877056" cy="2617441"/>
          </a:xfrm>
          <a:prstGeom prst="roundRect">
            <a:avLst>
              <a:gd name="adj" fmla="val 2096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7" name="Image 0" descr="assets/barevny_kod.gif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120" y="3418728"/>
            <a:ext cx="3657600" cy="239798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Zápis hodnot a spojování rezistorů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Zkrácený zápis hodnoty: R10 = 0,1 Ω · 1R = 1 Ω · 2R2 = 2,2 Ω · 4k7 = 4,7 kΩ · 5M1 = 5,1 MΩ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Sériové řazení odpory sčítá, paralelní řazení odpor snižuje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5120640" cy="1499616"/>
          </a:xfrm>
          <a:prstGeom prst="roundRect">
            <a:avLst>
              <a:gd name="adj" fmla="val 487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1005840" y="301752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sériově:  R = R₁ + R₂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3675888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paralelně:  1/R = 1/R₁ + 1/R₂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936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sériově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19088" y="3611880"/>
            <a:ext cx="320040" cy="0"/>
          </a:xfrm>
          <a:prstGeom prst="line">
            <a:avLst/>
          </a:prstGeom>
          <a:noFill/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6739128" y="3483864"/>
            <a:ext cx="566928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6601968" y="31821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06056" y="3611880"/>
            <a:ext cx="548640" cy="0"/>
          </a:xfrm>
          <a:prstGeom prst="line">
            <a:avLst/>
          </a:prstGeom>
          <a:noFill/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7854696" y="3483864"/>
            <a:ext cx="566928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7717536" y="31821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21624" y="3611880"/>
            <a:ext cx="320040" cy="0"/>
          </a:xfrm>
          <a:prstGeom prst="line">
            <a:avLst/>
          </a:prstGeom>
          <a:noFill/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9006840" y="2743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paralelně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418320" y="3364992"/>
            <a:ext cx="0" cy="676656"/>
          </a:xfrm>
          <a:prstGeom prst="line">
            <a:avLst/>
          </a:prstGeom>
          <a:noFill/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0835640" y="3364992"/>
            <a:ext cx="0" cy="676656"/>
          </a:xfrm>
          <a:prstGeom prst="line">
            <a:avLst/>
          </a:prstGeom>
          <a:noFill/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9418320" y="3364992"/>
            <a:ext cx="425196" cy="0"/>
          </a:xfrm>
          <a:prstGeom prst="line">
            <a:avLst/>
          </a:prstGeom>
          <a:noFill/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9843516" y="3236976"/>
            <a:ext cx="566928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9706356" y="293522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410444" y="3364992"/>
            <a:ext cx="425196" cy="0"/>
          </a:xfrm>
          <a:prstGeom prst="line">
            <a:avLst/>
          </a:prstGeom>
          <a:noFill/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9418320" y="4041648"/>
            <a:ext cx="425196" cy="0"/>
          </a:xfrm>
          <a:prstGeom prst="line">
            <a:avLst/>
          </a:prstGeom>
          <a:noFill/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9843516" y="3913632"/>
            <a:ext cx="566928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9706356" y="4197096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410444" y="4041648"/>
            <a:ext cx="425196" cy="0"/>
          </a:xfrm>
          <a:prstGeom prst="line">
            <a:avLst/>
          </a:prstGeom>
          <a:noFill/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9377172" y="3662172"/>
            <a:ext cx="82296" cy="82296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10794492" y="3662172"/>
            <a:ext cx="82296" cy="82296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9006840" y="3703320"/>
            <a:ext cx="411480" cy="0"/>
          </a:xfrm>
          <a:prstGeom prst="line">
            <a:avLst/>
          </a:prstGeom>
          <a:noFill/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10835640" y="3703320"/>
            <a:ext cx="411480" cy="0"/>
          </a:xfrm>
          <a:prstGeom prst="line">
            <a:avLst/>
          </a:prstGeom>
          <a:noFill/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6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22960" y="26060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Kondenzátor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Součástka, která umí uchovat náboj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Kondenzátor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Vykazuje kapacitu C [F] – schopnost uchovat elektrický náboj; 1 F = 1 C/V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Kapacita deskového kondenzátoru roste s plochou desek S a permitivitou ε dielektrika, klesá s jejich vzdáleností d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Vyrábí se s pevnou, nebo proměnnou kapacitou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Jmenovité napětí: hranice, po jejímž překročení hrozí zničení součástky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Provozní napětí: bezpečná hodnota pro trvalé připojení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Izolační odpor: stejnosměrný odpor mezi elektrodami kondenzátoru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502920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960120" y="502920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 = Q / U   [F]        C = ε·S / d        W = ½·C·U²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68312" y="2445713"/>
            <a:ext cx="4517136" cy="2698094"/>
          </a:xfrm>
          <a:prstGeom prst="roundRect">
            <a:avLst>
              <a:gd name="adj" fmla="val 2033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8" name="Image 0" descr="assets/kondenzator_sm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8040" y="2555441"/>
            <a:ext cx="4297680" cy="247863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Spojování kondenzátorů a zápis hodnot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Zkrácený zápis hodnoty: 4p7 = 4,7 pF · 100n = 100 nF · 2µ2 (dříve též 2M2) = 2,2 µF · 2m2 = 2,2 mF = 2200 µF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SMD kód: 474 = 47·10⁴ pF = 470 nF · 105 = 10·10⁵ pF = 1 µF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5943600" cy="1499616"/>
          </a:xfrm>
          <a:prstGeom prst="roundRect">
            <a:avLst>
              <a:gd name="adj" fmla="val 487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1005840" y="3291840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paralelně:  C = C₁ + C₂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3950208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sériově:  1/C = 1/C₁ + 1/C₂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8571026" y="1371600"/>
            <a:ext cx="1511707" cy="1901952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Kondenzátor ve střídavém obvodu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Kondenzátor se periodicky nabíjí a vybíjí, dielektrikem vodivostní proud neprochází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 předbíhá napětí o T/4 (fázový posun φ = −π/2)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Kapacitní reaktance s rostoucí frekvencí klesá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429768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960120" y="34747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XC = 1 / (ω·C)</a:t>
            </a:r>
            <a:endParaRPr lang="en-US" sz="2000" dirty="0"/>
          </a:p>
        </p:txBody>
      </p:sp>
      <p:pic>
        <p:nvPicPr>
          <p:cNvPr id="8" name="Image 0" descr="assets/kond_ac_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0754" y="1481328"/>
            <a:ext cx="1292251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71026" y="2871216"/>
            <a:ext cx="1511707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B6B78"/>
                </a:solidFill>
                <a:latin typeface="Calibri"/>
              </a:rPr>
              <a:t>Zapojení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2622" y="3410712"/>
            <a:ext cx="4128516" cy="2825496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azovy_posun_C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350" y="3520440"/>
            <a:ext cx="390906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7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22960" y="26060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Cívka a transformátor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Součástky založené na magnetickém poli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Cívka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Vykazuje indukčnost L [H] (běžně jednotky µH až H)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Frekvenčně závislá V-A charakteristika – fázový posun napětí a proudu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Provedení vzduchové, nebo s jádrem (např. feritovým)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114032" y="1581912"/>
            <a:ext cx="4425696" cy="4425696"/>
          </a:xfrm>
          <a:prstGeom prst="roundRect">
            <a:avLst>
              <a:gd name="adj" fmla="val 1240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" name="Image 0" descr="assets/civka_a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3760" y="169164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8571026" y="1371600"/>
            <a:ext cx="1511707" cy="1901952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Cívka ve střídavém proudu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Podle Lenzova zákona vzniká v cívce napětí s opačnou polaritou, než má zdroj (vlastní indukce)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 se zpožďuje za napětím o T/4 (fázový posun φ = +π/2)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Induktivní reaktance s rostoucí frekvencí roste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429768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960120" y="34747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XL = ω·L</a:t>
            </a:r>
            <a:endParaRPr lang="en-US" sz="2000" dirty="0"/>
          </a:p>
        </p:txBody>
      </p:sp>
      <p:pic>
        <p:nvPicPr>
          <p:cNvPr id="8" name="Image 0" descr="assets/civka_ac_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0754" y="1481328"/>
            <a:ext cx="1292251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71026" y="2871216"/>
            <a:ext cx="1511707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B6B78"/>
                </a:solidFill>
                <a:latin typeface="Calibri"/>
              </a:rPr>
              <a:t>Zapojení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2622" y="3410712"/>
            <a:ext cx="4128516" cy="2825496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azovy_posun_L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350" y="3520440"/>
            <a:ext cx="390906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Transformátor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Součástka založená na elektromagnetické indukci – střídavý proud v primárním vinutí vytváří v jádře proměnné magnetické pole, to indukuje napětí v sekundárním vinutí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Napětí se transformují v poměru počtu závitů, proudy v obráceném poměru; výkon se (ideálně) zachovává: U₁·I₁ = U₂·I₂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Transformuje napětí, proud (a impedanci) mezi primárním a sekundárním vinutím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Zajišťuje galvanické oddělení vstupního a výstupního obvodu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Funguje jen pro střídavý (měnící se) proud – stejnosměrný proud netransformuje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68312" y="2513932"/>
            <a:ext cx="4517136" cy="2561655"/>
          </a:xfrm>
          <a:prstGeom prst="roundRect">
            <a:avLst>
              <a:gd name="adj" fmla="val 2142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" name="Image 0" descr="assets/transformator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8040" y="2623660"/>
            <a:ext cx="4297680" cy="23421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983480"/>
            <a:ext cx="6035040" cy="777240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800" b="1">
                <a:solidFill>
                  <a:srgbClr val="8C5A26"/>
                </a:solidFill>
                <a:latin typeface="Cambria Math"/>
              </a:rPr>
              <a:t>U₁ / U₂ = N₁ / N₂ = I₂ / I₁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8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22960" y="26060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Přechodové jevy v RC obvodu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se děje při zapnutí a vypnutí obvodu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1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Přechodové jevy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07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Přechodový děj nastává při přechodu obvodu z jednoho ustáleného stavu do druhého</a:t>
            </a:r>
            <a:endParaRPr lang="en-US" sz="17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Způsobují je setrvačné prvky – kondenzátory a cívky</a:t>
            </a:r>
            <a:endParaRPr lang="en-US" sz="17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Kondenzátor akumuluje energii v elektrickém poli, stavová veličina je napětí uC</a:t>
            </a:r>
            <a:endParaRPr lang="en-US" sz="17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Cívka akumuluje energii v magnetickém poli, stavová veličina je proud iL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Nabíjení a vybíjení kondenzátoru v RC obvodu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074920" cy="3794760"/>
          </a:xfrm>
          <a:prstGeom prst="roundRect">
            <a:avLst>
              <a:gd name="adj" fmla="val 192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05840" y="180136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Nabíjení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286000"/>
            <a:ext cx="4526280" cy="594360"/>
          </a:xfrm>
          <a:prstGeom prst="roundRect">
            <a:avLst>
              <a:gd name="adj" fmla="val 1230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1234440" y="228600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u(t) = U₀(1 − e^(−t/τ))</a:t>
            </a:r>
            <a:endParaRPr lang="en-US" sz="1500" dirty="0"/>
          </a:p>
        </p:txBody>
      </p:sp>
      <p:pic>
        <p:nvPicPr>
          <p:cNvPr id="8" name="Image 0" descr="assets/rc_nab_foto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18129" y="3063240"/>
            <a:ext cx="3901702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600200"/>
            <a:ext cx="5074920" cy="3794760"/>
          </a:xfrm>
          <a:prstGeom prst="roundRect">
            <a:avLst>
              <a:gd name="adj" fmla="val 192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7"/>
          <p:cNvSpPr/>
          <p:nvPr/>
        </p:nvSpPr>
        <p:spPr>
          <a:xfrm>
            <a:off x="6492240" y="180136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Vybíjení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92240" y="2286000"/>
            <a:ext cx="4526280" cy="594360"/>
          </a:xfrm>
          <a:prstGeom prst="roundRect">
            <a:avLst>
              <a:gd name="adj" fmla="val 1230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9"/>
          <p:cNvSpPr/>
          <p:nvPr/>
        </p:nvSpPr>
        <p:spPr>
          <a:xfrm>
            <a:off x="6720840" y="228600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u(t) = U₀ · e^(−t/τ)</a:t>
            </a:r>
            <a:endParaRPr lang="en-US" sz="1500" dirty="0"/>
          </a:p>
        </p:txBody>
      </p:sp>
      <p:pic>
        <p:nvPicPr>
          <p:cNvPr id="13" name="Image 1" descr="assets/rc_vyb_foto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90891" y="3063240"/>
            <a:ext cx="2528979" cy="21488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" y="5532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R·C je časová konstanta obvodu: po čase τ proběhne 63 % změny, po 5τ je děj prakticky ukončen (99 %)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Aplikace: RC filtr a biosignály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Nabíjecí/vybíjecí děj RC článku je základem jednoduchých filtrů (dolní/horní propust)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Hranici mezi propouštěným a tlumeným pásmem udává mezní frekvence fc – dolní propust tlumí signál nad ní, horní propust pod ní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Integrační a derivační článek mění tvar obdélníkového signálu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biomedicíně se RC filtry běžně používají k odšumění EKG/EEG signálu před zesílením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68312" y="1915066"/>
            <a:ext cx="4517136" cy="3759387"/>
          </a:xfrm>
          <a:prstGeom prst="roundRect">
            <a:avLst>
              <a:gd name="adj" fmla="val 1459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" name="Image 0" descr="assets/int_der_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8040" y="2024794"/>
            <a:ext cx="4297680" cy="35399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983480"/>
            <a:ext cx="4206240" cy="777240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800" b="1">
                <a:solidFill>
                  <a:srgbClr val="8C5A26"/>
                </a:solidFill>
                <a:latin typeface="Cambria Math"/>
              </a:rPr>
              <a:t>fc = 1 / (2π·R·C)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Text 42"/>
          <p:cNvSpPr/>
          <p:nvPr/>
        </p:nvSpPr>
        <p:spPr>
          <a:xfrm>
            <a:off x="82296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Shrnutí přednášky 1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868680" y="169164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Elektřina je pohyb náboje – napětí, proud a odpor lze chápat analogicky k proudění vody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Obvodové veličiny popisujeme hodnotou i orientací (smyslem)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Ohmův zákon (I = U/R) a Kirchhoffovy zákony (ΣI = 0, ΣU = 0) jsou základ výpočtu obvodů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L a C se v obvodu se stejnosměrným a střídavým proudem chovají odlišně (fázový posun, reaktance)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822960" y="557784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27384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Text 45"/>
          <p:cNvSpPr/>
          <p:nvPr/>
        </p:nvSpPr>
        <p:spPr>
          <a:xfrm>
            <a:off x="1051560" y="557784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Příště: polovodičové součástky a operační zesilovače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1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985248" y="54864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0277856" y="54864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570464" y="54864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863072" y="54864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1155680" y="54864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9692640" y="84124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9985248" y="84124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10277856" y="84124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10570464" y="84124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0863072" y="84124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11155680" y="84124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9692640" y="113385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9985248" y="113385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10277856" y="113385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10570464" y="113385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0863072" y="113385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1155680" y="113385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9692640" y="142646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9985248" y="142646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10277856" y="142646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10570464" y="142646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10863072" y="142646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11155680" y="142646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9692640" y="171907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9985248" y="171907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10277856" y="171907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10570464" y="171907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10863072" y="171907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11155680" y="171907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9692640" y="201168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9985248" y="201168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0277856" y="201168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10570464" y="201168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10863072" y="201168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11155680" y="2011680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9692640" y="230428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9985248" y="230428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10277856" y="230428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10570464" y="230428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10863072" y="230428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11155680" y="2304288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9692640" y="259689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985248" y="259689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0277856" y="259689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0570464" y="259689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0863072" y="259689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11155680" y="2596896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9692640" y="288950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9985248" y="288950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10277856" y="288950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10570464" y="288950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10863072" y="288950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11155680" y="2889504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9692640" y="318211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9985248" y="318211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Shape 56"/>
          <p:cNvSpPr/>
          <p:nvPr/>
        </p:nvSpPr>
        <p:spPr>
          <a:xfrm>
            <a:off x="10277856" y="318211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9" name="Shape 57"/>
          <p:cNvSpPr/>
          <p:nvPr/>
        </p:nvSpPr>
        <p:spPr>
          <a:xfrm>
            <a:off x="10570464" y="318211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0" name="Shape 58"/>
          <p:cNvSpPr/>
          <p:nvPr/>
        </p:nvSpPr>
        <p:spPr>
          <a:xfrm>
            <a:off x="10863072" y="318211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1" name="Shape 59"/>
          <p:cNvSpPr/>
          <p:nvPr/>
        </p:nvSpPr>
        <p:spPr>
          <a:xfrm>
            <a:off x="11155680" y="3182112"/>
            <a:ext cx="32004" cy="32004"/>
          </a:xfrm>
          <a:prstGeom prst="ellipse">
            <a:avLst/>
          </a:prstGeom>
          <a:solidFill>
            <a:srgbClr val="BE7C3D">
              <a:alpha val="4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2" name="Text 60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822960" y="2788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Přednáška 2 · Polovodiče a operační zesilovače</a:t>
            </a:r>
            <a:endParaRPr lang="en-US" sz="4000" dirty="0"/>
          </a:p>
        </p:txBody>
      </p:sp>
      <p:sp>
        <p:nvSpPr>
          <p:cNvPr id="64" name="Text 62"/>
          <p:cNvSpPr/>
          <p:nvPr/>
        </p:nvSpPr>
        <p:spPr>
          <a:xfrm>
            <a:off x="82296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Silnoproudá a přístrojová elektrotechnika · Biomedicínské inženýrství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822960" y="3840480"/>
            <a:ext cx="1005840" cy="0"/>
          </a:xfrm>
          <a:prstGeom prst="line">
            <a:avLst/>
          </a:prstGeom>
          <a:noFill/>
          <a:ln w="31750">
            <a:solidFill>
              <a:srgbClr val="BE7C3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6" name="Text 6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1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22960" y="26060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Polovodiče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Materiál na pomezí vodiče a izolantu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09512" y="2679191"/>
            <a:ext cx="8942495" cy="3621024"/>
          </a:xfrm>
          <a:prstGeom prst="roundRect">
            <a:avLst>
              <a:gd name="adj" fmla="val 3000"/>
            </a:avLst>
          </a:prstGeom>
          <a:solidFill>
            <a:srgbClr val="F3F5F7"/>
          </a:solidFill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Polovodičové součástky – typ P a 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07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Čistý křemík téměř nevede – vodivost se získá dotováním, tedy nepatrnou příměsí cizího prvku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P – trojmocná příměs (bor): chybí vazebný elektron, vzniká díra; nosičem náboje je díra (+)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N – pětimocná příměs (fosfor): jeden elektron přebývá a zůstává volný; nosičem je elektron (−)</a:t>
            </a:r>
            <a:endParaRPr lang="en-US" sz="1550" dirty="0"/>
          </a:p>
        </p:txBody>
      </p:sp>
      <p:pic>
        <p:nvPicPr>
          <p:cNvPr id="6" name="Picture 5" descr="pn_mriz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240" y="2788920"/>
            <a:ext cx="8723039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096576" y="3136391"/>
            <a:ext cx="9968366" cy="3099815"/>
          </a:xfrm>
          <a:prstGeom prst="roundRect">
            <a:avLst>
              <a:gd name="adj" fmla="val 3000"/>
            </a:avLst>
          </a:prstGeom>
          <a:solidFill>
            <a:srgbClr val="F3F5F7"/>
          </a:solidFill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Přechod PN – jak vzniká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607040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rozhraní P a N se díry a elektrony vzájemně setkají a zaniknou (rekombinují)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Zbydou nepohyblivé ionty příměsí – vzniká ochuzená vrstva bez volných nosičů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Náboj těchto iontů vytvoří vlastní elektrické pole Ei, které dalšímu průniku brání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Tím se ustálí rovnováha; překonat bariéru vyžaduje napětí ≈ 0,7 V (křemík)</a:t>
            </a:r>
            <a:endParaRPr lang="en-US" sz="1550" dirty="0"/>
          </a:p>
        </p:txBody>
      </p:sp>
      <p:pic>
        <p:nvPicPr>
          <p:cNvPr id="6" name="Picture 5" descr="pn_vzn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304" y="3246120"/>
            <a:ext cx="974891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92927" y="3044952"/>
            <a:ext cx="8575665" cy="3099815"/>
          </a:xfrm>
          <a:prstGeom prst="roundRect">
            <a:avLst>
              <a:gd name="adj" fmla="val 3000"/>
            </a:avLst>
          </a:prstGeom>
          <a:solidFill>
            <a:srgbClr val="F3F5F7"/>
          </a:solidFill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Přechod PN v propustném a závěrném směru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Propustný směr: „+“ zdroje na P – vnější pole ruší vlastní pole Ei, vrstva se zúží a proud prochází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Závěrný směr: „+“ zdroje na N – vrstva se rozšíří, přechod se uzavře a prochází jen nepatrný zbytkový proud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Právě tato nesouměrnost dělá z přechodu PN jednosměrný ventil – základ diody</a:t>
            </a:r>
            <a:endParaRPr lang="en-US" sz="1550" dirty="0"/>
          </a:p>
        </p:txBody>
      </p:sp>
      <p:pic>
        <p:nvPicPr>
          <p:cNvPr id="6" name="Picture 5" descr="pn_smery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655" y="3154680"/>
            <a:ext cx="8356209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02655" y="6163055"/>
            <a:ext cx="8356209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B6B78"/>
                </a:solidFill>
                <a:latin typeface="Calibri"/>
              </a:rPr>
              <a:t>animace – v režimu prezentace je vidět pohyb nosičů náboje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2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22960" y="26060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Dioda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Nejjednodušší nelineární součástka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2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Dioda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Využívá vlastností polovodičového přechodu PN, propouští proud jen jedním směrem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Charakteristické veličiny: závěrné napětí, průrazné napětí, doba zotavení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propustném směru: prahové napětí Up; v závěrném směru prochází jen malý zbytkový proud Ir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Typické prahové napětí: křemíková dioda ≈ 0,6–0,7 V, germaniová ≈ 0,3 V, LED podle barvy 1,8–3,5 V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68312" y="2087073"/>
            <a:ext cx="4517136" cy="3415374"/>
          </a:xfrm>
          <a:prstGeom prst="roundRect">
            <a:avLst>
              <a:gd name="adj" fmla="val 1606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" name="Image 0" descr="assets/dioda_v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8040" y="2196801"/>
            <a:ext cx="4297680" cy="319591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Použití diody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Klasická dioda: usměrňování střídavého proudu (jednocestné, dvoucestné, Grätzův můstek)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Zenerova dioda: pracuje v závěrném směru za průrazným napětím a slouží ke stabilizaci napětí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68312" y="2933918"/>
            <a:ext cx="4517136" cy="1721685"/>
          </a:xfrm>
          <a:prstGeom prst="roundRect">
            <a:avLst>
              <a:gd name="adj" fmla="val 3187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" name="Image 0" descr="assets/dioda_brid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8040" y="3043646"/>
            <a:ext cx="4297680" cy="150222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Usměrňovače – jak z AC uděláme DC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76072" y="2329845"/>
            <a:ext cx="3739896" cy="2893253"/>
          </a:xfrm>
          <a:prstGeom prst="roundRect">
            <a:avLst>
              <a:gd name="adj" fmla="val 1896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" name="Image 0" descr="assets/usm2_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439573"/>
            <a:ext cx="3520440" cy="2344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" y="4802475"/>
            <a:ext cx="3739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Dvoucestné (se středem vinutí)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416552" y="2197466"/>
            <a:ext cx="3739896" cy="3158011"/>
          </a:xfrm>
          <a:prstGeom prst="roundRect">
            <a:avLst>
              <a:gd name="adj" fmla="val 1737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8" name="Image 1" descr="assets/usm_mos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26280" y="2307194"/>
            <a:ext cx="3520440" cy="26093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16552" y="4934854"/>
            <a:ext cx="3739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Můstkové (Grätzovo)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257032" y="2253392"/>
            <a:ext cx="3739896" cy="3046160"/>
          </a:xfrm>
          <a:prstGeom prst="roundRect">
            <a:avLst>
              <a:gd name="adj" fmla="val 1801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1" name="Image 2" descr="assets/usm2_b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66760" y="2363120"/>
            <a:ext cx="3520440" cy="24975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57032" y="4878928"/>
            <a:ext cx="3739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Výstupní napětí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Můstkový usměrňovač krok za krokem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každé půlvlně vedou dvě protilehlé diody, zbylé dvě jsou zavřené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 zátěží teče v obou půlvlnách stejným směrem – výstup má stálou polaritu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Výstupní napětí je zvlněné (|u₁|); vyhladí ho kondenzátor paralelně k zátěži (nabíjí se ve špičce, vybíjí mezi nimi – viz RC obvod)</a:t>
            </a:r>
            <a:endParaRPr lang="en-US" sz="1550" dirty="0"/>
          </a:p>
        </p:txBody>
      </p:sp>
      <p:sp>
        <p:nvSpPr>
          <p:cNvPr id="5" name="Rounded Rectangle 4"/>
          <p:cNvSpPr/>
          <p:nvPr/>
        </p:nvSpPr>
        <p:spPr>
          <a:xfrm>
            <a:off x="2956777" y="2724912"/>
            <a:ext cx="6247964" cy="3739896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 w="12700">
            <a:solidFill>
              <a:srgbClr val="E3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ustkovy_usmernovac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505" y="2834640"/>
            <a:ext cx="6028508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56777" y="6099048"/>
            <a:ext cx="6247964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5B6B78"/>
                </a:solidFill>
                <a:latin typeface="Calibri"/>
              </a:rPr>
              <a:t>animace – přehraje se v režimu prezentace (nejprve celkový pohled, pak jedna perioda krok za krokem)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3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22960" y="26060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Tranzistor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Součástka, která umí zesilovat i spínat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2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Tranzistor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Součástka (dvojbran) se dvěma polovodičovými přechody (NPN nebo PNP)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V-A charakteristika: výstupní Ic = f(Uce), vstupní Ube = f(Ib)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Proudové zesílení: Ic = β · Ib  (β = h21E, typicky desítky až stovky) – malý proud báze řídí velký proud kolektoru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542673" y="2953512"/>
            <a:ext cx="3589774" cy="3429000"/>
          </a:xfrm>
          <a:prstGeom prst="roundRect">
            <a:avLst>
              <a:gd name="adj" fmla="val 1600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" name="Image 0" descr="assets/tranzistor_symbo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52401" y="3063240"/>
            <a:ext cx="3370318" cy="288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42673" y="5961888"/>
            <a:ext cx="35897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Značka NPN / PNP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99611" y="2953512"/>
            <a:ext cx="3214457" cy="3429000"/>
          </a:xfrm>
          <a:prstGeom prst="roundRect">
            <a:avLst>
              <a:gd name="adj" fmla="val 1707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9" name="Image 1" descr="assets/tranzistor_v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09339" y="3063240"/>
            <a:ext cx="2995001" cy="2880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99611" y="5961888"/>
            <a:ext cx="321445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V-A charakteristika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Tranzistor jako spínač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Možná zapojení: se společnou bází (SB), emitorem (SE) nebo kolektorem (SC)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Typické zapojení pro spínání je se společným emitorem (SE)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sepnutém (saturovaném) stavu se chová jako sepnutý spínač (Uce ≈ 0,1–0,3 V), při Ib = 0 jako rozpojený obvod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68312" y="1916999"/>
            <a:ext cx="4517136" cy="3755522"/>
          </a:xfrm>
          <a:prstGeom prst="roundRect">
            <a:avLst>
              <a:gd name="adj" fmla="val 1461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" name="Image 0" descr="assets/tranzistor_zapojeni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8040" y="2026727"/>
            <a:ext cx="4297680" cy="353606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>
              <a:alpha val="3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4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22960" y="26060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Operační zesilovač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Stavební kámen analogové elektroniky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2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Operační zesilovač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Elektronická součástka (integrovaný obvod) navržená původně k provádění matematických operací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 vstupy: kladný – neinvertující (+), záporný – invertující (−)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výstup, napájecí vývody se obvykle nekreslí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Signály se vztahují k zemnící svorce (GND)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68312" y="2060405"/>
            <a:ext cx="4517136" cy="3468710"/>
          </a:xfrm>
          <a:prstGeom prst="roundRect">
            <a:avLst>
              <a:gd name="adj" fmla="val 1582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" name="Image 0" descr="assets/oz_symbo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8040" y="2170133"/>
            <a:ext cx="4297680" cy="324925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Základní vztah a ideální OZ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Ideální OZ: nekonečně velké zesílení A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Nekonečně velký vstupní odpor, nulový výstupní odpor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Nekonečně velké frekvenční pásmo, nulový vlastní šum a zkreslení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4352544"/>
            <a:ext cx="6035040" cy="1499616"/>
          </a:xfrm>
          <a:prstGeom prst="roundRect">
            <a:avLst>
              <a:gd name="adj" fmla="val 487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1005840" y="4443984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</a:t>
            </a:r>
            <a:r>
              <a:rPr lang="en-US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 = </a:t>
            </a:r>
            <a:r>
              <a:rPr lang="cs-CZ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</a:t>
            </a:r>
            <a:r>
              <a:rPr lang="en-US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₊ − </a:t>
            </a:r>
            <a:r>
              <a:rPr lang="cs-CZ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</a:t>
            </a:r>
            <a:r>
              <a:rPr lang="en-US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5102352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</a:t>
            </a:r>
            <a:r>
              <a:rPr lang="en-US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₀ = Au · </a:t>
            </a:r>
            <a:r>
              <a:rPr lang="cs-CZ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</a:t>
            </a:r>
            <a:r>
              <a:rPr lang="en-US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   (bez zpětné vazby)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068312" y="2667019"/>
            <a:ext cx="4517136" cy="2255482"/>
          </a:xfrm>
          <a:prstGeom prst="roundRect">
            <a:avLst>
              <a:gd name="adj" fmla="val 2432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9" name="Image 0" descr="assets/oz_vztah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8040" y="2776747"/>
            <a:ext cx="4297680" cy="203602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Ideální vs. reálný operační zesilovač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Ideální OZ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26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Zesílení A → ∞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Vstupní odpor → ∞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Frekvenční pásmo → ∞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Výstupní odpor = 0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Šum a zkreslení = 0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6492240" y="18288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Reálný OZ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526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Zesílení A ≈ 10⁴ až 10⁷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Vstupní odpor až 10¹⁴ Ω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Pásmo SS až desítky MHz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Výstupní odpor desítky až stovky Ω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CMRR 80 dB až &gt; 140 dB</a:t>
            </a:r>
            <a:endParaRPr lang="en-US" sz="13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Napěťový sledovač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Slouží pro impedanční oddělení vstupu a výstupu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Zesílení AU = 1 – výstup věrně kopíruje vstup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Využití: oddělení citlivého zdroje signálu od zátěže, aniž by ji zatížil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68312" y="2718362"/>
            <a:ext cx="4517136" cy="2152796"/>
          </a:xfrm>
          <a:prstGeom prst="roundRect">
            <a:avLst>
              <a:gd name="adj" fmla="val 2548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" name="Image 0" descr="assets/oz_sledova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8040" y="2828090"/>
            <a:ext cx="4297680" cy="193334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Invertující a neinvertující zapojení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Invertující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331720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1234440" y="233172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AU = Uvýst / Uvst = −R₂/R₁</a:t>
            </a:r>
            <a:endParaRPr lang="en-US" sz="1700" dirty="0"/>
          </a:p>
        </p:txBody>
      </p:sp>
      <p:pic>
        <p:nvPicPr>
          <p:cNvPr id="8" name="Image 0" descr="assets/oz_invertujic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54155" y="3200400"/>
            <a:ext cx="3629650" cy="2331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60020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7"/>
          <p:cNvSpPr/>
          <p:nvPr/>
        </p:nvSpPr>
        <p:spPr>
          <a:xfrm>
            <a:off x="6492240" y="18288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Neinvertující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92240" y="2331720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9"/>
          <p:cNvSpPr/>
          <p:nvPr/>
        </p:nvSpPr>
        <p:spPr>
          <a:xfrm>
            <a:off x="6720840" y="233172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AU = 1 + R₂/R₁</a:t>
            </a:r>
            <a:endParaRPr lang="en-US" sz="1700" dirty="0"/>
          </a:p>
        </p:txBody>
      </p:sp>
      <p:pic>
        <p:nvPicPr>
          <p:cNvPr id="13" name="Image 1" descr="assets/oz_neinvertujici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22070" y="3200400"/>
            <a:ext cx="306662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Diferenční zesilovač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Slouží ke sledování rozdílu dvou napěťových signálů s velmi blízkými hodnotami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Podmínka funkce: Rzp/R₁ = R₂/R₃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50292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960120" y="50292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5A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U₀ = (Rzp/R₁) · (U₂ − U₁)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68312" y="1973919"/>
            <a:ext cx="4517136" cy="3641683"/>
          </a:xfrm>
          <a:prstGeom prst="roundRect">
            <a:avLst>
              <a:gd name="adj" fmla="val 1507"/>
            </a:avLst>
          </a:prstGeom>
          <a:solidFill>
            <a:srgbClr val="F3F5F7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8" name="Image 0" descr="assets/oz_diferencn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8040" y="2083647"/>
            <a:ext cx="4297680" cy="3422227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PŘESAH DO PRAXE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65836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Operační zesilovače v biomedicínské praxi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800"/>
              </a:spcAft>
              <a:buSzPct val="100000"/>
              <a:buChar char="●"/>
            </a:pP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Diferenční zesilovač je základem přístrojového zesilovače pro EKG, EEG i EMG</a:t>
            </a:r>
            <a:endParaRPr lang="en-US" sz="1700" dirty="0"/>
          </a:p>
          <a:p>
            <a:pPr marL="342900" indent="-342900">
              <a:lnSpc>
                <a:spcPct val="112000"/>
              </a:lnSpc>
              <a:spcAft>
                <a:spcPts val="1800"/>
              </a:spcAft>
              <a:buSzPct val="100000"/>
              <a:buChar char="●"/>
            </a:pP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Užitečný biosignál má často jen desítky µV až jednotky mV a je zarušený souhlasným rušením (např. síťový brum)</a:t>
            </a:r>
            <a:endParaRPr lang="en-US" sz="1700" dirty="0"/>
          </a:p>
          <a:p>
            <a:pPr marL="342900" indent="-342900">
              <a:lnSpc>
                <a:spcPct val="112000"/>
              </a:lnSpc>
              <a:spcAft>
                <a:spcPts val="1800"/>
              </a:spcAft>
              <a:buSzPct val="100000"/>
              <a:buChar char="●"/>
            </a:pP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Vysoký CMRR potlačí souhlasné rušení a zesílí jen rozdílový užitečný signál</a:t>
            </a:r>
            <a:endParaRPr lang="en-US" sz="1700" dirty="0"/>
          </a:p>
          <a:p>
            <a:pPr marL="342900" indent="-342900">
              <a:lnSpc>
                <a:spcPct val="112000"/>
              </a:lnSpc>
              <a:spcAft>
                <a:spcPts val="1800"/>
              </a:spcAft>
              <a:buSzPct val="100000"/>
              <a:buChar char="●"/>
            </a:pPr>
            <a:r>
              <a:rPr lang="en-US" sz="17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praxi se kombinuje s RC filtry z minulé přednášky pro odšumění signálu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0292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77724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1051560"/>
            <a:ext cx="27432" cy="27432"/>
          </a:xfrm>
          <a:prstGeom prst="ellipse">
            <a:avLst/>
          </a:prstGeom>
          <a:solidFill>
            <a:srgbClr val="BE7C3D">
              <a:alpha val="3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Text 42"/>
          <p:cNvSpPr/>
          <p:nvPr/>
        </p:nvSpPr>
        <p:spPr>
          <a:xfrm>
            <a:off x="82296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Shrnutí přednášky 2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868680" y="169164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Polovodiče typu P a N vytvářejí přechod PN – základ diody i tranzistoru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Dioda propouští proud jedním směrem, využívá se v usměrňovačích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Tranzistor umí proud zesilovat i spínat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Operační zesilovač je stavební kámen přístrojových zesilovačů v biomedicínské technice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822960" y="557784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27384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Text 45"/>
          <p:cNvSpPr/>
          <p:nvPr/>
        </p:nvSpPr>
        <p:spPr>
          <a:xfrm>
            <a:off x="1051560" y="557784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Otázky k oběma přednáškám a příklady si projdeme na cvičeních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Elektronické součástky  ·  Přednáška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54637A2-AA30-4A58-B6E8-2C1BC1A3F8E1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c788e79b-6b73-4403-95d4-227bcef13c0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3735</Words>
  <Application>Microsoft Office PowerPoint</Application>
  <PresentationFormat>Širokoúhlá obrazovka</PresentationFormat>
  <Paragraphs>557</Paragraphs>
  <Slides>62</Slides>
  <Notes>60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62</vt:i4>
      </vt:variant>
    </vt:vector>
  </HeadingPairs>
  <TitlesOfParts>
    <vt:vector size="67" baseType="lpstr">
      <vt:lpstr>Arial</vt:lpstr>
      <vt:lpstr>Calibri</vt:lpstr>
      <vt:lpstr>Cambria</vt:lpstr>
      <vt:lpstr>Cambria Math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Králík Martin (133972)</cp:lastModifiedBy>
  <cp:revision>4</cp:revision>
  <dcterms:created xsi:type="dcterms:W3CDTF">2026-09-08T10:02:12Z</dcterms:created>
  <dcterms:modified xsi:type="dcterms:W3CDTF">2026-09-16T10:26:52Z</dcterms:modified>
</cp:coreProperties>
</file>