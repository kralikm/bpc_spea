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6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49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Pátá přednáška. Minule jsme řešili, odkud přístroj bere energii. Dnes se podíváme na stroje, které energii převádějí – mezi elektrickou a mechanickou, nebo mezi dvěma hladinami napětí.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Stroje se liší konstrukcí, ne fyzikou. Kdo rozumí dvěma základním jevům, odvodí si chování kteréhokoli z nich.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Dělení podle toku energie: generátor mění mechanickou energii na elektrickou, motor obráceně. Dělení podle buzení: vlastní (sériové, derivační, kompaundní) a cizí. Dělení podle konstrukce: komutátorové a bezkomutátorové.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Faradayův zákon: u = −N·dΦ/dt. Záporné znaménko je Lenzův zákon – indukované napětí působí proti příčině, která ho vyvolala. Proto generátor klade odpor, jakmile z něj začneme odebírat proud.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Transformátor je nejjednodušší elektrický stroj – nemá žádnou pohyblivou část.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Primární vinutí vytvoří střídavý magnetický tok. Ten prochází jádrem do sekundárního vinutí a indukuje v něm napětí. Zdůraznit: napětí vzniká jen při ZMĚNĚ toku, proto transformátor nepracuje se stejnosměrným proudem.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Spočítat se studenty: svařovací transformátor 230 V / 40 V, odběr 150 A na sekundáru. Na primáru teče 26 A – proto na svařovačku nestačí běžný jistič 16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Činitel vazby k je podíl toku, který projde oběma cívkami. U transformátoru na jádře přes 0,99, u volně položených cívek desetiny. Na tom je založen i bezdrátový přenos energie – tam se pracuje s vazbou kolem 0,3.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Magneticky měkký materiál: po odeznění pole v něm nezůstane magnetizace. Opak je magneticky tvrdý materiál, ze kterého se dělají permanentní magnety.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Dělená jádra (EI, C) se dají snadno navléknout na hotovou cívku. Toroid se musí navíjet přímo na jádro speciálním strojem, zato má nejmenší rozptyl a nejtišší chod.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Ztráty naprázdno se měří při nezatíženém sekundáru – jsou to prakticky jen ztráty v železe. Ztráty nakrátko se měří při zkratovaném sekundáru a sníženém napětí – jsou to prakticky jen ztráty v mědi. Z obou měření se dá spočítat účinnost při libovolném zatížení.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Autotransformátor se používá i jako regulační – pod označením variak. Protože nemá oddělení, nesmí se jím napájet přístroj, kterého se dotýká pacient.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Stejnosměrný stroj je historicky nejstarší točivý stroj a pořád se používá tam, kde je k dispozici stejnosměrné napětí a kde je potřeba jednoduché řízení otáček.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Stator může být permanentní magnet nebo elektromagnet s budicím vinutím. Rotoru se u stejnosměrných strojů tradičně říká kotva.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 komutátoru by se smyčka po půlotáčce zastavila v rovnovážné poloze. Komutátor každou půlotáčku prohodí přívody, takže proud ve vodiči změní směr a moment působí pořád stejným směrem. Skutečný stroj má desítky lamel a cívek, takže je moment plynulý.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Stejný stroj dá střídavé i stejnosměrné napětí – rozhodne jen to, čím se proud odebírá z rotoru. Dnes se dynama prakticky nepoužívají: v autě je alternátor s diodovým usměrňovačem, protože je lehčí, levnější a nemá komutátor.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Buzení rozhoduje o momentové charakteristice. Sériový motor má největší moment při rozběhu, ale naprázdno se může roztočit do destrukce – proto se nikdy nepouští bez zátěže a nespojuje řemenem, který může sklouznout.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Momentové charakteristiky: sériový motor má hyperbolickou závislost M(n), derivační téměř svislou. Kompaundní leží mezi nimi podle poměru obou vinutí.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Právě proto stejnosměrné pohony v průmyslu ustupují: střídavý motor s měničem umí totéž, je levnější a nemá kartáče.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Asynchronní motor je nejrozšířenější elektrický stroj vůbec – spotřebuje zhruba polovinu veškeré vyrobené elektřiny.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Počet pólů je vždy sudý – severní a jižní pól nelze oddělit. Dvoupólový alternátor musí pro 50 Hz běžet 3000 ot/min, čtyřpólový 1500. V elektrárnách se proto u pomaloběžných turbín (vodních) používají stroje s mnoha pólovými dvojicemi.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je klíč k celé střídavé technice. Tři vinutí posunutá o 120° napájená třemi proudy posunutými o 120° dají pole konstantní velikosti, které se otáčí synchronními otáčkami. Žádná část se přitom nehýbe.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Rotor i stator jsou z tenkých vzájemně izolovaných plechů, aby se omezily vířivé proudy. Klec bývá u menších motorů odlita z hliníku přímo do drážek rotoru.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Jméno motoru pochází právě odtud: rotor se nikdy neotáčí synchronně s polem. Kdyby ano, neměnil by se tok klecí, neindukoval by se proud a nevznikal by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Při rozběhu je skluz roven jedné a klecí tečou velké proudy. Motor se chová jako transformátor nakrátko – odtud záběrný proud 5 až 8násobek jmenovitého.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Přepínání Y/D vyžaduje, aby byl motor na trojúhelník dimenzován pro síťové napětí – na štítku musí být 400/690 V. Motor se štítkem 230/400 V se na naší síti trvale provozuje v zapojení do hvězdy a přepínat nelze.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štítku je údaj typu 400/690 V D/Y nebo 230/400 V D/Y. První číslo vždy patří k trojúhelníku, druhé ke hvězdě. Zkontrolovat to je první věc při připojování motoru.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brzdění protiproudem je nutné motor v okamžiku zastavení odpojit, jinak se rozběhne na druhou stranu. Hlídá to hlídač otáček nebo časové relé.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Tahle vlastnost je zároveň bezpečnostní výhoda: po výpadku sítě se elektrárna sama odpojí a nemůže zpětně napájet opravovaný úsek vedení.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Rozběhový kondenzátor se po rozběhu odpojí odstředivým spínačem. U motorů s trvale připojeným kondenzátorem je kapacita menší a motor má horší záběrný moment, zato jednodušší konstrukci. Smysl otáčení se mění prohozením vývodů pomocného vinutí.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Univerzální motor je v každé vrtačce, mixéru i vysavači. Jiskření komutátoru je zdrojem vysokofrekvenčního rušení, které by se šířilo po síti – proto má vestavěný odrušovací filtr. Bez něj by přístroj neprošel zkouškou elektromagnetické kompatibility.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Synchronní motor má konstantní otáčky nezávislé na zatížení, což je jeho hlavní přednost. Dokáže také dodávat jalový výkon a používá se proto jako kompenzátor účiníku.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Všechny stroje v této sekci mají společné to, že se neobejdou bez řídicí elektroniky.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Krokový motor je synchronní stroj: otáčky jsou dané kmitočtem řídicích impulzů. Poloha se neměří – počítá se z počtu vyslaných impulzů. To je jeho největší přednost i největší slabina.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Hybridní provedení dnes převažuje – spojuje jemný krok reluktančního motoru s momentem motoru s permanentním magnetem.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Časté nedorozumění: mikrokrokování na 1/256 neznamená 256× přesnější polohu. Hlavní přínos je tišší chod a menší vibrace.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3D tiskárnách se ztráta kroku projeví posunutím vrstvy. Proto se tiskárny nastavují tak, aby motory pracovaly s rezervou momentu.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Rotor je obvykle neodymový magnet NdFeB. Statorem je trojfázové vinutí, které elektronika přepíná podle polohy rotoru. Z pohledu napájení je to stejnosměrný motor, z pohledu vinutí trojfázový stroj.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 informace o poloze rotoru nelze BLDC motor komutovat. Hallovy sondy ji dávají i při stání, back EMF až za chodu – proto motory bez čidel potřebují složitější algoritmus rozběhu a při malých otáčkách běží hůř.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Servomotor není samostatný typ motoru – je to motor (dnes nejčastěji BLDC nebo PMSM) doplněný snímačem polohy a regulátorem. Rozdíl proti krokovému motoru: servo zná skutečnou polohu a krok ztratit nemůže.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Měnič umožní, aby kompresor chladničky běžel trvale na nízký výkon místo cyklování naplno a vypnuto. Odtud úspora energie i tišší chod.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Lineární motor je rozvinutý točivý motor. Místo momentu dává přímo sílu, takže odpadá celá mechanika převodu. Platí se za to cenou a nutností dlouhého statoru podél celé dráhy.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biomedicínské technice se lineární motory objevují v automatických analyzátorech, pipetovacích robotech a polohovacích stolcích mikroskopů.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Tabulku projít po sloupcích: nejdřív napájení, pak řízení otáček, pak údržba. Z posledního sloupce je vidět, že bezkartáčové stroje postupně vytlačují komutátorové všude, kde se vyplatí elektronika.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Shrnutí odpovídá šesti hlavním myšlenkám přednášky.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985248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277856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570464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863072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1155680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9692640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985248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0277856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10570464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0863072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1155680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9692640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985248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0277856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10570464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0863072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1155680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9692640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985248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10277856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10570464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10863072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11155680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692640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9985248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277856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10570464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10863072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11155680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9692640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9985248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0277856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10570464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10863072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11155680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9692640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9985248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10277856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10570464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10863072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11155680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9692640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985248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0277856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0570464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0863072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11155680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9692640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985248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10277856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10570464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10863072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11155680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9692640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9985248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10277856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10570464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10863072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11155680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BPC-SPEA  ·  SILNOPROUDÁ A PŘÍSTROJOVÁ ELEKTROTECHNIKA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822960" y="2606040"/>
            <a:ext cx="8595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Elektrické stroje a transformátory</a:t>
            </a:r>
            <a:endParaRPr lang="en-US" sz="4000" dirty="0"/>
          </a:p>
        </p:txBody>
      </p:sp>
      <p:sp>
        <p:nvSpPr>
          <p:cNvPr id="64" name="Text 62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Transformátory  ·  stejnosměrné stroje  ·  střídavé stroje  ·  speciální pohony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Jiří Sekora  ·  Martin Králík      |      Ústav biomedicínského inženýrství FEKT VUT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Obsah přednášky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" y="19736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Transformátory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 vzájemné indukce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převodní poměr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jádra a ztráty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900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365760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441" y="19736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7492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Stejnosměrné stroje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konstrukce a komutace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 a motor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způsoby buzení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3"/>
          <p:cNvSpPr/>
          <p:nvPr/>
        </p:nvSpPr>
        <p:spPr>
          <a:xfrm>
            <a:off x="644652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61" y="1973641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6384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Střídavé stroje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točivé magnetické pole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asynchronní motor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synchronní stroj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0684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18"/>
          <p:cNvSpPr/>
          <p:nvPr/>
        </p:nvSpPr>
        <p:spPr>
          <a:xfrm>
            <a:off x="923544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281" y="1973641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65276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Speciální stroje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9235440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krokový motor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a servomotor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lineární motor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40080" y="49377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Text 23"/>
          <p:cNvSpPr txBox="1"/>
          <p:nvPr/>
        </p:nvSpPr>
        <p:spPr>
          <a:xfrm>
            <a:off x="914400" y="5102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Společný základ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14400" y="54681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stroje v této přednášce pracují na dvou jevech: elektromagnetické indukci (pohyb a pole dají napětí) a síle na vodič s proudem v magnetickém poli.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Elektrický stroj a jeho rozdělení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rozdel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86" y="1280160"/>
            <a:ext cx="8863149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62356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815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Točivé stroje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mění elektrickou energii na mechanickou a naopak.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562356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6492240" y="5815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Netočivé stroje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mění parametry elektrické energie – napětí a proud.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Dva jevy, na kterých stojí všechny stroje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princi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924" y="1280160"/>
            <a:ext cx="93976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1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Transformátory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 · převodní poměr · jádra · ztráty · zvláštní druhy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 transformátoru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trafo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934" y="1280160"/>
            <a:ext cx="832365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Transformace napětí a proudu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prev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77" y="1280160"/>
            <a:ext cx="104045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Vazba cívek a rozptylový tok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vaz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98" y="1280160"/>
            <a:ext cx="10374923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778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7881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Rozptylový tok se do sekundárního vinutí nedostane. Chová se jako indukčnost zapojená v sérii s vinutím, a proto napětí na sekundáru klesá s rostoucím odběrem.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Materiál a stavba jádra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vir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045" y="1280160"/>
            <a:ext cx="933743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440680"/>
            <a:ext cx="3447288" cy="868680"/>
          </a:xfrm>
          <a:prstGeom prst="roundRect">
            <a:avLst>
              <a:gd name="adj" fmla="val 8421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68680" y="5559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Křemíková ocel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852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 50/60 Hz; plechy 0,35–0,5 mm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61688" y="5440680"/>
            <a:ext cx="3447288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4590288" y="5559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Permalloy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590288" y="5852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slitina niklu a železa (75–80 % Ni), velmi vysoká permeabilita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83296" y="5440680"/>
            <a:ext cx="3447288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 txBox="1"/>
          <p:nvPr/>
        </p:nvSpPr>
        <p:spPr>
          <a:xfrm>
            <a:off x="8311896" y="5559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Ferit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311896" y="5852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keramický materiál s vysokým měrným odporem; pro vysoké kmitočty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jader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jad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7" y="1280160"/>
            <a:ext cx="9926726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81558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 jádra rozhoduje o pracovním kmitočtu. Ocelové plechy jsou použitelné do jednotek kHz, ferit až do jednotek MHz – proto je ve spínaných zdrojích.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Ztráty a účinnost transformátoru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ztra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107899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Zvláštní druhy transformátorů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896112" y="16002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Autotransformátor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vinutí s odbočkou, primár a sekundár sdílejí část závitů. Menší a levnější, ale bez galvanického oddělení.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4553712" y="16002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Oddělovací transformátor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2860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Převod 1:1. Jediným úkolem je galvanicky oddělit obvod od sítě. Ve zdravotnictví základní ochranné opatření.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896112" y="39319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Měřicí transformátory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617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pro proud, PTN pro napětí. Umožňují měřit velké veličiny běžným přístrojem a oddělují ho od vysokého napětí.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70332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 txBox="1"/>
          <p:nvPr/>
        </p:nvSpPr>
        <p:spPr>
          <a:xfrm>
            <a:off x="4553712" y="39319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Impulzní transformátor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4617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Feritové jádro, kmitočty desítky až stovky kHz. Je v každém spínaném zdroji a nabíječce.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38328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7" name="Image 0" descr="fig/ph_traf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598800"/>
            <a:ext cx="3163824" cy="21059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13816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Distribuční transformátor 22 kV / 400 V v trafostanici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0" y="45262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7"/>
          <p:cNvSpPr txBox="1"/>
          <p:nvPr/>
        </p:nvSpPr>
        <p:spPr>
          <a:xfrm>
            <a:off x="8366760" y="4681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Štítkové údaje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5029200"/>
            <a:ext cx="2926080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15900" indent="-2159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zdánlivý výkon [kVA]</a:t>
            </a:r>
            <a:endParaRPr lang="en-US" sz="1250" dirty="0"/>
          </a:p>
          <a:p>
            <a:pPr marL="215900" indent="-2159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primáru a sekundáru</a:t>
            </a:r>
            <a:endParaRPr lang="en-US" sz="1250" dirty="0"/>
          </a:p>
          <a:p>
            <a:pPr marL="215900" indent="-2159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nakrátko u</a:t>
            </a:r>
            <a:r>
              <a:rPr lang="en-US" sz="1250" baseline="-40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[%]</a:t>
            </a:r>
            <a:endParaRPr lang="en-US" sz="1250" dirty="0"/>
          </a:p>
          <a:p>
            <a:pPr marL="215900" indent="-2159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zapojení vinutí (např. Dyn1)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Stejnosměrné stroje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Konstrukce · komutace · dynamo a motor · způsoby buzení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Konstrukce stejnosměrného stroje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stroj_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7772400" cy="43472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371600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1" descr="fig/ph_ro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391" y="1481328"/>
            <a:ext cx="2690017" cy="17922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9536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s komutátorem a vinutím v drážkách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595360" y="4023360"/>
            <a:ext cx="292608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5"/>
          <p:cNvSpPr txBox="1"/>
          <p:nvPr/>
        </p:nvSpPr>
        <p:spPr>
          <a:xfrm>
            <a:off x="8823960" y="4187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Čtyři hlavní části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823960" y="4526280"/>
            <a:ext cx="246888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stator s budicím polem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(kotva) s vinutím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komutátor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kartáče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Komutace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komutace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581" y="1280160"/>
            <a:ext cx="852835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Dynamo a alternátor: úloha sběrače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dyna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280160"/>
            <a:ext cx="9710928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Způsoby buzení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buz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08" y="1280160"/>
            <a:ext cx="1050090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Vlastnosti podle způsobu buzení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261315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Záběrný moment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Otáčky při zatížení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Chod naprázdno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Typické použití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permanentním magnetem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střední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mírně klesají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rizika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modely, malé pohony, ventilátory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Sériový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velmi velký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výrazně klesají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nebezpečný – motor se přetáčí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trakce, startéry, ruční nářadí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Derivační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menší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téměř stálé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rizika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obráběcí stroje, pohony s konstantními otáčkami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Kompaundní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velký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mírně klesají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rizika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výtahy, jeřáby, válcovací stolice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46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Sériový motor naprázdno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394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zátěže klesá proud, s ním i budicí pole, a otáčky rostou. Motor se může roztočit tak, že ho odstředivá síla roztrhne.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4846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649224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Změna smyslu otáčení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5394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strojů s budicím vinutím nestačí přepólovat napájení – obrátí se proud v kotvě i v buzení a smysl zůstane. Přepóluje se jen jedno z vinutí.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Řízení otáček stejnosměrného motoru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932688" y="170992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1850746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Změnou napětí kotvy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514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Otáčky jsou zhruba úměrné napětí. Nejjednodušší a nejpoužívanější způsob – od nuly do jmenovitých otáček.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>
            <a:off x="6510528" y="170992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185074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Pulzní šířkovou modulací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514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Tranzistor spíná plné napětí s proměnnou střídou. Střední hodnota napětí se mění bez ztrát na odporu.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1"/>
          <p:cNvSpPr/>
          <p:nvPr/>
        </p:nvSpPr>
        <p:spPr>
          <a:xfrm>
            <a:off x="932688" y="404164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6" y="418246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Odbuzováním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32688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Snížením budicího proudu otáčky vzrostou nad jmenovité. Moment přitom klesá, výkon zůstává.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5"/>
          <p:cNvSpPr/>
          <p:nvPr/>
        </p:nvSpPr>
        <p:spPr>
          <a:xfrm>
            <a:off x="6510528" y="404164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346" y="4182466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Reverzace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Přepólováním kotvy nebo buzení. U motoru s permanentním magnetem stačí obrátit polaritu napájení.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Snadné a plynulé řízení otáček v celém rozsahu bylo dlouho hlavní výhodou stejnosměrných pohonů. Frekvenční měniče tuto výhodu smazaly.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3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Střídavé stroje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Točivé pole · asynchronní motor · rozběh a brzdění · synchronní stroj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Alternátor a vznik třífázové soustavy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trifaz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16" y="1280160"/>
            <a:ext cx="94846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Točivé magnetické pole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tocive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31" y="1280160"/>
            <a:ext cx="890985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Asynchronní motor – konstrukce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asynchron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77" y="1280160"/>
            <a:ext cx="104045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Skluz a synchronní otáčky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sklu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614" y="1280160"/>
            <a:ext cx="91882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Momentová charakteristika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moment_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58" y="1280160"/>
            <a:ext cx="1013880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Rozběh asynchronního motoru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rozb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08" y="1280160"/>
            <a:ext cx="1050090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Zapojení na svorkovnici motoru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fig/ph_hvez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74" y="1481328"/>
            <a:ext cx="3354131" cy="3072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Hvězda – jedna spojka přemostí U2, V2, W2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fig/ph_trojuhelni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702" y="1481328"/>
            <a:ext cx="3217156" cy="30723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Trojúhelník – tři spojky nastojato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052560" y="137160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7"/>
          <p:cNvSpPr txBox="1"/>
          <p:nvPr/>
        </p:nvSpPr>
        <p:spPr>
          <a:xfrm>
            <a:off x="92811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je na svorkovnici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81160" y="1920240"/>
            <a:ext cx="2011680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15900" indent="-215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šest vývodů vinutí: U1–U2, V1–V2, W1–W2</a:t>
            </a:r>
            <a:endParaRPr lang="en-US" sz="1250" dirty="0"/>
          </a:p>
          <a:p>
            <a:pPr marL="215900" indent="-215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přívod sítě vždy na U1, V1, W1</a:t>
            </a:r>
            <a:endParaRPr lang="en-US" sz="1250" dirty="0"/>
          </a:p>
          <a:p>
            <a:pPr marL="215900" indent="-215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spojky rozhodnou o zapojení</a:t>
            </a:r>
            <a:endParaRPr lang="en-US" sz="1250" dirty="0"/>
          </a:p>
          <a:p>
            <a:pPr marL="215900" indent="-215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ochranná svorka PE je mimo spojky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0"/>
          <p:cNvSpPr txBox="1"/>
          <p:nvPr/>
        </p:nvSpPr>
        <p:spPr>
          <a:xfrm>
            <a:off x="914400" y="53583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Záměna zapojení je nejčastější příčina spálení motoru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57241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určený do hvězdy zapojený do trojúhelníku dostane na vinutí √3násobek napětí. Proud vzroste nad trojnásobek a vinutí se během minut přehřeje.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Brzdění asynchronního motoru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brzd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0881360" cy="38730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4864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614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Mechanická brzda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používá jako doplněk tam, kde musí pohon zůstat zabrzděný i bez napájení – u výtahů a jeřábů.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54864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6492240" y="5614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Rekuperace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vyplatí tam, kde se brzdí často – u výtahů, jeřábů a v trakci vrací podstatnou část energie zpět.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Asynchronní motor jako generátor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Podmínka generátorického chodu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4846320" cy="17373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otáčky rotoru musí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přesáhnout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otáčky točivého pole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skluz je pak záporný a stroj dodává činný výkon do sítě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 si musí odebírat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jalový výkon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vytvoření pole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připojení k síti se sám nevybudí – potřebuje kondenzátorovou baterii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Kde se používá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11680"/>
            <a:ext cx="4846320" cy="17373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malé vodní elektrárny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levnější řešení pro větrné elektrárny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kogenerační jednotky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záchytné brzdění pohonů s rekuperací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91440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je to výhodné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 nepotřebuje žádnou úpravu – je to tentýž motor. Odpadá buzení, regulace napětí i synchronizace se sítí, protože kmitočet i napětí určuje síť.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 txBox="1"/>
          <p:nvPr/>
        </p:nvSpPr>
        <p:spPr>
          <a:xfrm>
            <a:off x="914400" y="5596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Omezení: při výpadku sítě generátor okamžitě přestane pracovat, protože ztratí zdroj jalového výkonu. Ostrovní provoz bez kondenzátorů není možný.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Jednofázový asynchronní motor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jednofa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7951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Komutátorový motor na střídavý proud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univerzal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31" y="1280160"/>
            <a:ext cx="890985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Synchronní stroj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synchron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7951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4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Speciální točivé stroje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Krokový motor · BLDC · servomotor · lineární motor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Krokový motor – princip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krokovy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16" y="1280160"/>
            <a:ext cx="94846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Konstrukční provedení krokových motorů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krok_konstruk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7863840" cy="34654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371600"/>
            <a:ext cx="28346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" name="Image 1" descr="fig/ph_krokov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1481328"/>
            <a:ext cx="2157984" cy="21579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Hybridní krokové motory v provedení NEMA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686800" y="4389120"/>
            <a:ext cx="2834640" cy="1874520"/>
          </a:xfrm>
          <a:prstGeom prst="roundRect">
            <a:avLst>
              <a:gd name="adj" fmla="val 390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5"/>
          <p:cNvSpPr txBox="1"/>
          <p:nvPr/>
        </p:nvSpPr>
        <p:spPr>
          <a:xfrm>
            <a:off x="8915400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Velikost kroku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915400" y="491947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Dána počtem pólů rotoru a cívek statoru. Nejběžnější jsou motory s krokem 1,8°, tedy 200 kroků na otáčku.</a:t>
            </a:r>
            <a:endParaRPr lang="en-US" sz="12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Řízení krokových motorů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mikrokr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4263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Mikrokrokování nezvyšuje přesnost polohování – zvyšuje jen rozlišení a plynulost. Skutečnou přesnost omezuje mechanika a magnetická nesymetrie motoru.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Vlastnosti krokových motorů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627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Přednosti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4846320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plně digitální řízení – poloha je dána počtem impulzů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drží polohu i při nulové rychlosti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vysoký moment při nízkých otáčkách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rotace oběma směry bez jakékoli úpravy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kartáčů, dlouhá životnost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6492240" y="1627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Omezení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48840"/>
            <a:ext cx="4846320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mechanickém přetížení ztratí krok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snímače nemá informaci o skutečné poloze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omezené maximální otáčky, zhruba do 1500 ot/min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odebírá plný proud i když stojí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hlučnější a chvěje se, zvlášť při plném kroku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1663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914400" y="5321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Ztráta kroku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669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Stav, kdy počet přivedených impulzů neodpovídá skutečnému natočení hřídele. Řídicí systém o tom neví a dál počítá s chybnou polohou – proto se v přesných aplikacích doplňuje enkodér nebo se používá servomotor.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Bezkartáčový stejnosměrný motor (BLDC)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bldc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614" y="1280160"/>
            <a:ext cx="91882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Snímání polohy a regulační smyčka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riz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9796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Vlastnosti BLDC motorů a servomotory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fig/ph_bld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85" y="1481328"/>
            <a:ext cx="3185190" cy="17922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Řez BLDC motorem: magnety na rotoru, vinutí ve statoru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393192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fig/ph_serv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898" y="4041648"/>
            <a:ext cx="1071963" cy="16550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907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Modelářské servo s převodovkou a zpětnou vazbou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13716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7"/>
          <p:cNvSpPr txBox="1"/>
          <p:nvPr/>
        </p:nvSpPr>
        <p:spPr>
          <a:xfrm>
            <a:off x="4864608" y="15087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 kartáčů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64608" y="18470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odpadá opotřebení i jiskření; životnost až 20 000 hodin</a:t>
            </a:r>
            <a:endParaRPr lang="en-US" sz="122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0"/>
          <p:cNvSpPr txBox="1"/>
          <p:nvPr/>
        </p:nvSpPr>
        <p:spPr>
          <a:xfrm>
            <a:off x="8339328" y="15087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Nízké rušení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339328" y="18470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nejiskří, proto se hodí do měřicí a zdravotnické techniky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4663440" y="27432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3"/>
          <p:cNvSpPr txBox="1"/>
          <p:nvPr/>
        </p:nvSpPr>
        <p:spPr>
          <a:xfrm>
            <a:off x="4864608" y="2880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Vyšší výkon na objem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864608" y="32186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stejném výkonu lehčí a menší než kartáčový motor</a:t>
            </a:r>
            <a:endParaRPr lang="en-US" sz="1220" dirty="0"/>
          </a:p>
        </p:txBody>
      </p:sp>
      <p:sp>
        <p:nvSpPr>
          <p:cNvPr id="19" name="Shape 15"/>
          <p:cNvSpPr/>
          <p:nvPr/>
        </p:nvSpPr>
        <p:spPr>
          <a:xfrm>
            <a:off x="8138160" y="27432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6"/>
          <p:cNvSpPr txBox="1"/>
          <p:nvPr/>
        </p:nvSpPr>
        <p:spPr>
          <a:xfrm>
            <a:off x="8339328" y="2880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Větší rozsah otáček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339328" y="32186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výrazně rychlejší odezva na změnu zátěže</a:t>
            </a:r>
            <a:endParaRPr lang="en-US" sz="1220" dirty="0"/>
          </a:p>
        </p:txBody>
      </p:sp>
      <p:sp>
        <p:nvSpPr>
          <p:cNvPr id="22" name="Shape 18"/>
          <p:cNvSpPr/>
          <p:nvPr/>
        </p:nvSpPr>
        <p:spPr>
          <a:xfrm>
            <a:off x="4663440" y="41148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Text 19"/>
          <p:cNvSpPr txBox="1"/>
          <p:nvPr/>
        </p:nvSpPr>
        <p:spPr>
          <a:xfrm>
            <a:off x="4864608" y="4251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Nutná elektronika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864608" y="45902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sám o sobě nefunguje; dnes bývá integrovaná v motoru</a:t>
            </a:r>
            <a:endParaRPr lang="en-US" sz="1220" dirty="0"/>
          </a:p>
        </p:txBody>
      </p:sp>
      <p:sp>
        <p:nvSpPr>
          <p:cNvPr id="25" name="Shape 21"/>
          <p:cNvSpPr/>
          <p:nvPr/>
        </p:nvSpPr>
        <p:spPr>
          <a:xfrm>
            <a:off x="8138160" y="41148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2"/>
          <p:cNvSpPr txBox="1"/>
          <p:nvPr/>
        </p:nvSpPr>
        <p:spPr>
          <a:xfrm>
            <a:off x="8339328" y="4251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Vyšší cena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339328" y="459028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magnety i elektronika zdražují; vyplatí se u delšího provozu</a:t>
            </a:r>
            <a:endParaRPr lang="en-US" sz="1220" dirty="0"/>
          </a:p>
        </p:txBody>
      </p:sp>
      <p:sp>
        <p:nvSpPr>
          <p:cNvPr id="28" name="Shape 24"/>
          <p:cNvSpPr/>
          <p:nvPr/>
        </p:nvSpPr>
        <p:spPr>
          <a:xfrm>
            <a:off x="4663440" y="5486400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Text 25"/>
          <p:cNvSpPr txBox="1"/>
          <p:nvPr/>
        </p:nvSpPr>
        <p:spPr>
          <a:xfrm>
            <a:off x="4892040" y="5715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Použití: ventilátory, pevné disky, ruční nářadí, drony, elektromobily, čerpadla v přístrojích. Výkony do desítek kW.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Frekvenční měnič a invertorové motory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frekvenc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4263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778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7881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Invertorové motory v pračkách, chladničkách a klimatizacích jsou právě tento případ: motor řízený měničem místo prostého připojení na síť.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Lineární pohon a lineární motor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pic>
        <p:nvPicPr>
          <p:cNvPr id="4" name="Image 0" descr="fig/linear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7951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Aplikace lineárních motorů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fig/ph_magle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4" y="1481328"/>
            <a:ext cx="4613392" cy="3072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754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Vlak maglev – stator je rozvinutý podél celé trati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3716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6382512" y="1481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Polohovací systémy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92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rychlé a přesné osy bez vůle v převodu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235000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 txBox="1"/>
          <p:nvPr/>
        </p:nvSpPr>
        <p:spPr>
          <a:xfrm>
            <a:off x="6382512" y="24597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Mikromanipulátory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770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polohování v řádu mikrometrů, i v laboratorní technice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3328416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 txBox="1"/>
          <p:nvPr/>
        </p:nvSpPr>
        <p:spPr>
          <a:xfrm>
            <a:off x="6382512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CNC obráběcí stroje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382512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vysoké rychlosti posuvu a zrychlení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26480" y="4306824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4"/>
          <p:cNvSpPr txBox="1"/>
          <p:nvPr/>
        </p:nvSpPr>
        <p:spPr>
          <a:xfrm>
            <a:off x="6382512" y="44165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Robotika a dopravníky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47274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přímý pohyb bez řemenů a šroubů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26480" y="5285232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Text 17"/>
          <p:cNvSpPr txBox="1"/>
          <p:nvPr/>
        </p:nvSpPr>
        <p:spPr>
          <a:xfrm>
            <a:off x="6382512" y="5394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Doprava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6382512" y="57058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pohon vlaků s magnetickou levitací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5303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Moderní lineární motory dosahují zrychlení až 5 g, což je s točivým motorem a mechanickým převodem nedosažitelné.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Srovnání typů motorů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42976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motoru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Napájení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Řízení otáček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Záběrný moment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Kartáče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Typické použití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Stejnosměrný s perm. magnetem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napětím nebo PWM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modely, malé pohony, ventilátory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Stejnosměrný sériový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i 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napětím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velmi velký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startéry, trakce, ruční nářadí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Stejnosměrný derivační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napětím, odbuzováním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menší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obráběcí stroje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Univerzální komutátorový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AC i 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fázovou regulací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vrtačky, mixéry, vysavače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Asynchronní s kotvou nakrátko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frekvenčním měničem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střední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čerpadla, ventilátory, obrábění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Jednofázový asynchronní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prakticky nelze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domácí spotřebiče, malá čerpadla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Synchronní / PMSM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AC + měnič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měničem, otáčky přesné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měniče nulový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servopohony, elektromobily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Krokový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impulzy z budiče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počtem impulzů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velký i při stání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tiskárny, polohování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BLDC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+ elektronika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elektronicky, plynule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drony, nářadí, pevné disky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Kartáče určují nutnost údržby: motor s kartáči vyžaduje pravidelnou kontrolu a výměnu, bezkartáčový je prakticky bezúdržbový a nejiskří.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Shrnutí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Elektrické stroje a transformátory  ·  Přednáška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68680" y="1572768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86868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54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Transformátor pracuje jen se střídavým proudem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se indukuje při změně magnetického toku. Napětí se transformuje v poměru závitů, proud v poměru obráceném, výkon se nemění.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6446520" y="1572768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644652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1554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Jádro se plechuje kvůli vířivým proudům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 jádra určuje pracovní kmitočet: ocel pro 50 Hz, ferit pro spínané zdroje.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999232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868680" y="3200400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 txBox="1"/>
          <p:nvPr/>
        </p:nvSpPr>
        <p:spPr>
          <a:xfrm>
            <a:off x="86868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1821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Komutátor je mechanický přepínač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Udržuje směr proudu ve vodičích pod pólem, a tím stálý smysl momentu. Zároveň je nejslabším místem stroje.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999232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6446520" y="3200400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 txBox="1"/>
          <p:nvPr/>
        </p:nvSpPr>
        <p:spPr>
          <a:xfrm>
            <a:off x="644652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31821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Točivé pole vzniká ze tří proudů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vinutí po 120° napájená třemi proudy po 120° dají pole otáčející se synchronními otáčkami n</a:t>
            </a:r>
            <a:r>
              <a:rPr lang="en-US" sz="1250" baseline="-40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60 f / p.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868680" y="4828032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 txBox="1"/>
          <p:nvPr/>
        </p:nvSpPr>
        <p:spPr>
          <a:xfrm>
            <a:off x="86868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48097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Asynchronní motor potřebuje skluz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4681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rozdílu otáček se nic neindukuje a nevzniká moment. Při jmenovitém zatížení je skluz 2 až 6 %.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626864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46520" y="4828032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 txBox="1"/>
          <p:nvPr/>
        </p:nvSpPr>
        <p:spPr>
          <a:xfrm>
            <a:off x="644652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76288" y="48097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Elektronika nahradila komutátor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4681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BLDC, krokové a synchronní motory s měničem dávají stejné možnosti řízení bez kartáčů a bez jiskření.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3423</Words>
  <Application>Microsoft Office PowerPoint</Application>
  <PresentationFormat>Widescreen</PresentationFormat>
  <Paragraphs>434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Přednáška 5 · Elektrické stroje a transformátory</dc:title>
  <dc:subject>PptxGenJS Presentation</dc:subject>
  <dc:creator>Jiří Sekora, Martin Králík</dc:creator>
  <cp:lastModifiedBy>Králík Martin (133972)</cp:lastModifiedBy>
  <cp:revision>2</cp:revision>
  <dcterms:created xsi:type="dcterms:W3CDTF">2026-10-26T07:17:25Z</dcterms:created>
  <dcterms:modified xsi:type="dcterms:W3CDTF">2026-10-26T07:51:31Z</dcterms:modified>
</cp:coreProperties>
</file>