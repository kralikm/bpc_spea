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13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Jádro</c:v>
                </c:pt>
              </c:strCache>
            </c:strRef>
          </c:tx>
          <c:spPr>
            <a:solidFill>
              <a:srgbClr val="BE7C3D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42.4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0-4500-B795-F253E8AF58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Uhlí</c:v>
                </c:pt>
              </c:strCache>
            </c:strRef>
          </c:tx>
          <c:spPr>
            <a:solidFill>
              <a:srgbClr val="1E2A38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33.200000000000003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D0-4500-B795-F253E8AF58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Plyn</c:v>
                </c:pt>
              </c:strCache>
            </c:strRef>
          </c:tx>
          <c:spPr>
            <a:solidFill>
              <a:srgbClr val="5B6B78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5.2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D0-4500-B795-F253E8AF58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Ostatní fosilní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D0-4500-B795-F253E8AF584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Vítr</c:v>
                </c:pt>
              </c:strCache>
            </c:strRef>
          </c:tx>
          <c:spPr>
            <a:solidFill>
              <a:srgbClr val="3C7DC4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0.9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D0-4500-B795-F253E8AF584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Slunce</c:v>
                </c:pt>
              </c:strCache>
            </c:strRef>
          </c:tx>
          <c:spPr>
            <a:solidFill>
              <a:srgbClr val="D39A1E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6.6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BD0-4500-B795-F253E8AF584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Voda, biomasa a ostatní</c:v>
                </c:pt>
              </c:strCache>
            </c:strRef>
          </c:tx>
          <c:spPr>
            <a:solidFill>
              <a:srgbClr val="3E8E63"/>
            </a:solidFill>
            <a:effectLst/>
          </c:spPr>
          <c:invertIfNegative val="0"/>
          <c:dLbls>
            <c:numFmt formatCode="[&lt;2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cs-CZ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ČR 2025</c:v>
                </c:pt>
                <c:pt idx="1">
                  <c:v>EU 2025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11.7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D0-4500-B795-F253E8AF584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59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Hodnoty jsou orientační (spotřeba pračky a elektromobilu se liší podle modelu a podmínek). Cílem je získat cit pro velikost jednotky 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Příklad: trojfázový motor 10 kW, 400 V, cos φ = 0,70. I = P / (√3 · U · cos φ) = 20,6 A. Po kompenzaci na cos φ = 0,95 teče 15,2 A. Potřebný jalový výkon kondenzátorů Qc = P · (tg φ1 − tg φ2) = 10 · (1,02 − 0,33) ≈ 6,9 kvar.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GIF animace (váha výroby a spotřeby) se přehrává automaticky v režimu prezentace i v normálním zobrazení PowerPointu.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Energie horní nádrže: 650 MW × 6 h ≈ 3,9 GWh (orientačně). Srovnání s baterií elektromobilu 60 kWh: 3,9 GWh / 60 kWh ≈ 65 000. Účinnost cyklu přečerpávacích elektráren je zhruba 70–80 %. Zdroj: ČEZ, oEnergetice.cz.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Zdroj: ENTSO-E, Expert Panel Final Report on the 28 April 2025 blackout (20. 3. 2026). Mezi příčinami zpráva uvádí oscilace, mezery v řízení napětí a jalového výkonu, rozdílné postupy regulace napětí a rychlé snižování výkonu a odpojování zdrojů ve Španělsku.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Přetížení: obvod je v pořádku, jen je připojeno příliš mnoho spotřebičů (např. 3 × 2 kW na jednom okruhu = 26 A na jističi B16). Zkrat: spojení vodičů přes zanedbatelný odpor, proud omezuje jen impedance smyčky – stovky až tisíce ampér.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GIF: nejdřív popis jističe, pak přetížení 1,5 × In (bimetal se zahřívá a ohýbá → vypnutí), opětovné zapnutí a nakonec zkrat 100 × In (elektromagnetická spoušť, oblouk ve zhášecí komoře). Animace běží v PowerPointu automaticky.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Prahy podle IEC 60479-1 (orientačně, pro 50 Hz a dráhu ruka–nohy): práh vnímání ≈ 0,5 mA, práh uvolnění ≈ 5–10 mA, nad ≈ 30–50 mA roste riziko fibrilace komor v závislosti na době průchodu. Odpor těla při 230 V je řádově 1 kΩ.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 transformátoru vede PEN (4 vodiče: L1, L2, L3, PEN). V hlavním rozvaděči budovy se PEN rozdělí na N a PE a uzemní se; dál vede 5 vodičů. Za bodem rozdělení se N a PE nesmějí znovu spojit – jinak by část pracovního proudu tekla ochranným vodičem a chránič by nefungoval.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Z_s je impedance poruchové smyčky (zdroj – fázový vodič – místo poruchy – PE – zdroj), I_a proud, který zajistí vypnutí v předepsaném čase (u B16 okamžité vypnutí od 5 × In), U_0 = 230 V. Časy podle ČSN 33 2000-4-41 ed. 3. Animace (GIF) se přehrává automaticky.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GIF: 1) normální stav – toky v toroidu se ruší; 2) člověk se dotkne poškozeného vodiče – část proudu teče tělem do země, v toroidu vznikne tok a indukuje se napětí; 3) relé uvolní západku a kontakty se rozpojí.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41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20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jpe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985248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77856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570464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863072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15568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69264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985248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77856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70464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863072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15568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969264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85248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277856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0570464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63072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115568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69264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985248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10277856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570464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863072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15568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985248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77856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570464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63072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1115568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969264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9985248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0277856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10570464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10863072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1115568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969264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9985248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10277856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10570464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10863072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1115568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969264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985248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277856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0570464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863072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115568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69264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985248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10277856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570464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10863072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1115568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969264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9985248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10277856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10570464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10863072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1115568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22960" y="2606040"/>
            <a:ext cx="8595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Přednáška 3 · Elektrická energie, rozvody a jištění</a:t>
            </a:r>
            <a:endParaRPr lang="en-US" sz="4000" dirty="0"/>
          </a:p>
        </p:txBody>
      </p:sp>
      <p:sp>
        <p:nvSpPr>
          <p:cNvPr id="64" name="Text 62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Silnoproudá a přístrojová elektrotechnika · Biomedicínské inženýrství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nás dnes čeká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19897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Výkon a střídavý proud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703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 a výkon, efektivní hodnota, účiník a kompenzace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3749040" y="182880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974" y="198973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490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Výroba a rozvod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749040" y="3703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elektřiny do zásuvky, přenosová soustava, mix zdrojů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3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174" y="198973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Kvalita elektřiny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703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musí splňovat napětí v zásuvce a jaké poruchy se v síti objevují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961120" y="15087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18"/>
          <p:cNvSpPr/>
          <p:nvPr/>
        </p:nvSpPr>
        <p:spPr>
          <a:xfrm>
            <a:off x="9235440" y="1828800"/>
            <a:ext cx="731520" cy="73152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374" y="198973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354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Jištění a ochrana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703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pojistka, jistič, proudový chránič, přepěťové ochrany, úraz proudem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31520" y="530352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4"/>
          <p:cNvSpPr/>
          <p:nvPr/>
        </p:nvSpPr>
        <p:spPr>
          <a:xfrm>
            <a:off x="960120" y="5440680"/>
            <a:ext cx="594360" cy="5943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" y="5571439"/>
            <a:ext cx="332842" cy="33284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783080" y="53035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to potřebuje biomedicínský inženýr?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Zdravotnické přístroje jsou napájené ze sítě a pacient bývá s přístrojem vodivě spojen – elektrická bezpečnost je v nemocnici otázkou života.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Výkon, práce a střídavý proud</a:t>
            </a:r>
            <a:endParaRPr lang="en-US" sz="34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Výkon a práce elektrického proudu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566928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 P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udává, jak rychle se elektrická energie mění v jinou formu – teplo, světlo, pohyb. Jednotka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 [W]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 (energie) W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výkon působící po určitou dobu. Jednotka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[J = W·s]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 praxi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kilowatthodina [kWh]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rezistor dosadíme Ohmův zákon a výkon vyjádříme přes odpor.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960120" y="40690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U · I      [W; V, A]</a:t>
            </a:r>
            <a:endParaRPr lang="en-US" sz="1800" dirty="0"/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P · t      [J; W, s]</a:t>
            </a:r>
            <a:endParaRPr lang="en-US" sz="1800" dirty="0"/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R · I</a:t>
            </a:r>
            <a:r>
              <a:rPr lang="en-US" sz="18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U</a:t>
            </a:r>
            <a:r>
              <a:rPr lang="en-US" sz="18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kWh = 1 000 W · 3 600 s = 3,6 MJ</a:t>
            </a:r>
            <a:endParaRPr lang="en-US" sz="1400" dirty="0"/>
          </a:p>
        </p:txBody>
      </p:sp>
      <p:pic>
        <p:nvPicPr>
          <p:cNvPr id="8" name="Image 0" descr="fig/vykon_ploc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17320"/>
            <a:ext cx="4937760" cy="34387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se výkon v čase mění, energie je plocha pod křivkou: W = ∫ p(t) dt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 je vlastně 1 kWh?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60120" y="1417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 kWh = 3,6 MJ ≈ 860 kcal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1371600" y="2633472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34" y="2794406"/>
            <a:ext cx="409651" cy="4096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rychlovarná konvice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kW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 minut varu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926080" y="23774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566160" y="2633472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94" y="2794406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175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žárovka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 W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 hodin svícení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120640" y="23774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6"/>
          <p:cNvSpPr/>
          <p:nvPr/>
        </p:nvSpPr>
        <p:spPr>
          <a:xfrm>
            <a:off x="5760720" y="2633472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654" y="2794406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120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pračka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 program 40–60 °C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21208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 praní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15200" y="23774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1"/>
          <p:cNvSpPr/>
          <p:nvPr/>
        </p:nvSpPr>
        <p:spPr>
          <a:xfrm>
            <a:off x="7955280" y="2633472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214" y="2794406"/>
            <a:ext cx="409651" cy="40965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elektromobil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 kWh / 100 km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40664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 km jízdy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9509760" y="23774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26"/>
          <p:cNvSpPr/>
          <p:nvPr/>
        </p:nvSpPr>
        <p:spPr>
          <a:xfrm>
            <a:off x="10149840" y="2633472"/>
            <a:ext cx="731520" cy="73152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0774" y="2794406"/>
            <a:ext cx="409651" cy="40965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0120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člověk v klidu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6012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 W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60120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 hodin života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731520" y="5303520"/>
            <a:ext cx="10789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1"/>
          <p:cNvSpPr txBox="1"/>
          <p:nvPr/>
        </p:nvSpPr>
        <p:spPr>
          <a:xfrm>
            <a:off x="960120" y="5303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Příklad: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konvice 2 kW vaří 3,5 minuty → W = 2 kW · (3,5 / 60) h ≈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 kWh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Člověk v klidu (bazální metabolismus ≈ 2 000 kcal/den) „běží“ zhruba na 100 W.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Střídavý proud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76072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Proud, jehož směr i velikost se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periodicky mění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anglicky AC (alternating current).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Střídavá veličina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 za periodu nulovou střední hodnotu: plocha nad a pod časovou osou je stejná. Tvar nemusí být sinusový.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Evropská síť má frekvenci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 Hz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(USA a Kanada 60 Hz) → perioda T = 1/f =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 ms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v zásuvce kmitá mezi +325 V a −325 V. Údaj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 V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jeho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efektivní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hodnota.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9834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960120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u(t) = U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sin(2π f t)</a:t>
            </a:r>
            <a:endParaRPr lang="en-US" sz="18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√2 · 230 V ≈ 325 V</a:t>
            </a:r>
            <a:endParaRPr lang="en-US" sz="1800" dirty="0"/>
          </a:p>
        </p:txBody>
      </p:sp>
      <p:pic>
        <p:nvPicPr>
          <p:cNvPr id="7" name="Image 0" descr="fig/sit_2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4937760" cy="3160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Efektivní hodnota – proč 230 V a ne 325 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852160" cy="2926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Efektivní hodnota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střídavého proudu je taková hodnota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stejnosměrného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proudu, který by v rezistoru za periodu vyvinul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teplo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Teplo závisí na i</a:t>
            </a:r>
            <a:r>
              <a:rPr lang="en-US" sz="1600" baseline="3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které je vždy kladné → zprůměrujeme i</a:t>
            </a:r>
            <a:r>
              <a:rPr lang="en-US" sz="1600" baseline="3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 odmocníme (RMS = root mean square).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Voltmetr v režimu AC ukazuje efektivní hodnotu – u nesinusových průběhů přesně jen přístroje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RMS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5262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960120" y="45262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 = √( (1/T) · ∫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18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</a:t>
            </a:r>
            <a:r>
              <a:rPr lang="en-US" sz="18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 dt )</a:t>
            </a:r>
            <a:endParaRPr lang="en-US" sz="1800" dirty="0"/>
          </a:p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sinus:  I = I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√2 ≈ 0,707 · I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800" dirty="0"/>
          </a:p>
        </p:txBody>
      </p:sp>
      <p:pic>
        <p:nvPicPr>
          <p:cNvPr id="7" name="Image 0" descr="fig/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63040"/>
            <a:ext cx="4846320" cy="3595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Příkon, výkon a účinnost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120640" cy="3108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Příkon P</a:t>
            </a:r>
            <a:r>
              <a:rPr lang="en-US" sz="1600" b="1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výkon, který spotřebič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odebírá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zdroje (ze sítě). Na štítku spotřebiče bývá uveden právě příkon.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 P</a:t>
            </a:r>
            <a:r>
              <a:rPr lang="en-US" sz="1600" b="1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užitečný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výkon na výstupu: mechanický na hřídeli, světelný, tepelný…</a:t>
            </a:r>
            <a:endParaRPr lang="en-US" sz="1600" dirty="0"/>
          </a:p>
          <a:p>
            <a:pPr marL="279400" indent="-2794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Rozdíl P</a:t>
            </a:r>
            <a:r>
              <a:rPr lang="en-US" sz="160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P</a:t>
            </a:r>
            <a:r>
              <a:rPr lang="en-US" sz="160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tvoří </a:t>
            </a: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ztráty</a:t>
            </a: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(většinou teplo), proto je výkon vždy menší než příkon.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61772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960120" y="4617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P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P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&lt; 1</a:t>
            </a:r>
            <a:endParaRPr lang="en-US" sz="18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850 W / 1 000 W = 0,85 = 85 %</a:t>
            </a:r>
            <a:endParaRPr lang="en-US" sz="1800" dirty="0"/>
          </a:p>
        </p:txBody>
      </p:sp>
      <p:pic>
        <p:nvPicPr>
          <p:cNvPr id="7" name="Image 0" descr="fig/sa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28715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4983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Elektromotor: z 1 kW příkonu se 150 W změní v teplo, tření a ventilaci.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Výkon ve střídavém obvodu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vykon_po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852160" cy="41558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1463040"/>
            <a:ext cx="493776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Okamžitý výkon je součin okamžitých hodnot: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p(t) = u(t) · i(t)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Odporová zátěž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(topení, konvice): u a i jsou ve fázi → p ≥ 0, veškerá energie se spotřebuje.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(motor, tlumivka) nebo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zátěž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proud je posunut o úhel φ → část periody je p &lt; 0 a energie se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vrací zpět do zdroje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Tato „přelévaná“ energie nekoná práci, ale vodiči teče →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výkon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675120" y="52578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6903720" y="5257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U · I · cos φ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jalový výkon vadí a jak ho kompenzovat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kompenz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10515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3492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96112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proud nekoná práci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protéká vedením a transformátory – zvyšuje ztráty R·I</a:t>
            </a:r>
            <a:r>
              <a:rPr lang="en-US" sz="1200" baseline="3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 blokuje kapacitu sítě.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89120" y="53492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4553712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Kondenzátor dodá Q na místě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proud se přelévá mezi motorem a C; ze sítě teče jen 15,2 A místo 20,6 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53492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8211312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Účiník se platí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velcí odběratelé (VN, VVN) platí přirážku, když nedodrží účiník zhruba 0,95–1.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Kompenzace v praxi: jalovým výkonem se řídí napětí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 přenosové soustavě je jalový výkon hlavní „páka“ na napětí: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kondenzátorové baterie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jalový výkon dodávají (napětí roste),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kompenzační tlumivky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 odebírají (napětí klesá). Tlumivky jsou potřeba hlavně v noci a při malém zatížení, kdy vedení samo „vyrábí“ jalový výkon svou kapacitou.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3035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un/ppt/media/image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79344"/>
            <a:ext cx="5084064" cy="30080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2560320"/>
            <a:ext cx="53035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un/ppt/media/image1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624" y="2670048"/>
            <a:ext cx="4035552" cy="30266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Kompenzační zařízení v rozvodně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Menší rozvodna s kompenzátorem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Výroba a rozvod elektrické energie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elektřiny z elektrárny až do zásuvky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v síti teče střídavý proud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Koncem 19. století proběhla „válka proudů“: Edison prosazoval stejnosměrný proud, Westinghouse a Tesla střídavý. Vyhrál střídavý – hlavně díky transformátoru.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44236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Výhody střídavého proudu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017520"/>
            <a:ext cx="484632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Transformátor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snadno zvýší i sníží napětí; odbočky umožňují jemné nastavení.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Alternátory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nepotřebují komutátor → jednodušší a spolehlivější než dynama.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každou půlperiodu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prochází nulou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snáz se vypíná, oblouk sám zhasíná.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4423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Nevýhody střídavého proudu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017520"/>
            <a:ext cx="484632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generátory v propojené soustavě musí běžet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synchronně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(50 Hz).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Indukčnost a kapacita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vedení ovlivňují přenos; dlouhé kabely mají velké nabíjecí proudy.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Kromě činného výkonu je nutné řídit i 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výkon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(účiník, napětí).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31520" y="553212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2"/>
          <p:cNvSpPr txBox="1"/>
          <p:nvPr/>
        </p:nvSpPr>
        <p:spPr>
          <a:xfrm>
            <a:off x="96012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Stejnosměrný proud se vrací: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přenosy HVDC (podmořské kabely, velké vzdálenosti), fotovoltaika, baterie a veškerá elektronika.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se elektřina přenáší vysokým napětím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60120" y="14173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 = P / U</a:t>
            </a:r>
            <a:endParaRPr lang="en-US" sz="2000" dirty="0"/>
          </a:p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= R · I</a:t>
            </a:r>
            <a:r>
              <a:rPr lang="en-US" sz="20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5486400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stejný přenášený výkon znamená vyšší napětí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menší proud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Ztráty ve vedení rostou s 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druhou mocninou proudu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dvojnásobné napětí = čtvrtinové ztráty.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– 100 MW trojfázovým vedením: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 kV → 2 600 A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kV → 525 A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 kV → 144 A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914400" y="5230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330 ×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51206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menší ztráty při 400 kV než při 22 kV (stejné vedení, stejný výkon)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50749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0" descr="un/ppt/media/image1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02800"/>
            <a:ext cx="4892040" cy="3252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92240" y="5532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Vedení 400 kV – nejvyšší napětí přenosové soustavy ČR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Cesta elektřiny: od generátoru do zásuvky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ce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44069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se mění v </a:t>
            </a:r>
            <a:r>
              <a:rPr lang="en-US" sz="13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transformátorech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 rozvodnách. Přenosovou soustavu provozuje </a:t>
            </a:r>
            <a:r>
              <a:rPr lang="en-US" sz="13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ČEPS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distribuční soustavy regionální </a:t>
            </a:r>
            <a:r>
              <a:rPr lang="en-US" sz="13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distributoři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Výška sloupců je jen orientační (logaritmická).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Přenosová soustava ČR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400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un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5115"/>
            <a:ext cx="6217920" cy="38449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přenosové soustavy ČR: vedení 400 kV a 220 kV, rozvodny (ilustrační)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417320"/>
            <a:ext cx="4297680" cy="4663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ČEPS, a.s.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provozovatel přenosové soustavy (PPS, anglicky TSO): řídí toky elektřiny, udržuje rovnováhu a napětí.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Soustavu tvoří vedení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 kV a 220 kV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 vybraná 110 kV), rozvodny a transformátory.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propojena se sousedy → součást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synchronní soustavy kontinentální Evropy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(ENTSO-E).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Musí splnit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kritérium N-1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výpadek libovolného jednoho prvku nesmí ohrozit provoz.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Výroba musí v každém okamžiku odpovídat spotřebě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vah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760720" cy="37804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Animace se přehraje v režimu prezentace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417320"/>
            <a:ext cx="502920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Elektřinu nelze snadno skladovat → výroba a spotřeba musí být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stále v rovnováze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Ukazatelem je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frekvence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převýší-li spotřeba výrobu, generátory se brzdí a frekvence klesá (a naopak).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 Hz ± 1 %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 99,5 % roku; v praxi se odchylky drží v desítkách mHz.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Odchylky vyrovnávají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podpůrné služby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rychle regulovatelné zdroje, přečerpávací elektrárny, baterie.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 Hz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začíná automatické odpojování části odběru (frekvenční odlehčování).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„skladovat“ elektřinu: Dlouhé stráně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868680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325 MW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56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největší instalovaný výkon v ČR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65576" y="137160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3602736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510,7 m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3557016" y="1956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největší spád v ČR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6336792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 h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956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plný výkon z horní nádrže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3688" y="137160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9070848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9025128" y="1956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najetí na plný výkon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0" descr="un/ppt/media/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2679192"/>
            <a:ext cx="3279648" cy="245973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3152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Generátory 2 × 325 MW v podzemní hale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79976" y="260604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1" descr="un/ppt/media/image1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512" y="2679192"/>
            <a:ext cx="3279648" cy="24597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379976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Reverzní Francisova turbína – největší v Evropě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28432" y="260604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3" name="Image 2" descr="un/ppt/media/image1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968" y="2679192"/>
            <a:ext cx="3279648" cy="245973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28432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Vyvedení výkonu do sítě 400 kV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31520" y="56692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1"/>
          <p:cNvSpPr txBox="1"/>
          <p:nvPr/>
        </p:nvSpPr>
        <p:spPr>
          <a:xfrm>
            <a:off x="960120" y="5669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přebytku čerpá vodu nahoru, při nedostatku ji pouští přes turbínu. Uloží ≈ 3,9 GWh – asi jako baterie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65 000 elektromobilů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čeho se vyrábí elektřina: EU a ČR v roce 2025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63040"/>
            <a:ext cx="3840480" cy="4114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EU: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vítr a slunce (30 %) poprvé vyrobily víc než fosilní zdroje (29 %); obnovitelné zdroje celkem 48 %.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Slunce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(13 %) už v EU vyrábí víc než uhlí (9 %).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ČR: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základ tvoří jádro (42 %) a uhlí (33 %); obnovitelné zdroje asi 17 %. Celkem 71,4 TWh.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Údaje v % výroby elektřiny. Zdroj: Ember – European Electricity Review 2026; Energostat (oEnergetice.cz) pro ČR.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Obnovitelné zdroje a jejich rozmary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05840" y="1691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8425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Vodní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" y="2990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1005840" y="2990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řiditelné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4290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Akumulační a přečerpávací elektrárny najedou za minuty. V ČR je potenciál z velké části využit.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0" y="14173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3749040" y="1691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16" y="18425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490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Biomasa a bioplyn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749040" y="2990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2"/>
          <p:cNvSpPr txBox="1"/>
          <p:nvPr/>
        </p:nvSpPr>
        <p:spPr>
          <a:xfrm>
            <a:off x="3749040" y="2990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řiditelné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749040" y="34290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Spalování – v principu tepelná elektrárna. Vyrábí podle potřeby, pokud je palivo.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84251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Větrné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492240" y="2990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18"/>
          <p:cNvSpPr txBox="1"/>
          <p:nvPr/>
        </p:nvSpPr>
        <p:spPr>
          <a:xfrm>
            <a:off x="6492240" y="2990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počasí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34290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Vyrábí od rychlosti větru cca 3–4 m/s, plný výkon kolem 12 m/s, při vichřici (≈ 25 m/s) se odstaví.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961120" y="14173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1"/>
          <p:cNvSpPr/>
          <p:nvPr/>
        </p:nvSpPr>
        <p:spPr>
          <a:xfrm>
            <a:off x="9235440" y="1691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316" y="184251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354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Fotovoltaické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9235440" y="2990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4"/>
          <p:cNvSpPr txBox="1"/>
          <p:nvPr/>
        </p:nvSpPr>
        <p:spPr>
          <a:xfrm>
            <a:off x="9235440" y="2990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počasí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235440" y="34290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ve dne, za oblačnosti výkon klesá na zlomek; v poledne naopak hrozí přebytky.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31520" y="507492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27"/>
          <p:cNvSpPr txBox="1"/>
          <p:nvPr/>
        </p:nvSpPr>
        <p:spPr>
          <a:xfrm>
            <a:off x="96012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Výroba z větru a slunce se řídí počasím, ne spotřebou → soustava potřebuje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akumulaci, flexibilní zdroje a propojení se sousedy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ČEPS proto stanovuje tzv.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bilanční limit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kolik výkonu z kolísavých zdrojů lze bezpečně připojit.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Energetický slovník v šesti pojmech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766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45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Elektrizační soustava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Propojený celek výroby, přenosu, transformace a distribuce elektřiny včetně měřicích, ochranných a řídicích systémů.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9976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>
            <a:off x="4608576" y="1645920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277" y="17666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4376" y="1645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Přenosová × distribuční soustava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„Dálnice“ 400/220 kV (ČEPS) a „okresky“ od 110 kV po 230/400 V (ČEZ Distribuce, EG.D, PREdistribuce).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28432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1"/>
          <p:cNvSpPr/>
          <p:nvPr/>
        </p:nvSpPr>
        <p:spPr>
          <a:xfrm>
            <a:off x="8257032" y="1645920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733" y="17666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2832" y="1645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Dispečink ČEPS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57032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 reálném čase řídí toky, napětí a rovnováhu výroby a spotřeby, dálkově ovládá rozvodny.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3822192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5"/>
          <p:cNvSpPr/>
          <p:nvPr/>
        </p:nvSpPr>
        <p:spPr>
          <a:xfrm>
            <a:off x="960120" y="4050792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1" y="417149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050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Kritérium N-1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60120" y="4736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Soustava musí vydržet výpadek libovolného jednoho prvku – vedení, transformátoru nebo bloku elektrárny.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79976" y="3822192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19"/>
          <p:cNvSpPr/>
          <p:nvPr/>
        </p:nvSpPr>
        <p:spPr>
          <a:xfrm>
            <a:off x="4608576" y="4050792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9277" y="417149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94376" y="4050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Podpůrné služby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4736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Výkon, který ČEPS nakupuje na vyrovnávání odchylek: regulace výkonu, rychlý start (Quick Start), regulace napětí a jalového výkonu.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28432" y="3822192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3"/>
          <p:cNvSpPr/>
          <p:nvPr/>
        </p:nvSpPr>
        <p:spPr>
          <a:xfrm>
            <a:off x="8257032" y="4050792"/>
            <a:ext cx="548640" cy="54864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7733" y="417149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42832" y="4050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Blackout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57032" y="4736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Rozsáhlý výpadek napájení celé soustavy nebo její části. Obnova začíná „ze tmy“ (black start), typicky z vodních elektráren.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 txBox="1"/>
          <p:nvPr/>
        </p:nvSpPr>
        <p:spPr>
          <a:xfrm>
            <a:off x="82296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PŘÍPADOVÁ STUDIE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Blackout ve Španělsku a Portugalsku, 28. dubna 2025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52728" y="1874520"/>
            <a:ext cx="0" cy="3703320"/>
          </a:xfrm>
          <a:prstGeom prst="line">
            <a:avLst/>
          </a:prstGeom>
          <a:noFill/>
          <a:ln w="25400">
            <a:solidFill>
              <a:srgbClr val="B9C4C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310896" cy="310896"/>
          </a:xfrm>
          <a:prstGeom prst="ellipse">
            <a:avLst/>
          </a:prstGeom>
          <a:solidFill>
            <a:srgbClr val="BE7C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16459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691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španělské soustavě se objevily oscilace a začalo rychle růst napětí.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898648"/>
            <a:ext cx="310896" cy="310896"/>
          </a:xfrm>
          <a:prstGeom prst="ellipse">
            <a:avLst/>
          </a:prstGeom>
          <a:solidFill>
            <a:srgbClr val="BE7C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16459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7889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Řízení napětí a jalového výkonu nestačilo → přepětí → ochrany odpojovaly jeden zdroj za druhým.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995928"/>
            <a:ext cx="310896" cy="310896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164592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důsledek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886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Celé pevninské Španělsko a Portugalsko bez proudu: stála doprava, nemocnice jely na záložní zdroje.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5093208"/>
            <a:ext cx="310896" cy="310896"/>
          </a:xfrm>
          <a:prstGeom prst="ellipse">
            <a:avLst/>
          </a:prstGeom>
          <a:solidFill>
            <a:srgbClr val="BE7C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1645920" y="4983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obnova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983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Soustava se obnovovala postupně – napájení bylo obnoveno zhruba do rána následujícího dne.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1737360"/>
            <a:ext cx="3977640" cy="3886200"/>
          </a:xfrm>
          <a:prstGeom prst="roundRect">
            <a:avLst>
              <a:gd name="adj" fmla="val 1882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7863840" y="1965960"/>
            <a:ext cx="594360" cy="5943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599" y="209671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595360" y="1965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Poučení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274320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Závěrečná zpráva ENTSO-E (březen 2026) ji označuje za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událost prvního svého druhu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spustilo ji rychlé zvyšování napětí a kaskádové odpojování zdrojů.</a:t>
            </a:r>
            <a:endParaRPr lang="en-US" sz="1500" dirty="0"/>
          </a:p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výkon a řízení napětí tedy nejsou teorie z tabule – bez nich se soustava rozpadne.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Kvalita elektřiny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musí splňovat napětí v zásuvce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musí splňovat napětí v zásuvce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 V ± 10 %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velikost napětí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70048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207–253 V pro 95 % desetiminutových průměrů v týdnu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9976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4562856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Hz ± 1 %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kmitočet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670048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49,5–50,5 Hz po 99,5 % roku, vždy v mezích +4 / −6 %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28432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8211312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THD ≤ 8 %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tvar napětí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670048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celkové harmonické zkreslení způsobené spínanými zdroji, LED a měniči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03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stanovuje norma </a:t>
            </a:r>
            <a:r>
              <a:rPr lang="en-US" sz="1300" b="1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ČSN EN 50160</a:t>
            </a: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(charakteristiky napětí ve veřejných sítích).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51960"/>
            <a:ext cx="10789920" cy="2011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Elektřina je </a:t>
            </a: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zboží</a:t>
            </a: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distributor musí garantovat parametry, aby spotřebič připojený do zásuvky nebyl ohrožen.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meze trpí zařízení: </a:t>
            </a: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podpětí</a:t>
            </a: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přetěžuje motory a zdroje, </a:t>
            </a: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přepětí</a:t>
            </a: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ničí izolaci a elektroniku.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Citlivé přístroje (zdravotnická technika, servery) se navíc chrání </a:t>
            </a: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 </a:t>
            </a: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přepěťovými ochranami</a:t>
            </a: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Poruchy kvality napětí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kval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80160"/>
            <a:ext cx="9326880" cy="274320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10789920" cy="19751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Definice (EN 50160)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Typická příčina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způsobí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Pokles napětí (dip)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napětí 90–5 % U</a:t>
                      </a:r>
                      <a:r>
                        <a:rPr lang="en-US" sz="115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po dobu 10 ms až 1 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zkrat v síti, rozběh velkého motoru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počítačů, odpadnutí stykačů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Dočasné přepětí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 110 % U</a:t>
                      </a:r>
                      <a:r>
                        <a:rPr lang="en-US" sz="115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delší dobu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porucha v síti, přerušený vodič 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zničení spotřebičů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Přechodné přepětí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špičky µs až ms, i jednotky kV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blesk, spínání indukčních zátěží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průraz izolace, zničení elektroniky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Přerušení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5 % U</a:t>
                      </a:r>
                      <a:r>
                        <a:rPr lang="en-US" sz="115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krátké ≤ 3 min, dlouhé &gt; 3 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poruchy a opravy sítě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výpadek → UPS, záložní zdroj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Harmonické zkreslení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THD napětí ≤ 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spínané zdroje, LED, měniče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ohřev vodičů a trafa, rušení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Jištění a ochrana před úrazem</a:t>
            </a:r>
            <a:endParaRPr lang="en-US" sz="34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najdeme v domovním rozvaděči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rozvodn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6692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6692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úkoly, tři přístroje: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jistič chrání vedení · proudový chránič chrání osoby · přepěťová ochrana chrání zařízení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Nadproud: přetížení × zkrat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nad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9" y="1234440"/>
            <a:ext cx="10900021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715000"/>
            <a:ext cx="10789920" cy="548640"/>
          </a:xfrm>
          <a:prstGeom prst="roundRect">
            <a:avLst>
              <a:gd name="adj" fmla="val 13333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715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Jištění chrání především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vedení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(vodiče a jejich izolaci) → jistič se volí podle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průřezu vodiče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 podle spotřebiče.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Tavná pojistka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pojist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760720" cy="36210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453896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6675120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417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Keramické pouzdro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929384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6675120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8928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Tavný vodič se zúženími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při nadproudu se zúžení přetaví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0" y="2404872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667512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3682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Křemenný písek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rozdělí a uhasí elektrický oblouk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5120" y="2880360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 txBox="1"/>
          <p:nvPr/>
        </p:nvSpPr>
        <p:spPr>
          <a:xfrm>
            <a:off x="667512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8437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Kontaktní čepička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3355848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 txBox="1"/>
          <p:nvPr/>
        </p:nvSpPr>
        <p:spPr>
          <a:xfrm>
            <a:off x="66751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Indikátor (terčík)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po přetavení vyskočí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93192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Pojistka je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úmyslně zeslabené místo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obvodu – přeruší ho dřív, než se přehřeje vedení.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zapůsobení se musí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vyměnit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(je jednorázová).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Přístrojové pojistky: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rychlá (polovodiče),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zpožděná (spotřebiče s proudovým rázem při zapnutí).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Instalační pojistky: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jištění vedení,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motory.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tavný vodič se přetaví rychle při zkratu a pomalu při mírném přetížení.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Druhy pojistek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un/ppt/media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153" y="1435608"/>
            <a:ext cx="1969454" cy="1353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Trubičková (skleněná)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přístrojová; F = rychlá, T = zpožděná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79976" y="13258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un/ppt/media/imag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141" y="1435608"/>
            <a:ext cx="2034391" cy="1353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79976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Radiální do DPS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379976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pájí se přímo do desky plošného spoje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28432" y="13258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3" name="Image 2" descr="un/ppt/media/image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0099" y="1435608"/>
            <a:ext cx="1471386" cy="1353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28432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Vratná (PTC, polyswitch)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8028432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nadproudem se zahřeje a prudce zvýší odpor; po vychladnutí se obnoví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31520" y="38130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3" descr="un/ppt/media/image17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19" y="3922776"/>
            <a:ext cx="1635723" cy="1353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Závitové (typ D)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5733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domovní rozvody; barva terčíku = proud (6 A zelená, 10 A červená)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79976" y="38130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1" name="Image 4" descr="un/ppt/media/image19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685" y="3922776"/>
            <a:ext cx="1933303" cy="13533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379976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Nožové (NH)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4379976" y="5733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velké proudy – rozvodny, hlavní přívody budov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28432" y="38130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BEAE7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5" name="Image 5" descr="un/ppt/media/image2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943" y="3862394"/>
            <a:ext cx="1794690" cy="151427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28432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pojistku NEopravovat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8028432" y="5733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drát, hřebík či šroub místo pojistky = vedení bez ochrany → požár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Jistič – co je uvnitř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jistic_r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39" y="1280160"/>
            <a:ext cx="5391962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463040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63093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Ovládací páčka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700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ruční zapnutí a vypnutí; poloha ukazuje stav (I / 0)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39696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63093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093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pevný a pohyblivý – tady se obvod rozpojí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2816352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630936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Elektromagnetická spoušť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cívka s kotvou – při zkratu okamžitě uvolní západku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3493008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 txBox="1"/>
          <p:nvPr/>
        </p:nvSpPr>
        <p:spPr>
          <a:xfrm>
            <a:off x="630936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447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Tepelná spoušť (bimetal)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přetížení se ohřívá a ohýbá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4169664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19"/>
          <p:cNvSpPr txBox="1"/>
          <p:nvPr/>
        </p:nvSpPr>
        <p:spPr>
          <a:xfrm>
            <a:off x="630936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4123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Zhášecí komora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12280" y="4407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plechy rozdělí a ochladí elektrický oblouk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09360" y="4846320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3"/>
          <p:cNvSpPr txBox="1"/>
          <p:nvPr/>
        </p:nvSpPr>
        <p:spPr>
          <a:xfrm>
            <a:off x="630936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se západkou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5084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vypne, i když někdo páčku drží (volnoběžka)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09360" y="5522976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7"/>
          <p:cNvSpPr txBox="1"/>
          <p:nvPr/>
        </p:nvSpPr>
        <p:spPr>
          <a:xfrm>
            <a:off x="6309360" y="5522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812280" y="54772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Svorky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12280" y="5760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připojení přívodního a odchozího vodiče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Jistič v akci: přetížení a zkrat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jistic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7" y="1280160"/>
            <a:ext cx="5246525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4173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6537960" y="1618488"/>
            <a:ext cx="548640" cy="54864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173918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69480" y="16184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Přetížení (např. 1,5 × I</a:t>
            </a:r>
            <a:r>
              <a:rPr lang="en-US" sz="1700" b="1" baseline="-40000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22860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ohřívá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bimetal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ten se ohne a uvolní západku. Trvá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sekundy až desítky minut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čím větší přetížení, tím rychleji. Po vychladnutí lze jistič znovu zapnout.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9360" y="36576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7"/>
          <p:cNvSpPr/>
          <p:nvPr/>
        </p:nvSpPr>
        <p:spPr>
          <a:xfrm>
            <a:off x="6537960" y="385876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397946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3858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Zkrat (např. 100 × I</a:t>
            </a:r>
            <a:r>
              <a:rPr lang="en-US" sz="1700" b="1" baseline="-40000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5262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Magnetické pole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cívky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vtáhne kotvu a okamžitě uvolní západku. Kontakty se rozpojí během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milisekund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oblouk uhasí zhášecí komora.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309360" y="5943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Animace se přehraje v režimu prezentace (cca 20 s ve smyčce).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Vypínací charakteristiky B, C, 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charakteristi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852160" cy="4367284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17320"/>
          <a:ext cx="4937760" cy="208483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Okamžité vypnutí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 se hodí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× I</a:t>
                      </a:r>
                      <a:r>
                        <a:rPr lang="en-US" sz="130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zásuvky, osvětlení, dlouhá vedení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× I</a:t>
                      </a:r>
                      <a:r>
                        <a:rPr lang="en-US" sz="130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motory, spotřebiče s velkým záběrovým proudem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× I</a:t>
                      </a:r>
                      <a:r>
                        <a:rPr lang="en-US" sz="130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transformátory, svářečky, velké motory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675120" y="37033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3"/>
          <p:cNvSpPr txBox="1"/>
          <p:nvPr/>
        </p:nvSpPr>
        <p:spPr>
          <a:xfrm>
            <a:off x="6903720" y="37033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Tepelná spoušť (všechny typy):</a:t>
            </a:r>
            <a:endParaRPr lang="en-US" sz="15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 × I</a:t>
            </a:r>
            <a:r>
              <a:rPr lang="en-US" sz="15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nevypne do 1 h</a:t>
            </a:r>
            <a:endParaRPr lang="en-US" sz="15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1,45 × I</a:t>
            </a:r>
            <a:r>
              <a:rPr lang="en-US" sz="15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5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vypne do 1 h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číst graf: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daný násobek proudu leží doba vypnutí v pásmu mezi čárkovanou („nesmí vypnout“) a plnou čarou („musí vypnout“).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číst štítek jističe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stit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863840" cy="4543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46304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595360" y="14630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z písemky: B16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okamžitě vypne při 3–5 × 16 A, tj.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48–80 A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trvale propustí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 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12480" y="361188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8595360" y="361188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Vypínací schopnost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Největší zkratový proud, který jistič bezpečně vypne, aniž se svaří kontakty. Domovní jističe: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 kA nebo 10 kA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Jednofázový a třífázový jistič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594360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Jednofázový jistič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jistí jeden fázový vodič – typicky B10 pro světla, B16 pro zásuvky.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Třífázový jistič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hlídá každou fázi zvlášť, ale má </a:t>
            </a: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společný vypínací mechanismus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porucha v jedné fázi vypne všechny tři.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Proč? Třífázový motor by po výpadku jedné fáze běžel dál „na dvě fáze“, odebíral větší proud a přehřál se.</a:t>
            </a:r>
            <a:endParaRPr lang="en-US" sz="1550" dirty="0"/>
          </a:p>
          <a:p>
            <a:pPr marL="266700" indent="-2667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jistič</a:t>
            </a: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 elektroměrem omezuje příkon celého odběrného místa – a jeho velikost se platí v ceně distribuce.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Jaký výkon „unese“ hlavní jistič 3 × 25 A?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 txBox="1"/>
          <p:nvPr/>
        </p:nvSpPr>
        <p:spPr>
          <a:xfrm>
            <a:off x="960120" y="5212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√3 · 400 V · 25 A ≈ 17 kW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1417320"/>
            <a:ext cx="18288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0" descr="un/ppt/media/image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508760"/>
            <a:ext cx="1609344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052560" y="219456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1" descr="un/ppt/media/image29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628900"/>
            <a:ext cx="2377440" cy="1783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5669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jednofázový B10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05256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třífázový B16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Pojistka × jistič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89920" cy="396849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Tavná pojistka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Jistič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přetavení tavného vodiče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tepelná (bimetal) + elektromagnetická spoušť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zapůsobení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nutná výměna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stačí znovu zapnout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 zkrat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velmi rychlá, omezí proud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rychlý (milisekundy)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Vypínací schopnost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vysoká – desítky až 100 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domovní typicky 6–10 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Navíc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levná, jednoduchá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slouží i jako vypínač obvodu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Typické použití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přístroje, hlavní přívody, velké proudy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koncové obvody v bytech a domech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Obojí chrání vedení před nadproudem. Před elektroměrem bývají pojistky (nebo hlavní jistič), v bytě jističe.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dělá elektrický proud s lidským tělem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proud_t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26963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16052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932688" y="4315968"/>
            <a:ext cx="475488" cy="47548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95" y="4420575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36192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Rozhoduje proud, ne napětí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932688" y="487375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Účinek závisí na velikosti proudu, jeho </a:t>
            </a:r>
            <a:r>
              <a:rPr lang="en-US" sz="123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dráze</a:t>
            </a: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(přes srdce!), </a:t>
            </a:r>
            <a:r>
              <a:rPr lang="en-US" sz="123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době</a:t>
            </a: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působení a frekvenci. Nejnebezpečnější je pásmo kolem 50 Hz.</a:t>
            </a:r>
            <a:endParaRPr lang="en-US" sz="1230" dirty="0"/>
          </a:p>
        </p:txBody>
      </p:sp>
      <p:sp>
        <p:nvSpPr>
          <p:cNvPr id="10" name="Shape 6"/>
          <p:cNvSpPr/>
          <p:nvPr/>
        </p:nvSpPr>
        <p:spPr>
          <a:xfrm>
            <a:off x="4379976" y="416052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7"/>
          <p:cNvSpPr/>
          <p:nvPr/>
        </p:nvSpPr>
        <p:spPr>
          <a:xfrm>
            <a:off x="4581144" y="4315968"/>
            <a:ext cx="475488" cy="47548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751" y="442057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84648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 těla ≈ 1 kΩ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581144" y="487375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dotyku 230 V: 230 V / 1 kΩ ≈ </a:t>
            </a:r>
            <a:r>
              <a:rPr lang="en-US" sz="123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 mA</a:t>
            </a: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riziko fibrilace. Vlhká kůže nebo rána odpor dále snižují.</a:t>
            </a:r>
            <a:endParaRPr lang="en-US" sz="1230" dirty="0"/>
          </a:p>
        </p:txBody>
      </p:sp>
      <p:sp>
        <p:nvSpPr>
          <p:cNvPr id="15" name="Shape 10"/>
          <p:cNvSpPr/>
          <p:nvPr/>
        </p:nvSpPr>
        <p:spPr>
          <a:xfrm>
            <a:off x="8028432" y="416052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1"/>
          <p:cNvSpPr/>
          <p:nvPr/>
        </p:nvSpPr>
        <p:spPr>
          <a:xfrm>
            <a:off x="8229600" y="4315968"/>
            <a:ext cx="475488" cy="475488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207" y="442057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33104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Mikrošok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229600" y="487375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Katétr nebo elektroda u srdce obchází odpor kůže – fibrilaci může vyvolat už proud řádově </a:t>
            </a:r>
            <a:r>
              <a:rPr lang="en-US" sz="123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desítek µA</a:t>
            </a:r>
            <a:r>
              <a:rPr lang="en-US" sz="123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Proto přísné limity přístrojů typu CF.</a:t>
            </a:r>
            <a:endParaRPr lang="en-US" sz="12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Živé a neživé části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z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33770"/>
            <a:ext cx="7498080" cy="383054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0" y="1371600"/>
            <a:ext cx="374904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ctr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Živá část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pod napětím za normálního provozu – fázový vodič L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nulový vodič N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Neživá část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vodivá a přístupná (kovový kryt pračky); napětí se na ní objeví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při poruše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izolace.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ochrana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před dotykem živých částí: izolace, kryty, přepážky.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Ochrana při poruše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před dotykem neživých částí: ochranný vodič PE + automatické odpojení, dvojitá izolace…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Doplňková ochrana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proudový chránič 30 mA, když ostatní selže.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Vodiče v instalaci a jejich barvy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vo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789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32461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960120" y="3520440"/>
            <a:ext cx="274320" cy="274320"/>
          </a:xfrm>
          <a:prstGeom prst="ellipse">
            <a:avLst/>
          </a:prstGeom>
          <a:solidFill>
            <a:srgbClr val="7B4A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1325880" y="34472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Fázový vodič 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hnědá · černá · šedá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51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Proti zemi 230 V, mezi fázemi 400 V. Přivádí proud ke spotřebiči.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65576" y="32461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3694176" y="3520440"/>
            <a:ext cx="274320" cy="274320"/>
          </a:xfrm>
          <a:prstGeom prst="ellipse">
            <a:avLst/>
          </a:prstGeom>
          <a:solidFill>
            <a:srgbClr val="3C7DC4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4059936" y="34472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Nulový vodič 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694176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světle modrá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4251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Vrací proud ke zdroji. Za provozu je </a:t>
            </a: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živý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nesahat!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99632" y="32461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3"/>
          <p:cNvSpPr/>
          <p:nvPr/>
        </p:nvSpPr>
        <p:spPr>
          <a:xfrm>
            <a:off x="6428232" y="3520440"/>
            <a:ext cx="274320" cy="274320"/>
          </a:xfrm>
          <a:prstGeom prst="ellipse">
            <a:avLst/>
          </a:prstGeom>
          <a:solidFill>
            <a:srgbClr val="2F9A4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 txBox="1"/>
          <p:nvPr/>
        </p:nvSpPr>
        <p:spPr>
          <a:xfrm>
            <a:off x="6793992" y="34472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Ochranný vodič PE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28232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zelenožlutá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28232" y="4251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Normálně jím proud neteče. Při poruše odvede poruchový proud a umožní vypnutí jističe.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33688" y="32461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8"/>
          <p:cNvSpPr/>
          <p:nvPr/>
        </p:nvSpPr>
        <p:spPr>
          <a:xfrm>
            <a:off x="9162288" y="352044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19"/>
          <p:cNvSpPr txBox="1"/>
          <p:nvPr/>
        </p:nvSpPr>
        <p:spPr>
          <a:xfrm>
            <a:off x="9528048" y="34472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 PEN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zelenožlutá + modré konce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62288" y="4251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Sloučený N + PE (síť TN-C). Dnes jen v pevném rozvodu s průřezem ≥ 10 mm² Cu – v přívodu k budově, ne v zásuvkových obvodech.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1520" y="553212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3"/>
          <p:cNvSpPr txBox="1"/>
          <p:nvPr/>
        </p:nvSpPr>
        <p:spPr>
          <a:xfrm>
            <a:off x="914400" y="55321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 na staré instalace (TN-C):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kryt spotřebiče je připojen na PEN. Když se PEN přeruší, může se přes spotřebič dostat na kryt plné fázové napětí.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Síť TN-C-S – nejčastější u nás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tn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44069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6692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22960" y="56692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5669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uzel zdroje je přímo uzemněn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65576" y="56692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3557016" y="56692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014216" y="5669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neživé části jsou ochranným vodičem spojeny s uzemněným uzlem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56692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6291072" y="56692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5669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vodiče N a PE jsou sloučené (PEN)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33688" y="56692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 txBox="1"/>
          <p:nvPr/>
        </p:nvSpPr>
        <p:spPr>
          <a:xfrm>
            <a:off x="9025128" y="56692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482328" y="5669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vodiče N a PE jsou oddělené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Třídy ochrany spotřebičů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tri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30942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932688" y="4773168"/>
            <a:ext cx="475488" cy="47548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95" y="4877775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36192" y="4773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je poznat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932688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Vidlice s ochranným kontaktem → třída I. Symbol dvou čtverců v sobě → třída II.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79976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7"/>
          <p:cNvSpPr/>
          <p:nvPr/>
        </p:nvSpPr>
        <p:spPr>
          <a:xfrm>
            <a:off x="4581144" y="477316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751" y="487777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84648" y="4773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Třída 0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581144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základní izolace bez ochranného vodiče – v ČR se nesmí používat.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28432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1"/>
          <p:cNvSpPr/>
          <p:nvPr/>
        </p:nvSpPr>
        <p:spPr>
          <a:xfrm>
            <a:off x="8229600" y="4773168"/>
            <a:ext cx="475488" cy="47548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207" y="487777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33104" y="4773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Zdravotnické přístroje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229600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Bývají třídy I nebo II, případně napájené z vnitřního zdroje (baterie).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Automatické odpojení od zdroje při poruše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porucha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772400" cy="35872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399032"/>
            <a:ext cx="365760" cy="3657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50392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Porucha izolace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556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se dotkne kovového krytu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03920" y="26517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8503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2624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Poruchový proud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00837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teče krytem a vodičem PE zpět ke zdroji; smyčka má malou impedanci Z</a:t>
            </a:r>
            <a:r>
              <a:rPr lang="en-US" sz="1250" baseline="-40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proud stovky 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03920" y="3904488"/>
            <a:ext cx="365760" cy="3657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85039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3877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Jistič vypne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26110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elektromagnetickou spouští – kryt je opět bez napětí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1520" y="5303520"/>
            <a:ext cx="7223760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 txBox="1"/>
          <p:nvPr/>
        </p:nvSpPr>
        <p:spPr>
          <a:xfrm>
            <a:off x="960120" y="53035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Podmínka:  Z</a:t>
            </a:r>
            <a:r>
              <a:rPr lang="en-US" sz="16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I</a:t>
            </a:r>
            <a:r>
              <a:rPr lang="en-US" sz="16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U</a:t>
            </a:r>
            <a:r>
              <a:rPr lang="en-US" sz="16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B16:  I</a:t>
            </a:r>
            <a:r>
              <a:rPr lang="en-US" sz="16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5 · 16 A = 80 A  →  Z</a:t>
            </a:r>
            <a:r>
              <a:rPr lang="en-US" sz="16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230 V / 80 A ≈ 2,9 Ω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83880" y="530352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 txBox="1"/>
          <p:nvPr/>
        </p:nvSpPr>
        <p:spPr>
          <a:xfrm>
            <a:off x="8366760" y="5303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Doba odpojení v síti TN 230 V: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nejvýše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 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(koncové obvody do 32 A)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samotný jistič člověka neochrání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618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0,2 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51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tělem při dotyku 230 V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98648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člověka smrtelně nebezpečný – pro jistič neviditelný.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9976" y="15087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4562856" y="1618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A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551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této hodnoty vypne B16 okamžitě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898648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tělem je jen 1/400 této hodnoty. Jistič ho vůbec nezaznamená.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28432" y="150876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8211312" y="16184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2551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tolik stačí proudovému chrániči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898648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Chránič neměří velikost proudu, ale rozdíl mezi L a 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10789920" cy="1874520"/>
          </a:xfrm>
          <a:prstGeom prst="roundRect">
            <a:avLst>
              <a:gd name="adj" fmla="val 3902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1005840" y="4297680"/>
            <a:ext cx="10241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Jistič chrání vedení, proudový chránič chrání lidi.</a:t>
            </a:r>
            <a:endParaRPr lang="en-US" sz="16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dotyku krytu, který je spojen s PE, pomůže i jistič – poruchový proud je velký. Při přímém dotyku živé části, přerušeném PE nebo špatném uzemnění pomůže jen chránič.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Proudový chránič – princip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rcd_princ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589520" cy="38590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371600"/>
            <a:ext cx="3383280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Fázový L i nulový N vodič procházejí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součtovým transformátorem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(toroidem).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Normálně je I</a:t>
            </a:r>
            <a:r>
              <a:rPr lang="en-US" sz="145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</a:t>
            </a:r>
            <a:r>
              <a:rPr lang="en-US" sz="145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magnetické toky se odečtou →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Uteče-li část proudu do země (tělem, vadnou izolací), vznikne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rozdíl I</a:t>
            </a:r>
            <a:r>
              <a:rPr lang="en-US" sz="1450" b="1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střídavý tok Φ → v sekundárním vinutí se indukuje napětí → 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relé vypne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31520" y="53492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960120" y="5349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I</a:t>
            </a:r>
            <a:r>
              <a:rPr lang="en-US" sz="22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I</a:t>
            </a:r>
            <a:r>
              <a:rPr lang="en-US" sz="22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534924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Chránič neměří napětí ani velikost proudu – jen </a:t>
            </a: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rozdíl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proudů, které do obvodu tečou a vracejí se.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Proudový chránič v akci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rcd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772400" cy="39520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399032"/>
            <a:ext cx="365760" cy="3657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50392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Normální stav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556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přiteče po L, vrátí se po N; Φ = 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272491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85039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2697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Dotyk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0815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proudu teče tělem do země, I</a:t>
            </a:r>
            <a:r>
              <a:rPr lang="en-US" sz="1300" baseline="-40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I</a:t>
            </a:r>
            <a:r>
              <a:rPr lang="en-US" sz="1300" baseline="-40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03920" y="4050792"/>
            <a:ext cx="365760" cy="365760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850392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40233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Vypnutí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074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5 × I</a:t>
            </a:r>
            <a:r>
              <a:rPr lang="en-US" sz="1300" baseline="-40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</a:t>
            </a: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(150 mA) nejpozději do 40 ms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Animace se přehraje v režimu prezentace.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Konstrukce proudového chrániče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rcd_konstruk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303520" cy="4242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408176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6035040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Součtový transformátor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6550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toroidní jádro, kterým prochází L i 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194560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603504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157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Sekundární vinutí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4414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rozdílu proudů se v něm indukuje napětí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2980944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603504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944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Vybavovací relé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227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elektromagnet, který uvolní západku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3767328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 txBox="1"/>
          <p:nvPr/>
        </p:nvSpPr>
        <p:spPr>
          <a:xfrm>
            <a:off x="603504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730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Západka a kontakty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40142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rozpojí L i N současně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553712"/>
            <a:ext cx="347472" cy="34747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19"/>
          <p:cNvSpPr txBox="1"/>
          <p:nvPr/>
        </p:nvSpPr>
        <p:spPr>
          <a:xfrm>
            <a:off x="603504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51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Testovací obvod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4800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tlačítko T + rezistor R vytvoří umělý unikající proud mimo toroid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646920" y="137160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6" name="Image 1" descr="un/ppt/media/image3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1500943"/>
            <a:ext cx="1773936" cy="275883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035040" y="5394960"/>
            <a:ext cx="5532120" cy="822960"/>
          </a:xfrm>
          <a:prstGeom prst="roundRect">
            <a:avLst>
              <a:gd name="adj" fmla="val 8889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4"/>
          <p:cNvSpPr txBox="1"/>
          <p:nvPr/>
        </p:nvSpPr>
        <p:spPr>
          <a:xfrm>
            <a:off x="6217920" y="5394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Tlačítko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zkoušej pravidelně podle návodu výrobce – ověří celou mechaniku chrániče.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chrániče a kde je povinný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4173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4173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ochrana osob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jmenovitý reziduální proud I</a:t>
            </a:r>
            <a:r>
              <a:rPr lang="en-US" sz="130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doplňkovou ochranu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0175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ochrana před požárem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hlídá svodové proudy celé instalace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914400" y="46177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40 ms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46177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vypnutí při 5 × I</a:t>
            </a:r>
            <a:r>
              <a:rPr lang="en-US" sz="1300" b="1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I</a:t>
            </a:r>
            <a:r>
              <a:rPr lang="en-US" sz="130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nejpozději do 300 ms; pod 0,5 × I</a:t>
            </a:r>
            <a:r>
              <a:rPr lang="en-US" sz="130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vypnout nesmí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84" y="1770644"/>
            <a:ext cx="317480" cy="317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040880" y="16459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Chránič 30 mA je povinný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468880"/>
            <a:ext cx="5029200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zásuvky do 32 A určené pro používání laiky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mobilní zařízení používaná venku (do 32 A)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obvody pro svítidla v domácnostech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koupelny a sprchy (ČSN 33 2000-7-701)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ČSN 33 2000-4-41 ed. 3. Dnes se proto chráničem chrání prakticky celý byt.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Kdy chránič vypne – a kdy 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rcd_chy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5" y="1234440"/>
            <a:ext cx="10524931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623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6235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Chránič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nechrání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při dotyku L a N zároveň, před přetížením ani zkratem → kombinuje se s jističem, nebo se použije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chránič s nadproudovou ochranou (RCBO)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chráničů podle tvaru unikajícího proudu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Zachytí unikající proud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Typické použití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10789920" cy="841248"/>
          </a:xfrm>
          <a:prstGeom prst="roundRect">
            <a:avLst>
              <a:gd name="adj" fmla="val 5435"/>
            </a:avLst>
          </a:prstGeom>
          <a:solidFill>
            <a:srgbClr val="F3F5F7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 txBox="1"/>
          <p:nvPr/>
        </p:nvSpPr>
        <p:spPr>
          <a:xfrm>
            <a:off x="914400" y="192024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2600" dirty="0"/>
          </a:p>
        </p:txBody>
      </p:sp>
      <p:pic>
        <p:nvPicPr>
          <p:cNvPr id="11" name="Image 0" descr="fig/rcd_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029968"/>
            <a:ext cx="1243584" cy="6217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931920" y="192024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sinusový střídavý proud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192024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 instalace; pro nové se nedoporučuje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1520" y="2852928"/>
            <a:ext cx="10789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 txBox="1"/>
          <p:nvPr/>
        </p:nvSpPr>
        <p:spPr>
          <a:xfrm>
            <a:off x="914400" y="285292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pic>
        <p:nvPicPr>
          <p:cNvPr id="16" name="Image 1" descr="fig/rcd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962656"/>
            <a:ext cx="1243584" cy="62179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31920" y="285292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pulzující stejnosměrný proud (za usměrňovačem)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85292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běžný standard pro domácnosti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" y="3785616"/>
            <a:ext cx="10789920" cy="841248"/>
          </a:xfrm>
          <a:prstGeom prst="roundRect">
            <a:avLst>
              <a:gd name="adj" fmla="val 5435"/>
            </a:avLst>
          </a:prstGeom>
          <a:solidFill>
            <a:srgbClr val="F3F5F7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6"/>
          <p:cNvSpPr txBox="1"/>
          <p:nvPr/>
        </p:nvSpPr>
        <p:spPr>
          <a:xfrm>
            <a:off x="914400" y="378561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pic>
        <p:nvPicPr>
          <p:cNvPr id="21" name="Image 2" descr="fig/rcd_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3895344"/>
            <a:ext cx="1243584" cy="62179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31920" y="378561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proudy se směsí frekvencí (jednofázové měniče)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7863840" y="3785616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pračky, myčky, tepelná čerpadla s měničem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31520" y="4718304"/>
            <a:ext cx="10789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0"/>
          <p:cNvSpPr txBox="1"/>
          <p:nvPr/>
        </p:nvSpPr>
        <p:spPr>
          <a:xfrm>
            <a:off x="914400" y="4718304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pic>
        <p:nvPicPr>
          <p:cNvPr id="26" name="Image 3" descr="fig/rcd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4828032"/>
            <a:ext cx="1243584" cy="62179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931920" y="471830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hladký stejnosměrný proud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7863840" y="471830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nabíječky elektromobilů, třífázové měniče, fotovoltaika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„vyšší“ typ umí i vše, co typy před ním. Dnešní spotřebiče obsahují elektroniku, a unikající proud proto nemusí být sinusový.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Jistič × proudový chránič – nejčastější otázka písemky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89920" cy="36210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Jistič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Proudový chránič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sleduje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velikost proudu ve vodiči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rozdíl proudů I</a:t>
                      </a:r>
                      <a:r>
                        <a:rPr lang="en-US" sz="140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I</a:t>
                      </a:r>
                      <a:r>
                        <a:rPr lang="en-US" sz="1400" baseline="-400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(unikající proud)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co reaguje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přetížení a zkrat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únik proudu do země – dotyk, vadná izolace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Citlivost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ampéry až kiloampéry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mA (osoby), 300 mA (požár)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Koho chrání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vedení před přehřátím a požárem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osoby před úrazem, budovu před požárem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nezvládne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malý proud tělem (desítky mA)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přetížení, zkrat, dotyk L a N zároveň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2578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960120" y="5422392"/>
            <a:ext cx="566928" cy="566928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" y="5547116"/>
            <a:ext cx="317480" cy="317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5257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Obojí v jednom: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chránič s nadproudovou ochranou (</a:t>
            </a: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RCBO</a:t>
            </a: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hlídá rozdíl proudů i přetížení a zkrat.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Přepětí a přepěťové ochrany (SPD)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pic>
        <p:nvPicPr>
          <p:cNvPr id="4" name="Image 0" descr="fig/s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42194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532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Přepětí způsobí úder blesku (i nepřímý – indukcí do vedení) nebo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spínání indukčních zátěží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Ochrana je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stupňovitá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T1 svede většinu bleskového proudu, T2 a T3 sníží zbytkové napětí pod výdržné napětí dalších zařízení (kategorie přepětí IV → I).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Čím se přepětí svádí: od jiskřiště po TVS diodu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un/ppt/media/image2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06499"/>
            <a:ext cx="2304288" cy="867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Jiskřiště (bleskojistka)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8444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přepětí přeskočí mezi elektrodami oblouk a svede proud do země. Po poklesu napětí musí oblouk zhasnout. Velké proudy, pomalejší reakce.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65576" y="137160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un/ppt/media/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56" y="1499616"/>
            <a:ext cx="1962760" cy="1481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65576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Plynová výbojka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3465576" y="358444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Jiskřiště v keramické trubičce s inertním plynem – přesnější zápalné napětí. Napájecí i datová vedení.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9632" y="137160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3" name="Image 2" descr="fig/varis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796" y="1499616"/>
            <a:ext cx="2019993" cy="1481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99632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Varistor (MOV)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6199632" y="358444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 s rostoucím napětím prudce klesá, reaguje v nanosekundách. Základ SPD T2, T3 a přepěťových zásuvek.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33688" y="137160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3" descr="un/ppt/media/image26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1499616"/>
            <a:ext cx="1975104" cy="1481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33688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dioda (transil)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933688" y="358444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Nejrychlejší, ale jen pro malou energii – jemná ochrana elektroniky a datových linek, např. na vstupu přístroje.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22960" y="5577840"/>
            <a:ext cx="10515600" cy="0"/>
          </a:xfrm>
          <a:prstGeom prst="line">
            <a:avLst/>
          </a:prstGeom>
          <a:noFill/>
          <a:ln w="31750">
            <a:solidFill>
              <a:srgbClr val="BE7C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5"/>
          <p:cNvSpPr txBox="1"/>
          <p:nvPr/>
        </p:nvSpPr>
        <p:spPr>
          <a:xfrm>
            <a:off x="73152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hrubá ochrana: velké proudy, pomalejší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jemná ochrana: malá energie, nejrychlejší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0292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7772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10515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 txBox="1"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Shrnutí přednášky 3</a:t>
            </a:r>
            <a:endParaRPr lang="en-US" sz="30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1600200"/>
            <a:ext cx="10332720" cy="3840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 P = U · I, energie W = P · t; v síti počítáme s efektivními hodnotami (230 V, špička 325 V).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výkon nekoná práci, ale zatěžuje síť – kompenzuje se kondenzátory a tlumivkami; řízení napětí drží soustavu pohromadě.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Elektřina se přenáší vysokým napětím a výroba musí v každém okamžiku odpovídat spotřebě (50 Hz).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Pojistka a jistič chrání vedení před nadproudem; jistič má tepelnou a elektromagnetickou spoušť a charakteristiky B, C, D.</a:t>
            </a:r>
            <a:endParaRPr lang="en-US" sz="1700" dirty="0"/>
          </a:p>
          <a:p>
            <a:pPr marL="292100" indent="-2921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Proudový chránič hlídá rozdíl proudů v L a N a chrání osoby (30 mA); přepěťové ochrany chrání zařízení.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822960" y="5577840"/>
            <a:ext cx="10332720" cy="685800"/>
          </a:xfrm>
          <a:prstGeom prst="roundRect">
            <a:avLst>
              <a:gd name="adj" fmla="val 6667"/>
            </a:avLst>
          </a:prstGeom>
          <a:solidFill>
            <a:srgbClr val="27384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 txBox="1"/>
          <p:nvPr/>
        </p:nvSpPr>
        <p:spPr>
          <a:xfrm>
            <a:off x="1051560" y="55778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Zapamatuj si: jistič chrání vedení, chránič chrání lidi, přepěťová ochrana chrání přístroje.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Energie, rozvody a ochrana  ·  Přednáška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5434</Words>
  <Application>Microsoft Office PowerPoint</Application>
  <PresentationFormat>Širokoúhlá obrazovka</PresentationFormat>
  <Paragraphs>638</Paragraphs>
  <Slides>53</Slides>
  <Notes>53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53</vt:i4>
      </vt:variant>
    </vt:vector>
  </HeadingPairs>
  <TitlesOfParts>
    <vt:vector size="57" baseType="lpstr">
      <vt:lpstr>Arial</vt:lpstr>
      <vt:lpstr>Calibri</vt:lpstr>
      <vt:lpstr>Cambria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Přednáška 3 · Elektrická energie, rozvody a jištění</dc:title>
  <dc:subject>PptxGenJS Presentation</dc:subject>
  <dc:creator>Martin Králík, Jiří Sekora</dc:creator>
  <cp:lastModifiedBy>Králík Martin (133972)</cp:lastModifiedBy>
  <cp:revision>3</cp:revision>
  <dcterms:created xsi:type="dcterms:W3CDTF">2026-09-21T09:36:08Z</dcterms:created>
  <dcterms:modified xsi:type="dcterms:W3CDTF">2026-10-04T16:43:45Z</dcterms:modified>
</cp:coreProperties>
</file>