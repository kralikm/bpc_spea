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60" r:id="rId8"/>
    <p:sldId id="259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54059DD9-35B4-414E-B7AE-E014B513E0F0}">
          <p14:sldIdLst>
            <p14:sldId id="256"/>
            <p14:sldId id="257"/>
            <p14:sldId id="258"/>
            <p14:sldId id="260"/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69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álík Martin (133972)" userId="b57e4bde-afd4-4b65-ad1f-59324e7702da" providerId="ADAL" clId="{629C9F4E-987E-4A4E-92F9-11B233677709}"/>
    <pc:docChg chg="modSld">
      <pc:chgData name="Králík Martin (133972)" userId="b57e4bde-afd4-4b65-ad1f-59324e7702da" providerId="ADAL" clId="{629C9F4E-987E-4A4E-92F9-11B233677709}" dt="2024-09-18T09:07:08.892" v="16" actId="20577"/>
      <pc:docMkLst>
        <pc:docMk/>
      </pc:docMkLst>
      <pc:sldChg chg="modSp mod">
        <pc:chgData name="Králík Martin (133972)" userId="b57e4bde-afd4-4b65-ad1f-59324e7702da" providerId="ADAL" clId="{629C9F4E-987E-4A4E-92F9-11B233677709}" dt="2024-09-18T09:06:22.618" v="3" actId="20577"/>
        <pc:sldMkLst>
          <pc:docMk/>
          <pc:sldMk cId="1162339237" sldId="256"/>
        </pc:sldMkLst>
        <pc:spChg chg="mod">
          <ac:chgData name="Králík Martin (133972)" userId="b57e4bde-afd4-4b65-ad1f-59324e7702da" providerId="ADAL" clId="{629C9F4E-987E-4A4E-92F9-11B233677709}" dt="2024-09-18T09:06:22.618" v="3" actId="20577"/>
          <ac:spMkLst>
            <pc:docMk/>
            <pc:sldMk cId="1162339237" sldId="256"/>
            <ac:spMk id="3" creationId="{B4F82034-1610-456A-A2E6-0316EBDA6C3B}"/>
          </ac:spMkLst>
        </pc:spChg>
      </pc:sldChg>
      <pc:sldChg chg="modSp mod">
        <pc:chgData name="Králík Martin (133972)" userId="b57e4bde-afd4-4b65-ad1f-59324e7702da" providerId="ADAL" clId="{629C9F4E-987E-4A4E-92F9-11B233677709}" dt="2024-09-18T09:07:08.892" v="16" actId="20577"/>
        <pc:sldMkLst>
          <pc:docMk/>
          <pc:sldMk cId="1047731719" sldId="257"/>
        </pc:sldMkLst>
        <pc:spChg chg="mod">
          <ac:chgData name="Králík Martin (133972)" userId="b57e4bde-afd4-4b65-ad1f-59324e7702da" providerId="ADAL" clId="{629C9F4E-987E-4A4E-92F9-11B233677709}" dt="2024-09-18T09:07:08.892" v="16" actId="20577"/>
          <ac:spMkLst>
            <pc:docMk/>
            <pc:sldMk cId="1047731719" sldId="257"/>
            <ac:spMk id="3" creationId="{A3B632A6-97E9-40F3-9E2E-4D1C066848FC}"/>
          </ac:spMkLst>
        </pc:spChg>
      </pc:sldChg>
    </pc:docChg>
  </pc:docChgLst>
  <pc:docChgLst>
    <pc:chgData name="Králík Martin (133972)" userId="b57e4bde-afd4-4b65-ad1f-59324e7702da" providerId="ADAL" clId="{6D1BF979-5F33-477C-9860-0C595652517D}"/>
    <pc:docChg chg="addSld modSld">
      <pc:chgData name="Králík Martin (133972)" userId="b57e4bde-afd4-4b65-ad1f-59324e7702da" providerId="ADAL" clId="{6D1BF979-5F33-477C-9860-0C595652517D}" dt="2023-09-25T08:46:44.925" v="12"/>
      <pc:docMkLst>
        <pc:docMk/>
      </pc:docMkLst>
      <pc:sldChg chg="modSp">
        <pc:chgData name="Králík Martin (133972)" userId="b57e4bde-afd4-4b65-ad1f-59324e7702da" providerId="ADAL" clId="{6D1BF979-5F33-477C-9860-0C595652517D}" dt="2023-09-25T08:46:44.925" v="12"/>
        <pc:sldMkLst>
          <pc:docMk/>
          <pc:sldMk cId="894347962" sldId="259"/>
        </pc:sldMkLst>
        <pc:spChg chg="mod">
          <ac:chgData name="Králík Martin (133972)" userId="b57e4bde-afd4-4b65-ad1f-59324e7702da" providerId="ADAL" clId="{6D1BF979-5F33-477C-9860-0C595652517D}" dt="2023-09-25T08:46:44.925" v="12"/>
          <ac:spMkLst>
            <pc:docMk/>
            <pc:sldMk cId="894347962" sldId="259"/>
            <ac:spMk id="3" creationId="{EF6E7746-83E4-43F7-9D2E-33A641C8580F}"/>
          </ac:spMkLst>
        </pc:spChg>
      </pc:sldChg>
      <pc:sldChg chg="modSp">
        <pc:chgData name="Králík Martin (133972)" userId="b57e4bde-afd4-4b65-ad1f-59324e7702da" providerId="ADAL" clId="{6D1BF979-5F33-477C-9860-0C595652517D}" dt="2023-09-25T08:22:23.645" v="0" actId="20577"/>
        <pc:sldMkLst>
          <pc:docMk/>
          <pc:sldMk cId="2884595364" sldId="260"/>
        </pc:sldMkLst>
        <pc:spChg chg="mod">
          <ac:chgData name="Králík Martin (133972)" userId="b57e4bde-afd4-4b65-ad1f-59324e7702da" providerId="ADAL" clId="{6D1BF979-5F33-477C-9860-0C595652517D}" dt="2023-09-25T08:22:23.645" v="0" actId="20577"/>
          <ac:spMkLst>
            <pc:docMk/>
            <pc:sldMk cId="2884595364" sldId="260"/>
            <ac:spMk id="10" creationId="{B08EF30E-7B0B-481B-B589-9B18D8D94451}"/>
          </ac:spMkLst>
        </pc:spChg>
      </pc:sldChg>
      <pc:sldChg chg="addSp delSp modSp add">
        <pc:chgData name="Králík Martin (133972)" userId="b57e4bde-afd4-4b65-ad1f-59324e7702da" providerId="ADAL" clId="{6D1BF979-5F33-477C-9860-0C595652517D}" dt="2023-09-25T08:46:09.899" v="10" actId="1076"/>
        <pc:sldMkLst>
          <pc:docMk/>
          <pc:sldMk cId="1922963527" sldId="261"/>
        </pc:sldMkLst>
        <pc:spChg chg="del">
          <ac:chgData name="Králík Martin (133972)" userId="b57e4bde-afd4-4b65-ad1f-59324e7702da" providerId="ADAL" clId="{6D1BF979-5F33-477C-9860-0C595652517D}" dt="2023-09-25T08:46:02.193" v="6"/>
          <ac:spMkLst>
            <pc:docMk/>
            <pc:sldMk cId="1922963527" sldId="261"/>
            <ac:spMk id="2" creationId="{C2F5D4B4-ABCE-4154-AB7B-983C7F4F95A2}"/>
          </ac:spMkLst>
        </pc:spChg>
        <pc:spChg chg="del">
          <ac:chgData name="Králík Martin (133972)" userId="b57e4bde-afd4-4b65-ad1f-59324e7702da" providerId="ADAL" clId="{6D1BF979-5F33-477C-9860-0C595652517D}" dt="2023-09-25T08:45:56.710" v="5"/>
          <ac:spMkLst>
            <pc:docMk/>
            <pc:sldMk cId="1922963527" sldId="261"/>
            <ac:spMk id="3" creationId="{2E7228D7-8D1B-4AFD-A828-8B74D0F55DB4}"/>
          </ac:spMkLst>
        </pc:spChg>
        <pc:picChg chg="add mod">
          <ac:chgData name="Králík Martin (133972)" userId="b57e4bde-afd4-4b65-ad1f-59324e7702da" providerId="ADAL" clId="{6D1BF979-5F33-477C-9860-0C595652517D}" dt="2023-09-25T08:46:09.899" v="10" actId="1076"/>
          <ac:picMkLst>
            <pc:docMk/>
            <pc:sldMk cId="1922963527" sldId="261"/>
            <ac:picMk id="5" creationId="{DF87FF02-65DD-4C09-AB67-84658A29BE5E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253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3116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2547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4320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426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54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37808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537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246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23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97426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417CBA8-CAB0-40EA-B6BC-36D5374F83D0}" type="datetimeFigureOut">
              <a:rPr lang="cs-CZ" smtClean="0"/>
              <a:t>18.09.2024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EB60D57-80C5-43D3-AECF-BCA07614FF9C}" type="slidenum">
              <a:rPr lang="cs-CZ" smtClean="0"/>
              <a:t>‹#›</a:t>
            </a:fld>
            <a:endParaRPr lang="cs-CZ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2025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2.gif"/><Relationship Id="rId4" Type="http://schemas.openxmlformats.org/officeDocument/2006/relationships/image" Target="../media/image5.gif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DC5D20-DC64-4202-A8BF-3681A3AED8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Jednoduchý analogový filtr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4F82034-1610-456A-A2E6-0316EBDA6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1600">
                <a:solidFill>
                  <a:srgbClr val="1A3260"/>
                </a:solidFill>
                <a:latin typeface="Gill Sans MT"/>
              </a:rPr>
              <a:t>Cvičení 2 · RC článek – dolní a horní propust</a:t>
            </a:r>
          </a:p>
          <a:p>
            <a:r>
              <a:rPr sz="1300">
                <a:solidFill>
                  <a:srgbClr val="969FA7"/>
                </a:solidFill>
                <a:latin typeface="Gill Sans MT"/>
              </a:rPr>
              <a:t>Silnoproudá a přístrojová elektrotechnika</a:t>
            </a:r>
          </a:p>
        </p:txBody>
      </p:sp>
    </p:spTree>
    <p:extLst>
      <p:ext uri="{BB962C8B-B14F-4D97-AF65-F5344CB8AC3E}">
        <p14:creationId xmlns:p14="http://schemas.microsoft.com/office/powerpoint/2010/main" val="1162339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FD7744-C2F3-4023-AB34-9B4555037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RC článek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6583680" cy="3108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256032" indent="-256032">
              <a:spcAft>
                <a:spcPts val="11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700">
                <a:solidFill>
                  <a:srgbClr val="1A3260"/>
                </a:solidFill>
                <a:latin typeface="Gill Sans MT"/>
              </a:rPr>
              <a:t>Jednoduchý obvod složený z rezistoru a kondenzátoru</a:t>
            </a:r>
          </a:p>
          <a:p>
            <a:pPr marL="256032" indent="-256032">
              <a:spcAft>
                <a:spcPts val="11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700">
                <a:solidFill>
                  <a:srgbClr val="1A3260"/>
                </a:solidFill>
                <a:latin typeface="Gill Sans MT"/>
              </a:rPr>
              <a:t>Kapacitní reaktance klesá s frekvencí, proto se dělič R–C chová frekvenčně závisle</a:t>
            </a:r>
          </a:p>
          <a:p>
            <a:pPr marL="256032" indent="-256032">
              <a:spcAft>
                <a:spcPts val="11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700">
                <a:solidFill>
                  <a:srgbClr val="1A3260"/>
                </a:solidFill>
                <a:latin typeface="Gill Sans MT"/>
              </a:rPr>
              <a:t>Mezní frekvence fM – hranice mezi propouštěným a potlačovaným pásmem</a:t>
            </a:r>
          </a:p>
          <a:p>
            <a:pPr lvl="1" marL="530352" indent="-256032">
              <a:spcAft>
                <a:spcPts val="11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500">
                <a:solidFill>
                  <a:srgbClr val="1A3260"/>
                </a:solidFill>
                <a:latin typeface="Gill Sans MT"/>
              </a:rPr>
              <a:t>na fM klesne výstupní napětí na 0,707násobek vstupního (1/√2)</a:t>
            </a:r>
          </a:p>
          <a:p>
            <a:pPr lvl="1" marL="530352" indent="-256032">
              <a:spcAft>
                <a:spcPts val="11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500">
                <a:solidFill>
                  <a:srgbClr val="1A3260"/>
                </a:solidFill>
                <a:latin typeface="Gill Sans MT"/>
              </a:rPr>
              <a:t>to odpovídá útlumu 3 dB, proto se fM říká také „−3 dB bod“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52360" y="2057400"/>
            <a:ext cx="4069080" cy="1051560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000" b="1">
                <a:solidFill>
                  <a:srgbClr val="8C5A26"/>
                </a:solidFill>
                <a:latin typeface="Cambria Math"/>
              </a:rPr>
              <a:t>fM = 1 / (2π · R · C)   [Hz]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337560"/>
            <a:ext cx="4069080" cy="1051560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700" b="1">
                <a:solidFill>
                  <a:srgbClr val="8C5A26"/>
                </a:solidFill>
                <a:latin typeface="Cambria Math"/>
              </a:rPr>
              <a:t>Au = 20 · log (Uout / Uin)   [dB]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4617720"/>
            <a:ext cx="4069080" cy="1051560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800" b="1">
                <a:solidFill>
                  <a:srgbClr val="8C5A26"/>
                </a:solidFill>
                <a:latin typeface="Cambria Math"/>
              </a:rPr>
              <a:t>XC = 1 / (2π · f · C)   [Ω]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5779008"/>
            <a:ext cx="406908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50" i="1">
                <a:solidFill>
                  <a:srgbClr val="969FA7"/>
                </a:solidFill>
                <a:latin typeface="Gill Sans MT"/>
              </a:rPr>
              <a:t>Au vychází záporné – filtr signál zeslabuje</a:t>
            </a:r>
          </a:p>
        </p:txBody>
      </p:sp>
    </p:spTree>
    <p:extLst>
      <p:ext uri="{BB962C8B-B14F-4D97-AF65-F5344CB8AC3E}">
        <p14:creationId xmlns:p14="http://schemas.microsoft.com/office/powerpoint/2010/main" val="104773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6382512" y="1920655"/>
            <a:ext cx="5294376" cy="4525448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9109" y="3685032"/>
            <a:ext cx="4188341" cy="255117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3A6CEE6-07A5-4DD1-BFF7-269446012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Dolní propust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5486400" cy="1737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Propouští nízké frekvence, vysoké potlačuje</a:t>
            </a:r>
          </a:p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Výstup se odebírá z kondenzátoru</a:t>
            </a:r>
          </a:p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Nad fM klesá přenos o 20 dB na dekádu</a:t>
            </a:r>
          </a:p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Fázový posun 0° → −90°, na fM je −45°</a:t>
            </a:r>
          </a:p>
        </p:txBody>
      </p:sp>
      <p:pic>
        <p:nvPicPr>
          <p:cNvPr id="5" name="Picture 4" descr="sch_dol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837" y="3794760"/>
            <a:ext cx="3968885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98837" y="6309360"/>
            <a:ext cx="3968885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50" i="1">
                <a:solidFill>
                  <a:srgbClr val="969FA7"/>
                </a:solidFill>
                <a:latin typeface="Gill Sans MT"/>
              </a:rPr>
              <a:t>zapojení s generátorem a osciloskopem</a:t>
            </a:r>
          </a:p>
        </p:txBody>
      </p:sp>
      <p:pic>
        <p:nvPicPr>
          <p:cNvPr id="8" name="Picture 7" descr="bode_doln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030383"/>
            <a:ext cx="5074920" cy="430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522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6382512" y="1920655"/>
            <a:ext cx="5294376" cy="4525448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9109" y="3685032"/>
            <a:ext cx="4188341" cy="255117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3A6CEE6-07A5-4DD1-BFF7-269446012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Horní propust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5486400" cy="17373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Propouští vysoké frekvence, nízké potlačuje</a:t>
            </a:r>
          </a:p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Výstup se odebírá z rezistoru</a:t>
            </a:r>
          </a:p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Pod fM klesá přenos o 20 dB na dekádu</a:t>
            </a:r>
          </a:p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Fázový posun +90° → 0°, na fM je +45°</a:t>
            </a:r>
          </a:p>
        </p:txBody>
      </p:sp>
      <p:pic>
        <p:nvPicPr>
          <p:cNvPr id="5" name="Picture 4" descr="sch_hor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8837" y="3794760"/>
            <a:ext cx="3968885" cy="2331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98837" y="6309360"/>
            <a:ext cx="3968885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50" i="1">
                <a:solidFill>
                  <a:srgbClr val="969FA7"/>
                </a:solidFill>
                <a:latin typeface="Gill Sans MT"/>
              </a:rPr>
              <a:t>zapojení s generátorem a osciloskopem</a:t>
            </a:r>
          </a:p>
        </p:txBody>
      </p:sp>
      <p:pic>
        <p:nvPicPr>
          <p:cNvPr id="8" name="Picture 7" descr="bode_horn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2030383"/>
            <a:ext cx="5074920" cy="430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595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7896135" y="4142232"/>
            <a:ext cx="3410128" cy="209397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96135" y="1810512"/>
            <a:ext cx="3410128" cy="209397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608D59D-936A-4375-A0B5-B3BAE0DD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Úkoly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6675120" cy="393192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Zapojte obvod nejprve jako dolní, poté jako horní propust (R = 4,7 kΩ, C = 10 nF)</a:t>
            </a:r>
          </a:p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Zdroj: sinusový signál, Upp = 10 V</a:t>
            </a:r>
          </a:p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Na osciloskopu odečítejte v režimu Measure tři hodnoty:</a:t>
            </a:r>
          </a:p>
          <a:p>
            <a:pPr lvl="1" marL="53035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400">
                <a:solidFill>
                  <a:srgbClr val="1A3260"/>
                </a:solidFill>
                <a:latin typeface="Gill Sans MT"/>
              </a:rPr>
              <a:t>napětí peak-peak na kanálu 1 (vstup)</a:t>
            </a:r>
          </a:p>
          <a:p>
            <a:pPr lvl="1" marL="53035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400">
                <a:solidFill>
                  <a:srgbClr val="1A3260"/>
                </a:solidFill>
                <a:latin typeface="Gill Sans MT"/>
              </a:rPr>
              <a:t>napětí peak-peak na kanálu 2 (výstup)</a:t>
            </a:r>
          </a:p>
          <a:p>
            <a:pPr lvl="1" marL="53035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400">
                <a:solidFill>
                  <a:srgbClr val="1A3260"/>
                </a:solidFill>
                <a:latin typeface="Gill Sans MT"/>
              </a:rPr>
              <a:t>Phase – fázový posun mezi kanály 1 a 2</a:t>
            </a:r>
          </a:p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Měřte na frekvencích z pracovního listu a do grafů vyneste amplitudovou a fázovou charakteristiku</a:t>
            </a:r>
          </a:p>
          <a:p>
            <a:pPr marL="256032" indent="-256032">
              <a:spcAft>
                <a:spcPts val="900"/>
              </a:spcAft>
              <a:buClr>
                <a:schemeClr val="accent2"/>
              </a:buClr>
              <a:buFont typeface="Wingdings 2" pitchFamily="18" charset="2"/>
              <a:buChar char=""/>
            </a:pPr>
            <a:r>
              <a:rPr sz="1600">
                <a:solidFill>
                  <a:srgbClr val="1A3260"/>
                </a:solidFill>
                <a:latin typeface="Gill Sans MT"/>
              </a:rPr>
              <a:t>Z grafu odečtěte mezní frekvenci (pokles o 3 dB) a porovnejte ji s výpočtem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5989320"/>
            <a:ext cx="6675120" cy="731520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600" b="1">
                <a:solidFill>
                  <a:srgbClr val="8C5A26"/>
                </a:solidFill>
                <a:latin typeface="Cambria Math"/>
              </a:rPr>
              <a:t>Au = 20 · log (Uout / Uin)          fM = 1 / (2π · R · C)</a:t>
            </a:r>
          </a:p>
        </p:txBody>
      </p:sp>
      <p:pic>
        <p:nvPicPr>
          <p:cNvPr id="6" name="Picture 5" descr="sch_dol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5863" y="1920240"/>
            <a:ext cx="3190672" cy="18745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5863" y="3941064"/>
            <a:ext cx="3190672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969FA7"/>
                </a:solidFill>
                <a:latin typeface="Gill Sans MT"/>
              </a:rPr>
              <a:t>dolní propust</a:t>
            </a:r>
          </a:p>
        </p:txBody>
      </p:sp>
      <p:pic>
        <p:nvPicPr>
          <p:cNvPr id="9" name="Picture 8" descr="sch_horn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5863" y="4251960"/>
            <a:ext cx="3190672" cy="18745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5863" y="6272784"/>
            <a:ext cx="3190672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00" i="1">
                <a:solidFill>
                  <a:srgbClr val="969FA7"/>
                </a:solidFill>
                <a:latin typeface="Gill Sans MT"/>
              </a:rPr>
              <a:t>horní propust</a:t>
            </a:r>
          </a:p>
        </p:txBody>
      </p:sp>
    </p:spTree>
    <p:extLst>
      <p:ext uri="{BB962C8B-B14F-4D97-AF65-F5344CB8AC3E}">
        <p14:creationId xmlns:p14="http://schemas.microsoft.com/office/powerpoint/2010/main" val="89434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770750" y="1810512"/>
            <a:ext cx="6620018" cy="4242816"/>
          </a:xfrm>
          <a:prstGeom prst="roundRect">
            <a:avLst>
              <a:gd name="adj" fmla="val 3000"/>
            </a:avLst>
          </a:prstGeom>
          <a:solidFill>
            <a:srgbClr val="F5F7F9"/>
          </a:solidFill>
          <a:ln w="12700">
            <a:solidFill>
              <a:srgbClr val="E4E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608D59D-936A-4375-A0B5-B3BAE0DDC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Odečet hodnot na osciloskopu</a:t>
            </a:r>
          </a:p>
        </p:txBody>
      </p:sp>
      <p:pic>
        <p:nvPicPr>
          <p:cNvPr id="5" name="Zástupný symbol pro obsah 4">
            <a:extLst>
              <a:ext uri="{FF2B5EF4-FFF2-40B4-BE49-F238E27FC236}">
                <a16:creationId xmlns:a16="http://schemas.microsoft.com/office/drawing/2014/main" id="{DF87FF02-65DD-4C09-AB67-84658A29BE5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478" y="1920240"/>
            <a:ext cx="6400562" cy="4023360"/>
          </a:xfrm>
        </p:spPr>
      </p:pic>
      <p:sp>
        <p:nvSpPr>
          <p:cNvPr id="7" name="TextBox 6"/>
          <p:cNvSpPr txBox="1"/>
          <p:nvPr/>
        </p:nvSpPr>
        <p:spPr>
          <a:xfrm>
            <a:off x="2880478" y="6108192"/>
            <a:ext cx="6400562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150" i="1">
                <a:solidFill>
                  <a:srgbClr val="969FA7"/>
                </a:solidFill>
                <a:latin typeface="Gill Sans MT"/>
              </a:rPr>
              <a:t>V režimu Measure odečítejte Pk-Pk obou kanálů a Phase; žlutý průběh = vstup, zelený = výstup.</a:t>
            </a:r>
          </a:p>
        </p:txBody>
      </p:sp>
    </p:spTree>
    <p:extLst>
      <p:ext uri="{BB962C8B-B14F-4D97-AF65-F5344CB8AC3E}">
        <p14:creationId xmlns:p14="http://schemas.microsoft.com/office/powerpoint/2010/main" val="192296352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a">
  <a:themeElements>
    <a:clrScheme name="Dividenda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a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a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ff5b4a-dfda-4a51-a097-3a50aa91f50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4AB0282DB1AB44CAE45082B49367F60" ma:contentTypeVersion="17" ma:contentTypeDescription="Vytvoří nový dokument" ma:contentTypeScope="" ma:versionID="1c58cf1e99f76b49fe089013b1384f4d">
  <xsd:schema xmlns:xsd="http://www.w3.org/2001/XMLSchema" xmlns:xs="http://www.w3.org/2001/XMLSchema" xmlns:p="http://schemas.microsoft.com/office/2006/metadata/properties" xmlns:ns3="41133dee-a457-4730-870c-25433c3d4b12" xmlns:ns4="22ff5b4a-dfda-4a51-a097-3a50aa91f50c" targetNamespace="http://schemas.microsoft.com/office/2006/metadata/properties" ma:root="true" ma:fieldsID="a09dfe452b46cc14fae597f99129db43" ns3:_="" ns4:_="">
    <xsd:import namespace="41133dee-a457-4730-870c-25433c3d4b12"/>
    <xsd:import namespace="22ff5b4a-dfda-4a51-a097-3a50aa91f50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SearchProperties" minOccurs="0"/>
                <xsd:element ref="ns4:_activity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133dee-a457-4730-870c-25433c3d4b1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dílené s podrobnostmi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odnota hash upozornění na sdílení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ff5b4a-dfda-4a51-a097-3a50aa91f5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D1A1A8-CB77-4F1C-A72B-5A7814317EE5}">
  <ds:schemaRefs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22ff5b4a-dfda-4a51-a097-3a50aa91f50c"/>
    <ds:schemaRef ds:uri="http://schemas.microsoft.com/office/infopath/2007/PartnerControls"/>
    <ds:schemaRef ds:uri="http://schemas.openxmlformats.org/package/2006/metadata/core-properties"/>
    <ds:schemaRef ds:uri="41133dee-a457-4730-870c-25433c3d4b12"/>
  </ds:schemaRefs>
</ds:datastoreItem>
</file>

<file path=customXml/itemProps2.xml><?xml version="1.0" encoding="utf-8"?>
<ds:datastoreItem xmlns:ds="http://schemas.openxmlformats.org/officeDocument/2006/customXml" ds:itemID="{81FAFC63-54CF-47D4-A51F-900BB09B0D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3786E9-4526-45FC-A3BA-472C33043D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133dee-a457-4730-870c-25433c3d4b12"/>
    <ds:schemaRef ds:uri="22ff5b4a-dfda-4a51-a097-3a50aa91f5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Dividenda</Template>
  <TotalTime>66</TotalTime>
  <Words>157</Words>
  <Application>Microsoft Office PowerPoint</Application>
  <PresentationFormat>Širokoúhlá obrazovka</PresentationFormat>
  <Paragraphs>26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1" baseType="lpstr">
      <vt:lpstr>Arial</vt:lpstr>
      <vt:lpstr>Cambria Math</vt:lpstr>
      <vt:lpstr>Gill Sans MT</vt:lpstr>
      <vt:lpstr>Wingdings 2</vt:lpstr>
      <vt:lpstr>Dividenda</vt:lpstr>
      <vt:lpstr>Jednoduchý analogový filtr</vt:lpstr>
      <vt:lpstr>RC článek</vt:lpstr>
      <vt:lpstr>Dolní propust</vt:lpstr>
      <vt:lpstr>Horní propust</vt:lpstr>
      <vt:lpstr>Úkoly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Jednoduchý analogový filtr</dc:title>
  <dc:creator>Martin Králík</dc:creator>
  <cp:lastModifiedBy>Králík Martin (133972)</cp:lastModifiedBy>
  <cp:revision>4</cp:revision>
  <dcterms:created xsi:type="dcterms:W3CDTF">2023-09-25T07:41:32Z</dcterms:created>
  <dcterms:modified xsi:type="dcterms:W3CDTF">2024-09-18T09:07:10Z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0x010100D4AB0282DB1AB44CAE45082B49367F60</vt:lpwstr>
  </property>
</Properties>
</file>